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2026环博会竞争分析报告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IMS产品战略规划专家小组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分析日期: 2026年4月18日  |  保密级别: 内部使用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分析框架与方法论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战略分析专家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关注: 竞争格局与战略定位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框架: 波特五力 + 价值链分析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产品技术专家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关注: 产品功能与技术能力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框架: 功能对比矩阵 + 技术成熟度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市场情报专家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关注: 市场趋势与竞争动态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框架: SWOT + 趋势外推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商务模式专家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关注: 定价策略与商业模式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框架: LTV/CAC + 订阅制分析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本报告综合四位专家的分析视角，确保竞争情报的全面性和战略建议的可操作性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2026环博会水质监测参展商全景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重要发现: E+H (Endress+Hauser) 未出现在本届环博会参展商名单中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类别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公司名称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核心产品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国际巨头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Ability™ 工业物联网平台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高端工业、跨国企业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国际巨头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MindSphere / Xcelerator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工业4.0、政府基础设施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国际巨头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Yokogawa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Aqualink™ 水质监测系统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石化、电力、高端水处理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国内一线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聚光科技 FPI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在线监测仪 + 智慧水务平台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市政水务、污水处理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国内一线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雪迪龙 Skyray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环境监测系统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环保部门、污染源监测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国内一线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力合科技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水质自动监测站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市政、水利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国内新锐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先河环保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网格化监测系统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政府采购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国内新锐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科瑞达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水质分析仪器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工业用户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高威胁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45920" y="45720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D69E2E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中威胁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34640" y="45720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38A169"/>
          </a:solidFill>
          <a:ln/>
        </p:spPr>
      </p:sp>
      <p:sp>
        <p:nvSpPr>
          <p:cNvPr id="12" name="Text 9"/>
          <p:cNvSpPr/>
          <p:nvPr/>
        </p:nvSpPr>
        <p:spPr>
          <a:xfrm>
            <a:off x="283464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低威胁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E+H (Endress+Hauser) 深度分析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ED7D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0" y="137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本届环博会未参展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3657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优势 Strengths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25196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Memosens数字传感器技术 - 传感器内置自诊断和校准数据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FieldEdge IIoT平台 - 远程设备管理和诊断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完整的仪表生态系统 - 流量、液位、压力、分析全覆盖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Technology - 预测性维护能力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51960" cy="3657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劣势 Weaknesses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425196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71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价格比国产贵3-5倍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中国本土化功能响应慢 (微信/钉钉)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系统集成能力弱 - 不如ABB/西门子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软件平台非核心业务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51960" cy="36576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机会 Opportunities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425196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290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中国高端工业市场持续增长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传感器+软件订阅模式可复制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国产替代背景下进口品牌反而受益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石化/制药等行业对品质要求提升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4251960" cy="3657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威胁 Threats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37560"/>
            <a:ext cx="4251960" cy="1554480"/>
          </a:xfrm>
          <a:prstGeom prst="rect">
            <a:avLst/>
          </a:prstGeom>
          <a:solidFill>
            <a:srgbClr val="F7FAFC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4290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ABB/Siemens软件平台整合能力更强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国产仪表精度正在追赶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贸易摩擦可能影响供应链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客户越来越注重总体拥有成本(TCO)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411480"/>
          </a:xfrm>
          <a:prstGeom prst="roundRect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战略启示: E+H的「传感器+软件」模式是IMS最大的威胁。即使E+H未参展环博会，其商业模式值得高度关注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国内劲敌: 聚光科技 (FPI)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公司概览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164592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杭州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成立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2002年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深交所创业板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高端仪器+解决方案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国产分析仪领导者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软件平台相对薄弱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产品能力矩阵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能力评级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水质在线监测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COD/氨氮/总磷等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挥发性有机物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国内领先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智慧水务平台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集成能力待提升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传感器技术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核心件依赖进口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软件平台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0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功能较基础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29184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威胁评估: 聚光科技对哈希IMS的威胁程度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市政项目: </a:t>
            </a:r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高威胁 - 价格低30-50%, 政府关系好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高端工业: </a:t>
            </a:r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中威胁 - VOC分析有优势, 但水质全参数能力不及哈希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软件平台: </a:t>
            </a:r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低威胁 - FPI软件能力弱, 这是IMS的差异化机会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IMS应对策略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不要在市政项目上与FPI价格战，而是在高端工业客户（半导体/制药）和软件平台能力上建立护城河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竞争环境分析: 波特五力模型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560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竞争强度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0" y="9144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0058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D69E2E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005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005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供应商议价能力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371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传感器核心部件供应商集中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E+H垂直整合威胁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23774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买方议价能力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大客户有议价能力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市政项目招标压价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42062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4206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4206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新进入者威胁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4572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华为/阿里等跨界玩家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软件公司切入硬件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0" y="22860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3774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替代品威胁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743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便携式监测设备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无人机监测方案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14630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53E3E"/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行业内竞争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国产替代加速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价格战苗头初现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8595360" cy="502920"/>
          </a:xfrm>
          <a:prstGeom prst="roundRect">
            <a:avLst>
              <a:gd name="adj" fmla="val 18182"/>
            </a:avLst>
          </a:prstGeom>
          <a:solidFill>
            <a:srgbClr val="EBF8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结论: 水质监测行业竞争强度高且上升，IMS需要在软件平台和高价值客户两个维度建立护城河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竞争定位矩阵: 技术实力 vs 市场覆盖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0" cy="347472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572000"/>
            <a:ext cx="685800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16200000">
            <a:off x="27432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技术实力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市场覆盖范围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645920"/>
            <a:ext cx="320040" cy="3200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0" y="1828800"/>
            <a:ext cx="320040" cy="3200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828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103120"/>
            <a:ext cx="320040" cy="3200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2286000"/>
            <a:ext cx="320040" cy="3200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Yokogawa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2560320"/>
            <a:ext cx="320040" cy="32004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560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哈希 IMS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200400"/>
            <a:ext cx="320040" cy="3200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聚光科技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474720"/>
            <a:ext cx="320040" cy="3200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雪迪龙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365760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7" name="Text 25"/>
          <p:cNvSpPr/>
          <p:nvPr/>
        </p:nvSpPr>
        <p:spPr>
          <a:xfrm>
            <a:off x="2651760" y="3657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力合科技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0" y="3931920"/>
            <a:ext cx="320040" cy="3200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先河环保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高端工业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860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市政水务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IMS综合SWOT与战略行动方案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32004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 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哈希品牌在高端客户中的信任度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传感器技术积累深厚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Veralto集团资源支持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251960" cy="320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劣势 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软件平台能力薄弱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本土化功能响应慢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价格竞争力不足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251960" cy="32004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 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高端工业(半导体/制药)需求增长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智慧水务平台整合需求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订阅制商业模式转型机会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965960"/>
            <a:ext cx="425196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威胁 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3317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国产替代加速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E+H软件模式降维打击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跨界玩家切入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E6FFFA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SO战略 (增长)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聚焦高端工业客户，用IMS软件平台+哈希传感器的组合优势，拿下半导体、制药、新能源行业订单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251960" cy="100584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00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WT战略 (防御)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补齐软件短板，90天内完成FieldEdge对标物选型; 本土化功能优先级排序，2周内启动开发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9768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90天内的三项关键行动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72小时内: 展会客户个性化跟进  |  ② 30天内: 本土化功能开发启动  |  ③ 90天内: 软件平台选型完成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专家小组核心结论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011680"/>
            <a:ext cx="9144000" cy="182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E+H虽未参展，但其「传感器+软件订阅」模式是IMS最需要警惕的威胁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国产竞争对手在市政市场已形成规模，IMS的护城河在高端工业 + 软件能力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90天内必须完成软件平台选型和本土化功能开发，否则差距将进一步拉大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IMS战略规划专家小组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2026环博会竞争分析报告</dc:title>
  <dc:subject>PptxGenJS Presentation</dc:subject>
  <dc:creator>IMS竞争分析专家小组</dc:creator>
  <cp:lastModifiedBy>IMS竞争分析专家小组</cp:lastModifiedBy>
  <cp:revision>1</cp:revision>
  <dcterms:created xsi:type="dcterms:W3CDTF">2026-04-18T06:02:52Z</dcterms:created>
  <dcterms:modified xsi:type="dcterms:W3CDTF">2026-04-18T06:02:52Z</dcterms:modified>
</cp:coreProperties>
</file>