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4D4D4D"/>
                </a:solidFill>
                <a:latin typeface="微软雅黑"/>
              </a:defRPr>
            </a:pPr>
            <a:r>
              <a:t>2026环博会参展厂商竞争分析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007EB5"/>
                </a:solidFill>
                <a:latin typeface="微软雅黑"/>
              </a:defRPr>
            </a:pPr>
            <a:r>
              <a:t>IMS产品线竞争情报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D4D4D"/>
                </a:solidFill>
                <a:latin typeface="微软雅黑"/>
              </a:defRPr>
            </a:pPr>
            <a:r>
              <a:t>2026年4月  |  上海新国际博览中心  |  展位 E3-C12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微软雅黑"/>
              </a:defRPr>
            </a:pPr>
            <a:r>
              <a:t>数据来源：微信公众号公开OCR数据  |  样本：972家参展厂商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数据来源与样本说明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52220"/>
            <a:ext cx="101600" cy="1016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D4D4D"/>
                </a:solidFill>
                <a:latin typeface="微软雅黑"/>
              </a:defRPr>
            </a:pPr>
            <a:r>
              <a:t>数据来源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1188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D4D4D"/>
                </a:solidFill>
                <a:latin typeface="微软雅黑"/>
              </a:defRPr>
            </a:pPr>
            <a:r>
              <a:t>微信公众号公开文章OCR提取，共识别972家参展厂商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93468"/>
            <a:ext cx="101600" cy="1016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0299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D4D4D"/>
                </a:solidFill>
                <a:latin typeface="微软雅黑"/>
              </a:defRPr>
            </a:pPr>
            <a:r>
              <a:t>展馆覆盖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029968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D4D4D"/>
                </a:solidFill>
                <a:latin typeface="微软雅黑"/>
              </a:defRPr>
            </a:pPr>
            <a:r>
              <a:t>E1/E2/E3/E4/E5/E6/E7/N1/N2/N4/N5/W1~W5共16个馆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34716"/>
            <a:ext cx="101600" cy="1016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87121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D4D4D"/>
                </a:solidFill>
                <a:latin typeface="微软雅黑"/>
              </a:defRPr>
            </a:pPr>
            <a:r>
              <a:t>E4馆最多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871216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D4D4D"/>
                </a:solidFill>
                <a:latin typeface="微软雅黑"/>
              </a:defRPr>
            </a:pPr>
            <a:r>
              <a:t>过程控制与仪器仪表馆，共182家展商标注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75964"/>
            <a:ext cx="101600" cy="1016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71246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D4D4D"/>
                </a:solidFill>
                <a:latin typeface="微软雅黑"/>
              </a:defRPr>
            </a:pPr>
            <a:r>
              <a:t>数字化跨界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712464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D4D4D"/>
                </a:solidFill>
                <a:latin typeface="微软雅黑"/>
              </a:defRPr>
            </a:pPr>
            <a:r>
              <a:t>含云/平台/系统/数据/智能关键词：39家（全馆分散）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617212"/>
            <a:ext cx="101600" cy="1016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55371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D4D4D"/>
                </a:solidFill>
                <a:latin typeface="微软雅黑"/>
              </a:defRPr>
            </a:pPr>
            <a:r>
              <a:t>E3馆说明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55371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D4D4D"/>
                </a:solidFill>
                <a:latin typeface="微软雅黑"/>
              </a:defRPr>
            </a:pPr>
            <a:r>
              <a:t>监测与检测馆（展位E3-C12），数据因公众号图片加密仅15家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注：E+H、ABB、西门子、横河等未在OCR数据中检索到，可能以其他名称参展或未参展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参展厂商展馆分布（972家）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8080"/>
            <a:ext cx="54864" cy="34747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E4馆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097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EB5"/>
                </a:solidFill>
                <a:latin typeface="微软雅黑"/>
              </a:defRPr>
            </a:pPr>
            <a:r>
              <a:t>182家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0972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D4D4D"/>
                </a:solidFill>
                <a:latin typeface="微软雅黑"/>
              </a:defRPr>
            </a:pPr>
            <a:r>
              <a:t>过程控制与仪器仪表/监测与检测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4736"/>
            <a:ext cx="54864" cy="34747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7393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E6馆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77393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EB5"/>
                </a:solidFill>
                <a:latin typeface="微软雅黑"/>
              </a:defRPr>
            </a:pPr>
            <a:r>
              <a:t>187家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773936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D4D4D"/>
                </a:solidFill>
                <a:latin typeface="微软雅黑"/>
              </a:defRPr>
            </a:pPr>
            <a:r>
              <a:t>大气治理/余热回收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01392"/>
            <a:ext cx="54864" cy="34747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5059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E5馆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4505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EB5"/>
                </a:solidFill>
                <a:latin typeface="微软雅黑"/>
              </a:defRPr>
            </a:pPr>
            <a:r>
              <a:t>174家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450592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D4D4D"/>
                </a:solidFill>
                <a:latin typeface="微软雅黑"/>
              </a:defRPr>
            </a:pPr>
            <a:r>
              <a:t>大气治理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78047"/>
            <a:ext cx="54864" cy="34747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27247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E2馆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127247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EB5"/>
                </a:solidFill>
                <a:latin typeface="微软雅黑"/>
              </a:defRPr>
            </a:pPr>
            <a:r>
              <a:t>120家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127247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D4D4D"/>
                </a:solidFill>
                <a:latin typeface="微软雅黑"/>
              </a:defRPr>
            </a:pPr>
            <a:r>
              <a:t>综合环境解决方案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54704"/>
            <a:ext cx="54864" cy="34747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03904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E1馆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80390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EB5"/>
                </a:solidFill>
                <a:latin typeface="微软雅黑"/>
              </a:defRPr>
            </a:pPr>
            <a:r>
              <a:t>93家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803904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D4D4D"/>
                </a:solidFill>
                <a:latin typeface="微软雅黑"/>
              </a:defRPr>
            </a:pPr>
            <a:r>
              <a:t>综合环境解决方案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31360"/>
            <a:ext cx="54864" cy="34747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480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E3馆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480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EB5"/>
                </a:solidFill>
                <a:latin typeface="微软雅黑"/>
              </a:defRPr>
            </a:pPr>
            <a:r>
              <a:t>15家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48056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D4D4D"/>
                </a:solidFill>
                <a:latin typeface="微软雅黑"/>
              </a:defRPr>
            </a:pPr>
            <a:r>
              <a:t>监测与检测（数据不完整）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08015"/>
            <a:ext cx="54864" cy="34747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57215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其他馆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157215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EB5"/>
                </a:solidFill>
                <a:latin typeface="微软雅黑"/>
              </a:defRPr>
            </a:pPr>
            <a:r>
              <a:t>181家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157215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D4D4D"/>
                </a:solidFill>
                <a:latin typeface="微软雅黑"/>
              </a:defRPr>
            </a:pPr>
            <a:r>
              <a:t>N/W综合展区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D4D4D"/>
                </a:solidFill>
                <a:latin typeface="微软雅黑"/>
              </a:defRPr>
            </a:pPr>
            <a:r>
              <a:t>关键洞察：E4馆（182家）仪器仪表展商最集中；E3馆数据严重不完整，需实地补充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972家展商分类（按产品/业务关键词）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4864" cy="62179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数字化跨界公司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00584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EB5"/>
                </a:solidFill>
                <a:latin typeface="微软雅黑"/>
              </a:defRPr>
            </a:pPr>
            <a:r>
              <a:t>39家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0058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微软雅黑"/>
              </a:defRPr>
            </a:pPr>
            <a:r>
              <a:t>云/平台/系统/数据/智能关键词，跨界打劫主力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例：杭州易环(E1)、尚云互联(E2)、江苏纽带智能(E3)、盘古自动化(E4)等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10512"/>
            <a:ext cx="54864" cy="62179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105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仪表/传感器/仪器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1051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EB5"/>
                </a:solidFill>
                <a:latin typeface="微软雅黑"/>
              </a:defRPr>
            </a:pPr>
            <a:r>
              <a:t>86家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81051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微软雅黑"/>
              </a:defRPr>
            </a:pPr>
            <a:r>
              <a:t>E4馆为主，直接竞品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762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例：上泰仪器、天信仪表、威格中国、余姚市仪表四厂等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15184"/>
            <a:ext cx="54864" cy="62179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1518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水处理/泵阀/膜材料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615184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EB5"/>
                </a:solidFill>
                <a:latin typeface="微软雅黑"/>
              </a:defRPr>
            </a:pPr>
            <a:r>
              <a:t>69家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61518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微软雅黑"/>
              </a:defRPr>
            </a:pPr>
            <a:r>
              <a:t>E1/E5馆为主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98094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例：世浦泰膜、中国水务投资、澳欣膜科技等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19856"/>
            <a:ext cx="54864" cy="62179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1985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大气治理设备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419856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EB5"/>
                </a:solidFill>
                <a:latin typeface="微软雅黑"/>
              </a:defRPr>
            </a:pPr>
            <a:r>
              <a:t>大量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41985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微软雅黑"/>
              </a:defRPr>
            </a:pPr>
            <a:r>
              <a:t>E5/E6馆为主，未精确统计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78561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例：兰山环保、杜尔涂装等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24528"/>
            <a:ext cx="54864" cy="62179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245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环保工程/水务投资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224528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EB5"/>
                </a:solidFill>
                <a:latin typeface="微软雅黑"/>
              </a:defRPr>
            </a:pPr>
            <a:r>
              <a:t>约30家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22452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微软雅黑"/>
              </a:defRPr>
            </a:pPr>
            <a:r>
              <a:t>E1/E2馆为主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902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例：中国水务投资、北控水务等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29200"/>
            <a:ext cx="54864" cy="62179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029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其他/未分类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02920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EB5"/>
                </a:solidFill>
                <a:latin typeface="微软雅黑"/>
              </a:defRPr>
            </a:pPr>
            <a:r>
              <a:t>约688家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029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微软雅黑"/>
              </a:defRPr>
            </a:pPr>
            <a:r>
              <a:t>数据解析率约60-70%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394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例：过滤材料、阀门、管道等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39家数字化跨界公司 — 跨界打劫主力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85520"/>
            <a:ext cx="640080" cy="29260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855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E1馆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960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杭州易环智能科技有限公司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E1-L12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34160"/>
            <a:ext cx="640080" cy="29260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3416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E1馆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E20环境平台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E1-071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82800"/>
            <a:ext cx="640080" cy="29260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08280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E2馆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057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北京尚云互联科技有限公司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E2-W13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31439"/>
            <a:ext cx="640080" cy="29260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631439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E2馆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26060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重庆知行数联智能科技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28803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E2-A43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80080"/>
            <a:ext cx="640080" cy="29260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18008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E2馆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3154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华夏安健物联科技(青岛)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3429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E2-A26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28720"/>
            <a:ext cx="640080" cy="29260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7287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E3馆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3703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江苏纽带智能科技有限公司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3977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E3-G61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277359"/>
            <a:ext cx="640080" cy="29260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277359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E4馆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425195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格林菲普流体控制系统(上海)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45262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E4-F19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826000"/>
            <a:ext cx="640080" cy="29260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82600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E4馆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" y="4800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科译勒(上海)智能仪表有限公司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" y="5074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E4-603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374640"/>
            <a:ext cx="640080" cy="29260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3746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E4馆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5349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山东混沌智能科技有限公司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5623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E4-F28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985520"/>
            <a:ext cx="640080" cy="29260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0" y="9855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E4馆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28032" y="960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上海温宝自动化系统工程有限公司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28032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E4-A19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0" y="1534160"/>
            <a:ext cx="640080" cy="29260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0" y="153416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E4馆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28032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广州云景信息科技有限公司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28032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E4-C21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0" y="2082800"/>
            <a:ext cx="640080" cy="29260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0" y="208280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E4馆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28032" y="2057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杭州盘古自动化系统有限公司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28032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E4-F71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0" y="2631439"/>
            <a:ext cx="640080" cy="29260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0" y="2631439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E4馆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28032" y="26060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杭州异辉智能科技有限公司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28032" y="28803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E4-L80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0" y="3180080"/>
            <a:ext cx="640080" cy="29260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0" y="318008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E4馆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28032" y="3154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缘循智能科技(上海)有限公司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28032" y="3429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E4-L50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0" y="3728720"/>
            <a:ext cx="640080" cy="29260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0" y="37287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E4馆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28032" y="3703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邯郸市耘农智慧农业科技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28032" y="3977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E4-630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0" y="4277359"/>
            <a:ext cx="640080" cy="29260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0" y="4277359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E5馆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28032" y="425195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佛山蔚蓝时代智能装备有限公司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28032" y="45262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E5-L53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0" y="4826000"/>
            <a:ext cx="640080" cy="29260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0" y="482600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E5馆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28032" y="4800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广东元晟智能装备制造有限公司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28032" y="5074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E5-039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0" y="5374640"/>
            <a:ext cx="640080" cy="29260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0" y="537464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E5馆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28032" y="5349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镇江东方电热智能装备有限公司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28032" y="5623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E5-069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63840" y="985520"/>
            <a:ext cx="640080" cy="29260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63840" y="9855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E6馆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77072" y="960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迪扬过滤系统(昆山)有限公司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77072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E6-0D53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863840" y="1534160"/>
            <a:ext cx="640080" cy="29260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63840" y="153416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E6馆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77072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杭州捷瑞智能装备股份有限公司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77072" y="1783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E6-040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863840" y="2082800"/>
            <a:ext cx="640080" cy="29260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863840" y="208280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E6馆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77072" y="2057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江苏中车云汇科技有限公司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77072" y="2331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E6-B21/A22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863840" y="2631439"/>
            <a:ext cx="640080" cy="29260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63840" y="2631439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E6馆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577072" y="26060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奇点低碳智能装备(浙江)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77072" y="28803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E6-G16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863840" y="3180080"/>
            <a:ext cx="640080" cy="29260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63840" y="318008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W3馆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577072" y="3154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东莞市云峰机电科技有限公司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77072" y="3429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W3-A41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863840" y="3728720"/>
            <a:ext cx="640080" cy="29260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863840" y="37287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W3馆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77072" y="3703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D4D4D"/>
                </a:solidFill>
                <a:latin typeface="微软雅黑"/>
              </a:defRPr>
            </a:pPr>
            <a:r>
              <a:t>上海罗普自动化控制系统有限公司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577072" y="3977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W3-G19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5760" y="5852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D4D4D"/>
                </a:solidFill>
                <a:latin typeface="微软雅黑"/>
              </a:defRPr>
            </a:pPr>
            <a:r>
              <a:t>核心威胁：这些公司具备云平台+端到端方案能力，可整合传感器+数据+云，侵蚀监测市场份额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波特五力分析（基于972家展商数据）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43940"/>
            <a:ext cx="54864" cy="47548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D4D4D"/>
                </a:solidFill>
                <a:latin typeface="微软雅黑"/>
              </a:defRPr>
            </a:pPr>
            <a:r>
              <a:t>现有竞争者威胁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005840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005840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D4D4D"/>
                </a:solidFill>
                <a:latin typeface="微软雅黑"/>
              </a:defRPr>
            </a:pPr>
            <a:r>
              <a:t>E4馆182家仪器仪表展商直接竞争，价格战激烈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证据：上泰仪器、天信仪表、威格中国等86家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76628"/>
            <a:ext cx="54864" cy="47548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D4D4D"/>
                </a:solidFill>
                <a:latin typeface="微软雅黑"/>
              </a:defRPr>
            </a:pPr>
            <a:r>
              <a:t>潜在新进入者威胁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938528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99"/>
                </a:solidFill>
                <a:latin typeface="微软雅黑"/>
              </a:defRPr>
            </a:pPr>
            <a:r>
              <a:t>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38528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D4D4D"/>
                </a:solidFill>
                <a:latin typeface="微软雅黑"/>
              </a:defRPr>
            </a:pPr>
            <a:r>
              <a:t>39家数字化跨界公司具备云平台能力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4086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证据：江苏纽带智能、杭州易环智能、尚云互联等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09316"/>
            <a:ext cx="54864" cy="47548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7121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D4D4D"/>
                </a:solidFill>
                <a:latin typeface="微软雅黑"/>
              </a:defRPr>
            </a:pPr>
            <a:r>
              <a:t>替代品威胁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871216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71216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D4D4D"/>
                </a:solidFill>
                <a:latin typeface="微软雅黑"/>
              </a:defRPr>
            </a:pPr>
            <a:r>
              <a:t>在线监测替代实验室检测趋势加速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735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证据：便携式监测、无人机监测、卫星遥感等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42004"/>
            <a:ext cx="54864" cy="47548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0390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D4D4D"/>
                </a:solidFill>
                <a:latin typeface="微软雅黑"/>
              </a:defRPr>
            </a:pPr>
            <a:r>
              <a:t>供应商议价能力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803904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99"/>
                </a:solidFill>
                <a:latin typeface="微软雅黑"/>
              </a:defRPr>
            </a:pPr>
            <a:r>
              <a:t>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803904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D4D4D"/>
                </a:solidFill>
                <a:latin typeface="微软雅黑"/>
              </a:defRPr>
            </a:pPr>
            <a:r>
              <a:t>传感器/芯片供应链集中度较高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062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证据：水质传感器核心芯片仍依赖进口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74692"/>
            <a:ext cx="54864" cy="475488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3659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D4D4D"/>
                </a:solidFill>
                <a:latin typeface="微软雅黑"/>
              </a:defRPr>
            </a:pPr>
            <a:r>
              <a:t>购买者议价能力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736592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736592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D4D4D"/>
                </a:solidFill>
                <a:latin typeface="微软雅黑"/>
              </a:defRPr>
            </a:pPr>
            <a:r>
              <a:t>水务/环保运营商整合，集中采购压价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389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证据：北控水务、中国水务等大型水务集团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SWOT分析（基于展商数据的事实性观察）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43891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S 优势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微软雅黑"/>
              </a:defRPr>
            </a:pPr>
            <a:r>
              <a:t>水质分析仪器有较高品牌认知，E4-D08/E08有独立展位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微软雅黑"/>
              </a:defRPr>
            </a:pPr>
            <a:r>
              <a:t>IMS产品线覆盖水质监测全参数，E3-C12展位位于监测与检测馆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1097280" cy="43891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005840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W 劣势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微软雅黑"/>
              </a:defRPr>
            </a:pPr>
            <a:r>
              <a:t>E4馆大量国内仪表厂商价格显著低于哈希（同在E4馆）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031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微软雅黑"/>
              </a:defRPr>
            </a:pPr>
            <a:r>
              <a:t>39家数字化跨界公司已在云平台层面布局，先于哈希建立IMS能力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1097280" cy="438912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O 机会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747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微软雅黑"/>
              </a:defRPr>
            </a:pPr>
            <a:r>
              <a:t>E3馆（监测与检测）展商数据不完整，存在未被识别的市场空白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233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微软雅黑"/>
              </a:defRPr>
            </a:pPr>
            <a:r>
              <a:t>传统仪器仪表展商多为单一参数产品，全参数覆盖仍是差异化优势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926080"/>
            <a:ext cx="1097280" cy="438912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926080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T 威胁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4747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微软雅黑"/>
              </a:defRPr>
            </a:pPr>
            <a:r>
              <a:t>江苏纽带智能(E3-G61)等提供端到端IMS方案，整合传感器+云平台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0233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D4D4D"/>
                </a:solidFill>
                <a:latin typeface="微软雅黑"/>
              </a:defRPr>
            </a:pPr>
            <a:r>
              <a:t>数字化跨界公司39家，可基于云平台提供打包监测解决方案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注：以上SWOT条目均基于可验证的展商数据事实。E+H、ABB、西门子、横河等未在OCR数据中检索到。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7EB5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D4D4D"/>
                </a:solidFill>
                <a:latin typeface="微软雅黑"/>
              </a:defRPr>
            </a:pPr>
            <a:r>
              <a:t>90天行动建议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31240"/>
            <a:ext cx="822960" cy="402336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31240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30天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05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建立39家数字化跨界公司竞争情报档案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8988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梳理每家公司云平台架构、产品参数、目标客户，评估与IMS重叠度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54200"/>
            <a:ext cx="822960" cy="402336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54200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30天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重点分析江苏纽带智能(E3-G61)等端到端方案公司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1284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评估其是否已推出与IMS直接竞争的产品，输出内部评估报告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77160"/>
            <a:ext cx="822960" cy="402336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77160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60天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651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完成E4馆182家展商竞品分类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3580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区分直接竞品、渠道合作方、潜在合作伙伴，拜访重点展商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00120"/>
            <a:ext cx="822960" cy="402336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00120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60天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474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与E4馆国内仪表厂商建立联系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85876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了解其价格体系和产品路线图，为应对价格竞争做准备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23080"/>
            <a:ext cx="822960" cy="402336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323080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90天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发布IMS产品线竞争力评估内部报告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8172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基于展商数据和客户沟通，评估IMS产品在监测市场的竞争地位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146040"/>
            <a:ext cx="822960" cy="402336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146040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90天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120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4D4D"/>
                </a:solidFill>
                <a:latin typeface="微软雅黑"/>
              </a:defRPr>
            </a:pPr>
            <a:r>
              <a:t>与水务/环保运营商客户验证价格压力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50468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向大型水务集团客户了解采购趋势，验证展会观察到的价格压力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D4D4D"/>
                </a:solidFill>
                <a:latin typeface="微软雅黑"/>
              </a:defRPr>
            </a:pPr>
            <a:r>
              <a:t>核心结论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" cy="402336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最大威胁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18872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D4D4D"/>
                </a:solidFill>
                <a:latin typeface="微软雅黑"/>
              </a:defRPr>
            </a:pPr>
            <a:r>
              <a:t>不是传统仪表同行，而是39家数字化跨界公司（跨界打劫）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591056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江苏纽带智能、尚云互联、杭州易环智能、E20环境平台等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12848"/>
            <a:ext cx="1371600" cy="402336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12848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直接竞争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212848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D4D4D"/>
                </a:solidFill>
                <a:latin typeface="微软雅黑"/>
              </a:defRPr>
            </a:pPr>
            <a:r>
              <a:t>E4馆182家仪器仪表展商构成直接竞争，但多为单一参数产品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615184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优势在于全参数覆盖和品牌信任度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36976"/>
            <a:ext cx="1371600" cy="402336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36976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跨界侵蚀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236976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D4D4D"/>
                </a:solidFill>
                <a:latin typeface="微软雅黑"/>
              </a:defRPr>
            </a:pPr>
            <a:r>
              <a:t>39家数字化公司具备云平台+端到端方案能力，可能侵蚀IMS核心市场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63931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这些公司整合传感器+云平台，对IMS产品线威胁最大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61104"/>
            <a:ext cx="1371600" cy="402336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261104"/>
            <a:ext cx="1371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数据缺口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261104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D4D4D"/>
                </a:solidFill>
                <a:latin typeface="微软雅黑"/>
              </a:defRPr>
            </a:pPr>
            <a:r>
              <a:t>E3馆（监测与检测）数据不完整，需进一步补充E3馆完整展商数据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66344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微软雅黑"/>
              </a:defRPr>
            </a:pPr>
            <a:r>
              <a:t>展位在E3-C12，展会期间可实地核实E3馆展商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微软雅黑"/>
              </a:defRPr>
            </a:pPr>
            <a:r>
              <a:t>IMS产品线  |  2026环博会  |  数据来源：微信公众号公开OCR数据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