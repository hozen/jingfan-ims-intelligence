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CB8D4"/>
                </a:solidFill>
                <a:latin typeface="SimHei"/>
              </a:rPr>
              <a:t>2026 中国环博会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F4FF"/>
                </a:solidFill>
                <a:latin typeface="SimHei"/>
              </a:rPr>
              <a:t>IMS 市场竞争格局分析报告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B8D4"/>
                </a:solidFill>
                <a:latin typeface="SimHei"/>
              </a:rPr>
              <a:t>哈希（中国）投资有限公司 · 环境事业部门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CB8D4"/>
                </a:solidFill>
                <a:latin typeface="SimHei"/>
              </a:rPr>
              <a:t>v5.0 | 2026年4月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11247120" cy="27432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560320" cy="11887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E0"/>
                </a:solidFill>
                <a:latin typeface="SimHei"/>
              </a:rPr>
              <a:t>1,987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B8D4"/>
                </a:solidFill>
                <a:latin typeface="SimHei"/>
              </a:rPr>
              <a:t>参展商总数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194560"/>
            <a:ext cx="2560320" cy="11887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E0"/>
                </a:solidFill>
                <a:latin typeface="SimHei"/>
              </a:rPr>
              <a:t>82,419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B8D4"/>
                </a:solidFill>
                <a:latin typeface="SimHei"/>
              </a:rPr>
              <a:t>专业观众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194560"/>
            <a:ext cx="2560320" cy="11887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E0"/>
                </a:solidFill>
                <a:latin typeface="SimHei"/>
              </a:rPr>
              <a:t>17万㎡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B8D4"/>
                </a:solidFill>
                <a:latin typeface="SimHei"/>
              </a:rPr>
              <a:t>展示面积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59" y="2194560"/>
            <a:ext cx="2560320" cy="11887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59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E0"/>
                </a:solidFill>
                <a:latin typeface="Sim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B8D4"/>
                </a:solidFill>
                <a:latin typeface="SimHei"/>
              </a:rPr>
              <a:t>重点竞争品牌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E0"/>
                </a:solidFill>
                <a:latin typeface="SimHei"/>
              </a:rPr>
              <a:t>关键发现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39"/>
            <a:ext cx="73152" cy="29260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哈希主展位 E3-C12（E4-D08 双展台），位于 E3 馆核心监测区域，与赛莱默、威立雅同属 E1 馆但展台规模存在差异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52544"/>
            <a:ext cx="73152" cy="29260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5254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威立雅 (Veolia) 携智慧水务整体方案亮相 E1-B02/C01 双连展位，展位面积约 200㎡，品牌声量强劲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27448"/>
            <a:ext cx="73152" cy="29260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2744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赛莱默 (Xylem) 聚焦数字化泵管监测，E1-B39 展位规模中等，主打智慧水务平台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02352"/>
            <a:ext cx="73152" cy="29260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0235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赛默飞世尔 (Thermo Fisher) 定位于实验室/在线监测联动，E5-K51 展位偏小但技术壁垒高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77256"/>
            <a:ext cx="73152" cy="29260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477256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聚光科技 (E4-CO01) 本土监测品牌代表，展位面积大，政策响应快，价格竞争力强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52160"/>
            <a:ext cx="73152" cy="29260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521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云平台跨界威胁：华为云、阿里云、百度云均设展（规模较小），数据中台能力是潜在颠覆因素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Hach China IMS | 2026环博会竞争分析报告 · 保密文件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4FF"/>
                </a:solidFill>
                <a:latin typeface="SimHei"/>
              </a:rPr>
              <a:t>参展竞品地图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B8D4"/>
                </a:solidFill>
                <a:latin typeface="SimHei"/>
              </a:rPr>
              <a:t>E1 / E3 / E4 / E5 馆重点展位分布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85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Hach China IMS | 2026环博会竞争分析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2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2560320" cy="777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43000"/>
            <a:ext cx="2560320" cy="4572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16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0"/>
                </a:solidFill>
                <a:latin typeface="SimHei"/>
              </a:rPr>
              <a:t>E1馆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27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威立雅、赛莱默、ABB、西门子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43000"/>
            <a:ext cx="2560320" cy="777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2560320" cy="4572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216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E0"/>
                </a:solidFill>
                <a:latin typeface="SimHei"/>
              </a:rPr>
              <a:t>E3馆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527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哈希 (E3-C12) + 同区监测品牌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143000"/>
            <a:ext cx="2560320" cy="777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143000"/>
            <a:ext cx="2560320" cy="45720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216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06A"/>
                </a:solidFill>
                <a:latin typeface="SimHei"/>
              </a:rPr>
              <a:t>E4馆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527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聚光科技 (E4-CO01)、哈希双展台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143000"/>
            <a:ext cx="2560320" cy="7772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1143000"/>
            <a:ext cx="256032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216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SimHei"/>
              </a:rPr>
              <a:t>E5馆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5270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赛默飞世尔 (E5-K51)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103120"/>
            <a:ext cx="5486400" cy="228600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0"/>
                </a:solidFill>
                <a:latin typeface="SimHei"/>
              </a:rPr>
              <a:t>E1 馆平面示意图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14600"/>
            <a:ext cx="1005840" cy="3200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514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B02/C01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威立雅 Veolia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2514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主通道双连展位·200㎡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880360"/>
            <a:ext cx="1005840" cy="3200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880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B39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赛莱默 Xylem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2880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数字化泵管监测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46120"/>
            <a:ext cx="1005840" cy="3200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D02/E01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赛莱默 Xylem (联动)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3246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智慧水务平台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611879"/>
            <a:ext cx="1005840" cy="320040"/>
          </a:xfrm>
          <a:prstGeom prst="rect">
            <a:avLst/>
          </a:prstGeom>
          <a:solidFill>
            <a:srgbClr val="9C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61187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B25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3611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ABB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361187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工业自动化/在线监测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977639"/>
            <a:ext cx="1005840" cy="320040"/>
          </a:xfrm>
          <a:prstGeom prst="rect">
            <a:avLst/>
          </a:prstGeom>
          <a:solidFill>
            <a:srgbClr val="9C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9776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C10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西门子 Siemens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63240" y="397763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数字孪生/IoT平台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2103120"/>
            <a:ext cx="5760720" cy="228600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2148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  <a:latin typeface="SimHei"/>
              </a:rPr>
              <a:t>E3 / E4 馆平面示意图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514600"/>
            <a:ext cx="1005840" cy="3200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25146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C12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哈希 Hach 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水质监测·IMS核心展台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880360"/>
            <a:ext cx="1005840" cy="3200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2880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D08/E08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哈希 Hach (双展台)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在线监测/实验室联动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246120"/>
            <a:ext cx="1005840" cy="320040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246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CO01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聚光科技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本土监测·价格竞争力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611879"/>
            <a:ext cx="1005840" cy="3200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361187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imHei"/>
              </a:rPr>
              <a:t>K51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3611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赛默飞世尔 Thermo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36118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实验室+在线联动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3977639"/>
            <a:ext cx="1005840" cy="320040"/>
          </a:xfrm>
          <a:prstGeom prst="rect">
            <a:avLst/>
          </a:prstGeom>
          <a:solidFill>
            <a:srgbClr val="9C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39776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F4FF"/>
                </a:solidFill>
                <a:latin typeface="SimHei"/>
              </a:rPr>
              <a:t>A20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0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F4FF"/>
                </a:solidFill>
                <a:latin typeface="SimHei"/>
              </a:rPr>
              <a:t>E+H (待确认)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39776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B8D4"/>
                </a:solidFill>
                <a:latin typeface="SimHei"/>
              </a:rPr>
              <a:t>过程仪表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572000"/>
            <a:ext cx="11430000" cy="178308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  <a:latin typeface="SimHei"/>
              </a:rPr>
              <a:t>展位规模对比（估算）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4956048"/>
            <a:ext cx="1463040" cy="256032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49560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  <a:latin typeface="SimHei"/>
              </a:rPr>
              <a:t>品牌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20240" y="4956048"/>
            <a:ext cx="1280160" cy="256032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65960" y="495604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  <a:latin typeface="SimHei"/>
              </a:rPr>
              <a:t>展位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0" y="4956048"/>
            <a:ext cx="1645920" cy="256032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46120" y="49560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  <a:latin typeface="SimHei"/>
              </a:rPr>
              <a:t>面积估算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46320" y="4956048"/>
            <a:ext cx="2286000" cy="256032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92040" y="49560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  <a:latin typeface="SimHei"/>
              </a:rPr>
              <a:t>策略定位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32320" y="4956048"/>
            <a:ext cx="1097280" cy="256032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78040" y="4956048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C8E0"/>
                </a:solidFill>
                <a:latin typeface="SimHei"/>
              </a:rPr>
              <a:t>威胁等级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5212080"/>
            <a:ext cx="146304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920" y="5212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威立雅 Veolia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20240" y="5212080"/>
            <a:ext cx="128016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965960" y="521208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E1-B02/C01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0" y="5212080"/>
            <a:ext cx="164592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46120" y="5212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~200㎡ (双连)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46320" y="5212080"/>
            <a:ext cx="22860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92040" y="52120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智慧水务整体方案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132320" y="5212080"/>
            <a:ext cx="109728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78040" y="521208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⭐⭐⭐⭐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5468112"/>
            <a:ext cx="146304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54681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哈希 Hach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920240" y="5468112"/>
            <a:ext cx="128016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65960" y="54681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E3-C12 (+E4-D08)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0" y="5468112"/>
            <a:ext cx="164592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46120" y="54681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~120㎡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846320" y="5468112"/>
            <a:ext cx="228600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92040" y="54681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水质监测/IMS专业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32320" y="5468112"/>
            <a:ext cx="109728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78040" y="5468112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基准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5724144"/>
            <a:ext cx="146304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7241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赛莱默 Xylem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20240" y="5724144"/>
            <a:ext cx="128016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965960" y="572414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E1-B39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0" y="5724144"/>
            <a:ext cx="164592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46120" y="57241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~80㎡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846320" y="5724144"/>
            <a:ext cx="22860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92040" y="57241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数字化泵管/智慧水务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32320" y="5724144"/>
            <a:ext cx="109728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78040" y="5724144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⭐⭐⭐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57200" y="5980176"/>
            <a:ext cx="146304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2920" y="59801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聚光科技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920240" y="5980176"/>
            <a:ext cx="128016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965960" y="598017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E4-CO01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00400" y="5980176"/>
            <a:ext cx="164592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46120" y="59801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~150㎡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846320" y="5980176"/>
            <a:ext cx="228600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892040" y="5980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本土政策响应/价格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132320" y="5980176"/>
            <a:ext cx="1097280" cy="256032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178040" y="5980176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⭐⭐⭐⭐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6236208"/>
            <a:ext cx="146304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02920" y="6236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赛默飞世尔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920240" y="6236208"/>
            <a:ext cx="128016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965960" y="623620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E5-K51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200400" y="6236208"/>
            <a:ext cx="164592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246120" y="6236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~45㎡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846320" y="6236208"/>
            <a:ext cx="228600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892040" y="62362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实验室+在线联动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132320" y="6236208"/>
            <a:ext cx="1097280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178040" y="6236208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⭐⭐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4FF"/>
                </a:solidFill>
                <a:latin typeface="SimHei"/>
              </a:rPr>
              <a:t>竞品实力分析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B8D4"/>
                </a:solidFill>
                <a:latin typeface="SimHei"/>
              </a:rPr>
              <a:t>四位专家Panel视角 · 技术 / 市场 / 渠道 / 威胁评估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85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Hach China IMS | 2026环博会竞争分析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3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283464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2834640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0"/>
                </a:solidFill>
                <a:latin typeface="SimHei"/>
              </a:rPr>
              <a:t>专家A（技术）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27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B8D4"/>
                </a:solidFill>
                <a:latin typeface="SimHei"/>
              </a:rPr>
              <a:t>水质监测技术专家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01368"/>
            <a:ext cx="2651760" cy="1828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85623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威立雅：多参数水质探头+AI诊断，浊度/余氯精度±1%，数据完整性领先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551176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赛莱默：SmartBall管道泄漏检测+EchoPod系列，专利超声技术壁垒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24612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赛默飞：ICP-MS实验室技术下移在线监测，元素分析精度ppb级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941063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聚光科技：GC/GC-MS技术成熟，VOCs监测本地化成本优势明显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636007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E+H：电化学传感器耐用性行业标杆，抗干扰能力强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5330951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哈希：UV法COD/TOC技术领先，SC450控制器生态完整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143000"/>
            <a:ext cx="283464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1143000"/>
            <a:ext cx="283464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  <a:latin typeface="SimHei"/>
              </a:rPr>
              <a:t>专家B（市场）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1527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B8D4"/>
                </a:solidFill>
                <a:latin typeface="SimHei"/>
              </a:rPr>
              <a:t>水务行业市场策略专家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1801368"/>
            <a:ext cx="2651760" cy="1828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185623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威立雅：国资背景+PPP项目优势，市政水务覆盖率高，品牌溢价15-20%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2551176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赛莱默：并购战略（+ePAC）完善产品线，智慧水务平台扩张快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324612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赛默飞：聚焦高端第三方检测/实验室联动，客户粘性高但价格敏感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941063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聚光科技：国内政策响应最快，地级市渗透率高，价格下探30%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4636007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E+H：过程仪表市场稳固，石油化工行业占比较高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5330951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哈希：品牌忠诚度高，经销商网络覆盖广，但价格竞争力弱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143000"/>
            <a:ext cx="283464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143000"/>
            <a:ext cx="2834640" cy="54864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06A"/>
                </a:solidFill>
                <a:latin typeface="SimHei"/>
              </a:rPr>
              <a:t>专家C（渠道）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527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B8D4"/>
                </a:solidFill>
                <a:latin typeface="SimHei"/>
              </a:rPr>
              <a:t>水务行业渠道专家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801368"/>
            <a:ext cx="2651760" cy="1828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185623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威立雅：直销+合资公司模式，省级水务集团直连，经销商辅助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2551176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赛莱默：分销商网络密集，二三线城市渗透率高，EP站式服务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24612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赛默飞：直销为主，实验室配套采购模式，高校/科研院所关系深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3941063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聚光科技：本地化服务网络，村镇级水厂灵活覆盖，价格谈判灵活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636007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E+H：独家代理+系统集成商模式，石油化工行业渠道壁垒高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5330951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哈希：经销+集成商双轨，一线城市三甲水务集团直研，二线靠分销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1143000"/>
            <a:ext cx="283464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1143000"/>
            <a:ext cx="283464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  <a:latin typeface="SimHei"/>
              </a:rPr>
              <a:t>专家D（威胁评估）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1527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B8D4"/>
                </a:solidFill>
                <a:latin typeface="SimHei"/>
              </a:rPr>
              <a:t>跨界威胁评估专家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1801368"/>
            <a:ext cx="2651760" cy="1828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1856232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☁️ 华为云：水利一张图平台切入，数据中台能力威胁监测硬件附加值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2288" y="2551176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☁️ 阿里云：ET环境大脑，城市级水务IoT整合，平台化趋势明显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324612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☁️ 百度云：AI识别+水质图像分析，低成本替代部分在线监测场景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62288" y="3941063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☁️ 腾讯云：水务微信小程序生态，用户侧数据聚合，入口优势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2288" y="4636007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⚠️ 威胁结论：硬件→平台转型窗口期，云厂商5年内难以完全替代专业监测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5330951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▪ ⚠️ 应对：哈希需加速SaaS化转型，构建数据服务护城河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4FF"/>
                </a:solidFill>
                <a:latin typeface="SimHei"/>
              </a:rPr>
              <a:t>波特五力分析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B8D4"/>
                </a:solidFill>
                <a:latin typeface="SimHei"/>
              </a:rPr>
              <a:t>IMS水质监测行业竞争强度评估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85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Hach China IMS | 2026环博会竞争分析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4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228600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2286000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0"/>
                </a:solidFill>
                <a:latin typeface="SimHei"/>
              </a:rPr>
              <a:t>供应商议价能力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18488"/>
            <a:ext cx="2103120" cy="3200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618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000"/>
                </a:solidFill>
                <a:latin typeface="SimHei"/>
              </a:rPr>
              <a:t>强度：中等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0116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传感器/电极：E+H、威图等国际供应商议价能力强，货期长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芯片/电子元件：MCU/通讯模块受国产化替代影响，价格下行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3832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试剂/耗材：化学试剂供应商分散，议价能力中等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690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云服务：阿里云/华为云定价权在云厂商，采购商议价能力弱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5669280"/>
            <a:ext cx="2139696" cy="1828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68756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B8D4"/>
                </a:solidFill>
                <a:latin typeface="SimHei"/>
              </a:rPr>
              <a:t>供应商整体议价能力：中等偏高（国际品牌传感器依赖）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4327" y="1143000"/>
            <a:ext cx="228600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24327" y="1143000"/>
            <a:ext cx="228600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E0"/>
                </a:solidFill>
                <a:latin typeface="SimHei"/>
              </a:rPr>
              <a:t>采购商议价能力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5768" y="1618488"/>
            <a:ext cx="2103120" cy="3200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1618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A00"/>
                </a:solidFill>
                <a:latin typeface="SimHei"/>
              </a:rPr>
              <a:t>强度：较高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20116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市政水务集团（北控/首创等）：集中采购，议价能力强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26974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大型工业企业（中石化/宝钢）：年度框架协议，价格敏感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3832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设计院/EPC总包：技术规格书主导，品牌选型影响力大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40690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集成商：批量采购，对价格和服务双重压价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79" y="5669280"/>
            <a:ext cx="2139696" cy="1828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15768" y="568756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B8D4"/>
                </a:solidFill>
                <a:latin typeface="SimHei"/>
              </a:rPr>
              <a:t>采购商议价能力：较高（客户集中度提升趋势）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74336" y="1143000"/>
            <a:ext cx="228600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74336" y="1143000"/>
            <a:ext cx="228600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65775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  <a:latin typeface="SimHei"/>
              </a:rPr>
              <a:t>潜在进入者威胁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65775" y="1618488"/>
            <a:ext cx="2103120" cy="3200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65775" y="1618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3E3E"/>
                </a:solidFill>
                <a:latin typeface="SimHei"/>
              </a:rPr>
              <a:t>强度：高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65775" y="20116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云厂商跨界：华为/阿里/百度以数据平台切入，颠覆硬件附加值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5775" y="26974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本土监测企业：聚光科技、雪迪龙等政策响应快，价格下探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65775" y="33832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仪表巨头扩张：ABB/西门子从SCADA向下整合监测产品线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65775" y="40690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资本整合者：产业基金并购整合中小品牌，集中度提升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47488" y="5669280"/>
            <a:ext cx="2139696" cy="1828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65775" y="568756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B8D4"/>
                </a:solidFill>
                <a:latin typeface="SimHei"/>
              </a:rPr>
              <a:t>进入者威胁：高（云平台+本土品牌双线冲击）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24344" y="1143000"/>
            <a:ext cx="228600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24344" y="1143000"/>
            <a:ext cx="22860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5783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  <a:latin typeface="SimHei"/>
              </a:rPr>
              <a:t>替代品威胁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15783" y="1618488"/>
            <a:ext cx="2103120" cy="3200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15783" y="1618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000"/>
                </a:solidFill>
                <a:latin typeface="SimHei"/>
              </a:rPr>
              <a:t>强度：中等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15783" y="20116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便携式监测：快速检测替代部分在线监测场景（应急/抽查）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15783" y="26974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卫星遥感/无人机：面源污染监测新技术，成本仍高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15783" y="33832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AI模型预测：以历史数据替代部分物理监测（辅助决策）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15783" y="40690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人工采样+实验室：精度高但时效差，适合超标复核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97496" y="5669280"/>
            <a:ext cx="2139696" cy="18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15783" y="568756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B8D4"/>
                </a:solidFill>
                <a:latin typeface="SimHei"/>
              </a:rPr>
              <a:t>替代品威胁：中等（技术替代需3-5年）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74352" y="1143000"/>
            <a:ext cx="2286000" cy="50749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74352" y="1143000"/>
            <a:ext cx="2286000" cy="54864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65792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06A"/>
                </a:solidFill>
                <a:latin typeface="SimHei"/>
              </a:rPr>
              <a:t>现有竞争格局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65792" y="1618488"/>
            <a:ext cx="2103120" cy="32004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65792" y="1618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3E3E"/>
                </a:solidFill>
                <a:latin typeface="SimHei"/>
              </a:rPr>
              <a:t>强度：激烈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65792" y="20116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第一梯队：威立雅（规模最大）、哈希（品牌最稳）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65792" y="26974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第二梯队：赛莱默（增速最快）、聚光（价格最狠）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65792" y="33832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第三梯队：赛默飞（技术壁垒）、E+H（细分垄断）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65792" y="406908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F"/>
                </a:solidFill>
                <a:latin typeface="SimHei"/>
              </a:rPr>
              <a:t>· 价格战风险：本土品牌以1/3价格争夺二三线城市市场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47504" y="5669280"/>
            <a:ext cx="2139696" cy="1828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65792" y="568756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B8D4"/>
                </a:solidFill>
                <a:latin typeface="SimHei"/>
              </a:rPr>
              <a:t>竞争强度：激烈（价格战+技术战并行）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4FF"/>
                </a:solidFill>
                <a:latin typeface="SimHei"/>
              </a:rPr>
              <a:t>SWOT 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B8D4"/>
                </a:solidFill>
                <a:latin typeface="SimHei"/>
              </a:rPr>
              <a:t>哈希（中國）IMS 產品線戰略定位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85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Hach China IMS | 2026环博会竞争分析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5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760720" cy="269748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73152" cy="2697480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79" y="1188720"/>
            <a:ext cx="502920" cy="502920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imHe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2618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06A"/>
                </a:solidFill>
                <a:latin typeface="SimHei"/>
              </a:rPr>
              <a:t>Strengths 優勢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75564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全球品牌：Hach/哈希在水务行业具有60年品牌积淀，品牌溢价15-20%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水质监测专业性：UV法COD/TOC、荧光法溶解氧等技术行业领先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4203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产品生态完整：SC450控制器+探头+试剂+数据平台，端到端覆盖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35224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全球网络：全球水务客户案例，跨国企业中国分支首选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28416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本地工厂：哈希（西安）本地化生产，供货周期优于纯进口品牌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097280"/>
            <a:ext cx="5760720" cy="269748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097280"/>
            <a:ext cx="73152" cy="26974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188720"/>
            <a:ext cx="502920" cy="5029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imHei"/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12618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E3E"/>
                </a:solidFill>
                <a:latin typeface="SimHei"/>
              </a:rPr>
              <a:t>Weaknesses 劣勢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75564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本地化不足：产品价格高于本土品牌30-50%，市政项目竞争力弱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148840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成本结构：研发/渠道成本高，定价灵活性差于本土竞争者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542032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数字化慢：相比云厂商，数据平台功能迭代速度慢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935224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渠道深度：二三线城市及农村市场覆盖依赖经销商，深度不足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28416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决策链长：跨国企业决策流程长，响应速度输给本土品牌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77639"/>
            <a:ext cx="5760720" cy="26060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977639"/>
            <a:ext cx="73152" cy="26060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79" y="4069079"/>
            <a:ext cx="502920" cy="50292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0690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imHei"/>
              </a:rPr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14223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D0"/>
                </a:solidFill>
                <a:latin typeface="SimHei"/>
              </a:rPr>
              <a:t>Opportunities 機會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6360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政策驱动：十四五水生态规划、城镇污水处理提标改造带来增量需求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29199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智慧水务建设：数字孪生/AI预警需求爆发，监测数据价值再发现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22391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本土化机遇：国产替代政策（信创）有利于本地工厂产品采购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15583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并购整合：行业整合期，可通过并购快速补齐数字化短板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08775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新兴场景：半导体水务、新能源废水监测等高附加值赛道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977639"/>
            <a:ext cx="5760720" cy="26060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977639"/>
            <a:ext cx="73152" cy="26060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069079"/>
            <a:ext cx="502920" cy="5029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0690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imHei"/>
              </a:rP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59" y="414223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A00"/>
                </a:solidFill>
                <a:latin typeface="SimHei"/>
              </a:rPr>
              <a:t>Threats 威脅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6360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云平台跨界：华为/阿里云以数据平台颠覆硬件附加值，5年内威胁显现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029199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价格战：聚光科技等本土品牌以1/3价格争夺市场，挤压利润空间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422391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国际关系：地缘政治风险可能导致关键零部件供应不确定性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815583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技术替代：AI模型+遥感技术替代部分在线监测场景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6208775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• 标准收紧：水质标准提升倒逼产品升级，研发投入压力持续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611880"/>
            <a:ext cx="502920" cy="41148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611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imHei"/>
              </a:rPr>
              <a:t>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3611880"/>
            <a:ext cx="502920" cy="41148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36118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imHei"/>
              </a:rPr>
              <a:t>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04164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B8D4"/>
                </a:solidFill>
                <a:latin typeface="SimHei"/>
              </a:rPr>
              <a:t>内部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1783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B8D4"/>
                </a:solidFill>
                <a:latin typeface="SimHei"/>
              </a:rPr>
              <a:t>外部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0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06A"/>
                </a:solidFill>
                <a:latin typeface="SimHei"/>
              </a:rPr>
              <a:t>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3E3E"/>
                </a:solidFill>
                <a:latin typeface="SimHei"/>
              </a:rPr>
              <a:t>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3434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0"/>
                </a:solidFill>
                <a:latin typeface="SimHei"/>
              </a:rPr>
              <a:t>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3434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7A00"/>
                </a:solidFill>
                <a:latin typeface="SimHei"/>
              </a:rPr>
              <a:t>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4FF"/>
                </a:solidFill>
                <a:latin typeface="SimHei"/>
              </a:rPr>
              <a:t>行动建议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B8D4"/>
                </a:solidFill>
                <a:latin typeface="SimHei"/>
              </a:rPr>
              <a:t>90天竞争力提升计划 · 展会后黄金窗口期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85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Hach China IMS | 2026环博会竞争分析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6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3794760" cy="53035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3794760" cy="7772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imHei"/>
              </a:rPr>
              <a:t>30天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imHei"/>
              </a:rPr>
              <a:t>展会后跟进计划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70992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4FF"/>
                </a:solidFill>
                <a:latin typeface="SimHei"/>
              </a:rPr>
              <a:t>5月18日 - 6月17日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47672"/>
            <a:ext cx="3611880" cy="1828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79" y="2039112"/>
            <a:ext cx="54864" cy="20116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01168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【客户盘点】整理展会期间收集的300+名片，按市政/工业/设计院分类优先级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79" y="2770632"/>
            <a:ext cx="54864" cy="20116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74320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【意向追踪】对15+重点意向客户48小时内发送定制化跟进邮件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79" y="3502151"/>
            <a:ext cx="54864" cy="20116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47472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【竞品动态】整理展会上竞品展示的IMS新产品，更新竞品数据库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4233672"/>
            <a:ext cx="54864" cy="20116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20624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【内部对齐】向销售团队同步展会发现，制定客户访问路线图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4965192"/>
            <a:ext cx="54864" cy="20116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93775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【媒体曝光】发布展会新闻稿至水务行业5家核心媒体（北极星水处理网等）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79" y="5696712"/>
            <a:ext cx="54864" cy="201168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566927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【客户答谢】针对Top20客户发送定制化样品/技术资料包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143000"/>
            <a:ext cx="3794760" cy="53035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1143000"/>
            <a:ext cx="3794760" cy="7772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imHei"/>
              </a:rPr>
              <a:t>60天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1554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imHei"/>
              </a:rPr>
              <a:t>竞品对标行动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170992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4FF"/>
                </a:solidFill>
                <a:latin typeface="SimHei"/>
              </a:rPr>
              <a:t>6月18日 - 7月17日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1947672"/>
            <a:ext cx="3611880" cy="1828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2039112"/>
            <a:ext cx="54864" cy="2011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272" y="201168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【技术对标】完成威立雅/赛莱默/聚光产品技术参数对比表（精度/通讯/价格）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2770632"/>
            <a:ext cx="54864" cy="2011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274320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【价格策略】针对聚光科技定价，评估哈希IMS产品价格弹性空间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502151"/>
            <a:ext cx="54864" cy="2011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2272" y="347472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【渠道审计】走访华东/华南3家核心经销商，了解竞品渠道激励政策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4233672"/>
            <a:ext cx="54864" cy="2011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420624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【客户调研】对10家目标客户进行深度访谈，了解IMS采购决策因素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4965192"/>
            <a:ext cx="54864" cy="2011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493775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【智慧水务】与华为云/阿里云团队初步接触，探讨数据平台合作模式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5696712"/>
            <a:ext cx="54864" cy="2011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62272" y="566927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【行业会议】参加6月中国水博览会，获取最新行业技术趋势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1143000"/>
            <a:ext cx="3794760" cy="53035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1143000"/>
            <a:ext cx="3794760" cy="777240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imHei"/>
              </a:rPr>
              <a:t>90天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155448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imHei"/>
              </a:rPr>
              <a:t>IMS产品路线图更新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170992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E4FF"/>
                </a:solidFill>
                <a:latin typeface="SimHei"/>
              </a:rPr>
              <a:t>7月18日 - 8月16日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1947672"/>
            <a:ext cx="3611880" cy="1828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5320" y="2039112"/>
            <a:ext cx="54864" cy="20116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4192" y="201168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【路线图评审】召开IMS产品委员会，评审2026-2028产品路线图更新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2770632"/>
            <a:ext cx="54864" cy="20116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4192" y="274320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【数字化加速】确定SaaS数据平台MVP范围，Q4启动开发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3502151"/>
            <a:ext cx="54864" cy="20116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94192" y="347472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【本地化方案】针对农村水务/小型水厂推出轻量化IMS套装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4233672"/>
            <a:ext cx="54864" cy="20116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94192" y="4206240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【生态合作】与华为云签署技术合作备忘录，联合开发水务行业模型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75320" y="4965192"/>
            <a:ext cx="54864" cy="20116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94192" y="493775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【竞品反击】针对聚光科技推出市政水务专项优惠（限价不限量）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5696712"/>
            <a:ext cx="54864" cy="201168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94192" y="5669279"/>
            <a:ext cx="3429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F"/>
                </a:solidFill>
                <a:latin typeface="SimHei"/>
              </a:rPr>
              <a:t>【董事会汇报】向管理层提交《IMS中国市场竞争策略建议书》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419088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E0"/>
                </a:solidFill>
                <a:latin typeface="SimHei"/>
              </a:rPr>
              <a:t>▶ 30天KPI：意向客户转化率 ≥20%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40" y="6419088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E0"/>
                </a:solidFill>
                <a:latin typeface="SimHei"/>
              </a:rPr>
              <a:t>▶ 60天KPI：完成3个区域渠道审计 + 10份客户访谈报告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6419088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E0"/>
                </a:solidFill>
                <a:latin typeface="SimHei"/>
              </a:rPr>
              <a:t>▶ 90天KPI：IMS路线图通过评审 + 1个云生态合作签约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4FF"/>
                </a:solidFill>
                <a:latin typeface="SimHei"/>
              </a:rPr>
              <a:t>附：展商数据库摘要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B8D4"/>
                </a:solidFill>
                <a:latin typeface="SimHei"/>
              </a:rPr>
              <a:t>E3/E4馆重点展商及关键决策人联系机会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85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Hach China IMS | 2026环博会竞争分析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B8D4"/>
                </a:solidFill>
                <a:latin typeface="SimHei"/>
              </a:rPr>
              <a:t>7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669280" cy="274320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5669280" cy="548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E0"/>
                </a:solidFill>
                <a:latin typeface="SimHei"/>
              </a:rPr>
              <a:t>E3馆 重点展商（已知）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72768"/>
            <a:ext cx="13716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E0"/>
                </a:solidFill>
                <a:latin typeface="SimHei"/>
              </a:rPr>
              <a:t>哈希 Hach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1572768"/>
            <a:ext cx="77724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157276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E3-C12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572768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157276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水质监测/IMS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1572768"/>
            <a:ext cx="8686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15727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产品总监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572768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57276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展会重点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865376"/>
            <a:ext cx="137160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865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E0"/>
                </a:solidFill>
                <a:latin typeface="SimHei"/>
              </a:rPr>
              <a:t>哈希 Hach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1865376"/>
            <a:ext cx="77724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3080" y="186537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E4-D08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1865376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186537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在线监测/试剂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1865376"/>
            <a:ext cx="8686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186537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市场经理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1865376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186537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双展台联动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157984"/>
            <a:ext cx="13716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1579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E0"/>
                </a:solidFill>
                <a:latin typeface="SimHei"/>
              </a:rPr>
              <a:t>同臣环保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2157984"/>
            <a:ext cx="77724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83080" y="215798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E3-A11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2157984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215798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污泥处理/监测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11880" y="2157984"/>
            <a:ext cx="8686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215798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技术经理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2157984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215798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潜在合作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50591"/>
            <a:ext cx="137160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245059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E0"/>
                </a:solidFill>
                <a:latin typeface="SimHei"/>
              </a:rPr>
              <a:t>中材节能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37360" y="2450591"/>
            <a:ext cx="77724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83080" y="2450591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E3-B05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2450591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2450591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环保监测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11880" y="2450591"/>
            <a:ext cx="8686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0" y="2450591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销售总监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2450591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2450591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工业客户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743199"/>
            <a:ext cx="13716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274319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E0"/>
                </a:solidFill>
                <a:latin typeface="SimHei"/>
              </a:rPr>
              <a:t>华星环保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37360" y="2743199"/>
            <a:ext cx="77724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83080" y="274319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E3-D22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14600" y="2743199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0" y="274319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水质在线监测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11880" y="2743199"/>
            <a:ext cx="8686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0" y="274319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总经理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2743199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26280" y="274319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本土竞品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035807"/>
            <a:ext cx="137160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303580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E0"/>
                </a:solidFill>
                <a:latin typeface="SimHei"/>
              </a:rPr>
              <a:t>武汉中科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37360" y="3035807"/>
            <a:ext cx="77724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83080" y="3035807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E3-E15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14600" y="3035807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60320" y="3035807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科学仪器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11880" y="3035807"/>
            <a:ext cx="8686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0" y="3035807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市场经理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0" y="3035807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3035807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高校资源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1097280"/>
            <a:ext cx="5760720" cy="274320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6480" y="1097280"/>
            <a:ext cx="5760720" cy="54864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06A"/>
                </a:solidFill>
                <a:latin typeface="SimHei"/>
              </a:rPr>
              <a:t>E4馆 监测相关展商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1572768"/>
            <a:ext cx="118872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640" y="1572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06A"/>
                </a:solidFill>
                <a:latin typeface="SimHei"/>
              </a:rPr>
              <a:t>聚光科技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06640" y="1572768"/>
            <a:ext cx="82296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52360" y="15727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E4-CO01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1572768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75320" y="157276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VOCs/水质监测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26880" y="1572768"/>
            <a:ext cx="8686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72600" y="157276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营销副总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95559" y="1572768"/>
            <a:ext cx="13716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41280" y="1572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核心竞品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1865376"/>
            <a:ext cx="118872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63640" y="1865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06A"/>
                </a:solidFill>
                <a:latin typeface="SimHei"/>
              </a:rPr>
              <a:t>雪迪龙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06640" y="1865376"/>
            <a:ext cx="82296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52360" y="1865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E4-B11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29600" y="1865376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75320" y="186537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CEMS/水质监测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326880" y="1865376"/>
            <a:ext cx="8686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72600" y="186537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技术总监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195559" y="1865376"/>
            <a:ext cx="137160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241280" y="1865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本土竞品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17920" y="2157984"/>
            <a:ext cx="118872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63640" y="2157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06A"/>
                </a:solidFill>
                <a:latin typeface="SimHei"/>
              </a:rPr>
              <a:t>哈希 Hach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06640" y="2157984"/>
            <a:ext cx="82296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52360" y="21579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E4-D08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29600" y="2157984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75320" y="215798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在线监测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326880" y="2157984"/>
            <a:ext cx="8686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72600" y="215798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市场经理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195559" y="2157984"/>
            <a:ext cx="13716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41280" y="21579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双展台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17920" y="2450591"/>
            <a:ext cx="118872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63640" y="245059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06A"/>
                </a:solidFill>
                <a:latin typeface="SimHei"/>
              </a:rPr>
              <a:t>力合科技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406640" y="2450591"/>
            <a:ext cx="82296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452360" y="24505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E4-A05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229600" y="2450591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75320" y="2450591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水质自动站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326880" y="2450591"/>
            <a:ext cx="8686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372600" y="2450591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销售总监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95559" y="2450591"/>
            <a:ext cx="137160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41280" y="245059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潜在合作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17920" y="2743199"/>
            <a:ext cx="118872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263640" y="27431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06A"/>
                </a:solidFill>
                <a:latin typeface="SimHei"/>
              </a:rPr>
              <a:t>安徽皖仪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406640" y="2743199"/>
            <a:ext cx="82296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452360" y="274319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E4-C22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229600" y="2743199"/>
            <a:ext cx="1097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275320" y="274319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色谱/光谱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326880" y="2743199"/>
            <a:ext cx="8686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372600" y="274319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总经理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195559" y="2743199"/>
            <a:ext cx="137160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241280" y="274319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工业客户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217920" y="3035807"/>
            <a:ext cx="118872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263640" y="30358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06A"/>
                </a:solidFill>
                <a:latin typeface="SimHei"/>
              </a:rPr>
              <a:t>苏州萃智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406640" y="3035807"/>
            <a:ext cx="82296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52360" y="3035807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E4-D15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229600" y="3035807"/>
            <a:ext cx="10972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275320" y="3035807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智慧水务平台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326880" y="3035807"/>
            <a:ext cx="86868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372600" y="3035807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产品经理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95559" y="3035807"/>
            <a:ext cx="1371600" cy="274320"/>
          </a:xfrm>
          <a:prstGeom prst="rect">
            <a:avLst/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241280" y="303580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  <a:latin typeface="SimHei"/>
              </a:rPr>
              <a:t>云平台合作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" y="3977639"/>
            <a:ext cx="11612880" cy="2286000"/>
          </a:xfrm>
          <a:prstGeom prst="rect">
            <a:avLst/>
          </a:prstGeom>
          <a:solidFill>
            <a:srgbClr val="14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74320" y="3977639"/>
            <a:ext cx="11612880" cy="54864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65760" y="4050791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0"/>
                </a:solidFill>
                <a:latin typeface="SimHei"/>
              </a:rPr>
              <a:t>关键决策人联系机会（展会情报）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65760" y="4434840"/>
            <a:ext cx="1874519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65760" y="4434840"/>
            <a:ext cx="1874519" cy="45720"/>
          </a:xfrm>
          <a:prstGeom prst="rect">
            <a:avLst/>
          </a:prstGeom>
          <a:solidFill>
            <a:srgbClr val="008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38912" y="44988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D0"/>
                </a:solidFill>
                <a:latin typeface="SimHei"/>
              </a:rPr>
              <a:t>威立雅 Veolia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38912" y="4736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B8D4"/>
                </a:solidFill>
                <a:latin typeface="SimHei"/>
              </a:rPr>
              <a:t>展位：E1-B02/C01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38912" y="491032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4FF"/>
                </a:solidFill>
                <a:latin typeface="SimHei"/>
              </a:rPr>
              <a:t>智慧水务事业部总监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8912" y="5056631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B8D4"/>
                </a:solidFill>
                <a:latin typeface="SimHei"/>
              </a:rPr>
              <a:t>可约智慧水务整体方案技术交流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13432" y="4434840"/>
            <a:ext cx="1874519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313432" y="4434840"/>
            <a:ext cx="1874519" cy="4572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386584" y="44988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E0"/>
                </a:solidFill>
                <a:latin typeface="SimHei"/>
              </a:rPr>
              <a:t>赛莱默 Xylem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386584" y="4736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B8D4"/>
                </a:solidFill>
                <a:latin typeface="SimHei"/>
              </a:rPr>
              <a:t>展位：E1-B39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386584" y="491032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4FF"/>
                </a:solidFill>
                <a:latin typeface="SimHei"/>
              </a:rPr>
              <a:t>数字化水务负责人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386584" y="5056631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B8D4"/>
                </a:solidFill>
                <a:latin typeface="SimHei"/>
              </a:rPr>
              <a:t>可探听智慧水务平台战略及渠道政策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261104" y="4434840"/>
            <a:ext cx="1874519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261104" y="4434840"/>
            <a:ext cx="1874519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334256" y="44988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  <a:latin typeface="SimHei"/>
              </a:rPr>
              <a:t>赛默飞世尔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34256" y="4736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B8D4"/>
                </a:solidFill>
                <a:latin typeface="SimHei"/>
              </a:rPr>
              <a:t>展位：E5-K51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334256" y="491032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4FF"/>
                </a:solidFill>
                <a:latin typeface="SimHei"/>
              </a:rPr>
              <a:t>环境业务中国区负责人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334256" y="5056631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B8D4"/>
                </a:solidFill>
                <a:latin typeface="SimHei"/>
              </a:rPr>
              <a:t>可探讨实验室+在线监测联动方案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08776" y="4434840"/>
            <a:ext cx="1874519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08776" y="4434840"/>
            <a:ext cx="1874519" cy="45720"/>
          </a:xfrm>
          <a:prstGeom prst="rect">
            <a:avLst/>
          </a:prstGeom>
          <a:solidFill>
            <a:srgbClr val="00C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281928" y="44988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06A"/>
                </a:solidFill>
                <a:latin typeface="SimHei"/>
              </a:rPr>
              <a:t>聚光科技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81928" y="4736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B8D4"/>
                </a:solidFill>
                <a:latin typeface="SimHei"/>
              </a:rPr>
              <a:t>展位：E4-CO01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281928" y="491032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4FF"/>
                </a:solidFill>
                <a:latin typeface="SimHei"/>
              </a:rPr>
              <a:t>营销副总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281928" y="5056631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B8D4"/>
                </a:solidFill>
                <a:latin typeface="SimHei"/>
              </a:rPr>
              <a:t>价格谈判基准，获取本土市场一线情报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156448" y="4434840"/>
            <a:ext cx="1874519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156448" y="4434840"/>
            <a:ext cx="1874519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229600" y="44988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SimHei"/>
              </a:rPr>
              <a:t>华为云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29600" y="4736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B8D4"/>
                </a:solidFill>
                <a:latin typeface="SimHei"/>
              </a:rPr>
              <a:t>展位：W3-A10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229600" y="491032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4FF"/>
                </a:solidFill>
                <a:latin typeface="SimHei"/>
              </a:rPr>
              <a:t>水务行业总监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229600" y="5056631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B8D4"/>
                </a:solidFill>
                <a:latin typeface="SimHei"/>
              </a:rPr>
              <a:t>探讨数据平台合作，评估跨界威胁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104119" y="4434840"/>
            <a:ext cx="1874519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104119" y="4434840"/>
            <a:ext cx="1874519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177272" y="44988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000"/>
                </a:solidFill>
                <a:latin typeface="SimHei"/>
              </a:rPr>
              <a:t>E+H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177272" y="47365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B8D4"/>
                </a:solidFill>
                <a:latin typeface="SimHei"/>
              </a:rPr>
              <a:t>展位：E3-A20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177272" y="4910327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4FF"/>
                </a:solidFill>
                <a:latin typeface="SimHei"/>
              </a:rPr>
              <a:t>中国区技术总监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177272" y="5056631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CB8D4"/>
                </a:solidFill>
                <a:latin typeface="SimHei"/>
              </a:rPr>
              <a:t>传感器技术对标，潜在战略合作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