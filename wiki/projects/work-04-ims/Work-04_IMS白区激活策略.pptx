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研究四：IMS白区激活策略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B5"/>
                </a:solidFill>
                <a:latin typeface="Microsoft YaHei"/>
              </a:defRPr>
            </a:pPr>
            <a:r>
              <a:t>核心假设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●  增加IB有助于软件和仪表业务整体提升</a:t>
            </a:r>
          </a:p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●  IMS是仪表的保护伞，而非独立利润中心</a:t>
            </a:r>
          </a:p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●  IMS的核心价值：帮助保住仪表市场份额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EB5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D4D4D"/>
                </a:solidFill>
                <a:latin typeface="Microsoft YaHei"/>
              </a:defRPr>
            </a:pPr>
            <a:r>
              <a:t>这些假设是否成立？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立项时已识别的方向（合规上报、故障响应、巡检效率、备件采购）都对，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但效果不好——IMS依然卖不动。根因究竟是什么？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方法论：PSP（Problem to Portfolio）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从客户真实问题出发（而非从产品功能出发）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用5-Why追问根因，而非停留在症状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用Pareto定位20%高价值问题，聚焦优先行动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方法论：Problem to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5-Why 追问法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客户为什么需要IMS？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为什么出问题？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为什么响应慢？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为什么没有手段？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EB5"/>
                </a:solidFill>
                <a:latin typeface="Microsoft YaHei"/>
              </a:defRPr>
            </a:pPr>
            <a:r>
              <a:t>Q5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D4D4D"/>
                </a:solidFill>
                <a:latin typeface="Microsoft YaHei"/>
              </a:defRPr>
            </a:pPr>
            <a:r>
              <a:t>根因是什么？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Pareto 定位法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问题类型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IMS解决能力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数据合规记录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直接解决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7EB5"/>
                </a:solidFill>
                <a:latin typeface="Microsoft YaHei"/>
              </a:defRPr>
            </a:pPr>
            <a:r>
              <a:t>最高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42316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故障响应慢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部分解决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26080"/>
            <a:ext cx="52120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巡检效率低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部分解决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2900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校准不及时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部分解决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31920"/>
            <a:ext cx="52120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3977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备件采购周期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间接帮助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3977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5000"/>
                </a:solidFill>
                <a:latin typeface="Microsoft YaHei"/>
              </a:defRPr>
            </a:pPr>
            <a:r>
              <a:t>注：PSP不是找新问题，而是追问——为什么已有方向效果不好？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案例分析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案例一：华南某自来水厂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华南某自来水厂，仪表部主导，厂长支持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行动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开展IMS试用约2年，客户对功能完全满意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阻力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14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集团信息化部门——已与百度签2000万大包，抵制IMS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根因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IMS用仪表销售模式应对企业数字化决策链，对象错配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7EB5"/>
                </a:solidFill>
                <a:latin typeface="Microsoft YaHei"/>
              </a:defRPr>
            </a:pPr>
            <a:r>
              <a:t>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2年未关单（预期6个月），远超标杆周期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EB5"/>
                </a:solidFill>
                <a:latin typeface="Microsoft YaHei"/>
              </a:defRPr>
            </a:pPr>
            <a:r>
              <a:t>5-Why 追问链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4630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1. 为什么2年没关单？信息部抵制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385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2. 为什么能抵制？销售不知如何接触IT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4140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3. 为什么约不到人？第一次跟IT打交道，没关系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895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D4D4D"/>
                </a:solidFill>
                <a:latin typeface="Microsoft YaHei"/>
              </a:defRPr>
            </a:pPr>
            <a:r>
              <a:t>4. 根因：产品定位=仪表配套，决策链超出边界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06424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更多案例（待分析）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●  案例二：       正在沟通中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●  案例三：       正在沟通中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●  案例四：       正在沟通中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随着案例积累，5-Why根因将逐步收敛，形成可验证的战略结论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D4D4D"/>
                </a:solidFill>
                <a:latin typeface="Microsoft YaHei"/>
              </a:defRPr>
            </a:pPr>
            <a:r>
              <a:t>下一步：行动计划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D4D4D"/>
                </a:solidFill>
                <a:latin typeface="Microsoft YaHei"/>
              </a:defRPr>
            </a:pPr>
            <a:r>
              <a:t>两个优先行动方向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303520" cy="2560320"/>
          </a:xfrm>
          <a:prstGeom prst="rect">
            <a:avLst/>
          </a:prstGeom>
          <a:solidFill>
            <a:srgbClr val="F5F8FC"/>
          </a:solidFill>
          <a:ln>
            <a:solidFill>
              <a:srgbClr val="00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EB5"/>
                </a:solidFill>
                <a:latin typeface="Microsoft YaHei"/>
              </a:defRPr>
            </a:pPr>
            <a:r>
              <a:t>方向一：销售方法论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仪表销售 如何接触IT部门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建立IT/信息化部门的接触路径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案例：信息部无法约见是核心障碍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需要：销售团队对IT决策链的认知升级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303520" cy="2560320"/>
          </a:xfrm>
          <a:prstGeom prst="rect">
            <a:avLst/>
          </a:prstGeom>
          <a:solidFill>
            <a:srgbClr val="F5F8FC"/>
          </a:solidFill>
          <a:ln>
            <a:solidFill>
              <a:srgbClr val="00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EB5"/>
                </a:solidFill>
                <a:latin typeface="Microsoft YaHei"/>
              </a:defRPr>
            </a:pPr>
            <a:r>
              <a:t>方向二：产品定位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IMS = 仪表配套 vs 企业数字化的一部分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重新包装竞合逻辑：IMS与百度大包不冲突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百度验收困难 应转化为IMS的进入窗口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D4D4D"/>
                </a:solidFill>
                <a:latin typeface="Microsoft YaHei"/>
              </a:defRPr>
            </a:pPr>
            <a:r>
              <a:t>  • 需要：主动论证不选百度的论据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11064240" cy="228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EB5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继续积累真实案例（目标：再收集2-3个丢单/失败案例）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用5-Why逐个挖掘根因，交叉验证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Pareto收敛：高价值、低阻力的优先行动点</a:t>
            </a:r>
          </a:p>
          <a:p>
            <a:pPr>
              <a:defRPr sz="1400">
                <a:solidFill>
                  <a:srgbClr val="4D4D4D"/>
                </a:solidFill>
                <a:latin typeface="Microsoft YaHei"/>
              </a:defRPr>
            </a:pPr>
            <a:r>
              <a:t>→  形成研究四最终结论与建议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