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**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中国水协2026年会</ns1:t>
            </ns1:r>
          </ns1:p>
        </ns1:txBody>
      </ns1:sp>
      <ns1:sp>
        <ns1:spPr>
          <ns1:xfrm>
            <ns1:off x="548640" y="1645920"/>
            <ns1:ext cx="10972800" cy="7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4400" b="1">
                <ns1:solidFill>
                  <ns1:srgbClr val="4D4D4D"/>
                </ns1:solidFill>
                <ns1:latin typeface="Microsoft YaHei"/>
              </ns1:rPr>
              <ns1:t>中国水协2026年会</ns1:t>
            </ns1:r>
          </ns1:p>
        </ns1:txBody>
      </ns1:sp>
      <ns1:sp>
        <ns1:spPr>
          <ns1:xfrm>
            <ns1:off x="548640" y="2300000"/>
            <ns1:ext cx="10972800" cy="4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2800" b="0">
                <ns1:solidFill>
                  <ns1:srgbClr val="4D4D4D"/>
                </ns1:solidFill>
                <ns1:latin typeface="Microsoft YaHei"/>
              </ns1:rPr>
              <ns1:t>深度市场研究报告</ns1:t>
            </ns1:r>
          </ns1:p>
        </ns1:txBody>
      </ns1:sp>
      <ns1:sp>
        <ns1:spPr>
          <ns1:xfrm>
            <ns1:off x="548640" y="2834640"/>
            <ns1:ext cx="73152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800" b="0">
                <ns1:solidFill>
                  <ns1:srgbClr val="999999"/>
                </ns1:solidFill>
                <ns1:latin typeface="Microsoft YaHei"/>
              </ns1:rPr>
              <ns1:t>2026年4月15-19日 · 深圳国际会展中心</ns1:t>
            </ns1:r>
          </ns1:p>
        </ns1:txBody>
      </ns1:sp>
      <ns1:sp>
        <ns1:spPr>
          <ns1:xfrm>
            <ns1:off x="548640" y="3200000"/>
            <ns1:ext cx="11000000" cy="6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C00000"/>
                </ns1:solidFill>
                <ns1:latin typeface="Microsoft YaHei"/>
              </ns1:rPr>
              <ns1:t>⚠ 本报告数据来源为网络搜索及媒体报道汇总，未经实地验证。展商信息来自厂商通稿或媒体报道摘要，存在信息不完整或偏差风险。</ns1:t>
            </ns1:r>
          </ns1:p>
        </ns1:txBody>
      </ns1:sp>
      <ns1:sp>
        <ns1:spPr>
          <ns1:xfrm>
            <ns1:off x="548640" y="3750000"/>
            <ns1:ext cx="110000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数据来源：百度搜索（4月21-22日）+ 媒体报道汇总 | 截至2026年4月22日</ns1:t>
            </ns1:r>
          </ns1:p>
        </ns1:txBody>
      </ns1:sp>
      <ns1:sp>
        <ns1:spPr>
          <ns1:xfrm>
            <ns1:off x="548640" y="4050000"/>
            <ns1:ext cx="110000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Hach中国IMS产品线 · 类比环博会报告框架</ns1:t>
            </ns1:r>
          </ns1:p>
        </ns1:txBody>
      </ns1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00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执行摘要</ns1:t>
            </ns1:r>
          </ns1:p>
        </ns1:txBody>
      </ns1:sp>
      <ns1:sp>
        <ns1:spPr>
          <ns1:xfrm>
            <ns1:off x="548640" y="1200000"/>
            <ns1:ext cx="109728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4D4D4D"/>
                </ns1:solidFill>
                <ns1:latin typeface="Microsoft YaHei"/>
              </ns1:rPr>
              <ns1:t>① 「十五五」开局定调：数字化 / 改革价格机制 / 培育龙头企业</ns1:t>
            </ns1:r>
          </ns1:p>
        </ns1:txBody>
      </ns1:sp>
      <ns1:sp>
        <ns1:spPr>
          <ns1:xfrm>
            <ns1:off x="548640" y="1660000"/>
            <ns1:ext cx="109728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4D4D4D"/>
                </ns1:solidFill>
                <ns1:latin typeface="Microsoft YaHei"/>
              </ns1:rPr>
              <ns1:t>② AI+水务从概念进入落地：深圳「深水云脑2.0」99%数字化覆盖</ns1:t>
            </ns1:r>
          </ns1:p>
        </ns1:txBody>
      </ns1:sp>
      <ns1:sp>
        <ns1:spPr>
          <ns1:xfrm>
            <ns1:off x="548640" y="2120000"/>
            <ns1:ext cx="109728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4D4D4D"/>
                </ns1:solidFill>
                <ns1:latin typeface="Microsoft YaHei"/>
              </ns1:rPr>
              <ns1:t>③ 仪表竞争格局质变：国内厂商「AI+传感+平台」全链条方案全面亮相</ns1:t>
            </ns1:r>
          </ns1:p>
        </ns1:txBody>
      </ns1:sp>
      <ns1:sp>
        <ns1:spPr>
          <ns1:xfrm>
            <ns1:off x="548640" y="2580000"/>
            <ns1:ext cx="109728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4D4D4D"/>
                </ns1:solidFill>
                <ns1:latin typeface="Microsoft YaHei"/>
              </ns1:rPr>
              <ns1:t>④ Hach机会在于数据层：AI大模型依赖高质量传感器数据（仪表精度=壁垒）</ns1:t>
            </ns1:r>
          </ns1:p>
        </ns1:txBody>
      </ns1:sp>
      <ns1:sp>
        <ns1:spPr>
          <ns1:xfrm>
            <ns1:off x="548640" y="3040000"/>
            <ns1:ext cx="109728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4D4D4D"/>
                </ns1:solidFill>
                <ns1:latin typeface="Microsoft YaHei"/>
              </ns1:rPr>
              <ns1:t>⑤ 深圳样板全国推广信号：住建部明确广东「为全国提供示范」</ns1:t>
            </ns1:r>
          </ns1:p>
        </ns1:txBody>
      </ns1:sp>
      <ns1:sp>
        <ns1:spPr>
          <ns1:xfrm>
            <ns1:off x="548640" y="3500000"/>
            <ns1:ext cx="10972800" cy="4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4D4D4D"/>
                </ns1:solidFill>
                <ns1:latin typeface="Microsoft YaHei"/>
              </ns1:rPr>
              <ns1:t>⑥ 《供水条例》2026年6月1日施行 — 合规窗口期开启</ns1:t>
            </ns1:r>
          </ns1:p>
        </ns1:txBody>
      </ns1:sp>
      <ns1:sp>
        <ns1:spPr>
          <ns1:xfrm>
            <ns1:off x="548640" y="3960000"/>
            <ns1:ext cx="10972800" cy="4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0">
                <ns1:solidFill>
                  <ns1:srgbClr val="C00000"/>
                </ns1:solidFill>
                <ns1:latin typeface="Microsoft YaHei"/>
              </ns1:rPr>
              <ns1:t>⚠ 数据说明：展商/演讲信息来源于媒体报道和厂商通稿，无法完全核实准确性。</ns1:t>
            </ns1:r>
          </ns1:p>
        </ns1:txBody>
      </ns1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01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政策背景：「十五五」水务定调</ns1:t>
            </ns1:r>
          </ns1:p>
        </ns1:txBody>
      </ns1:sp>
      <ns1:sp>
        <ns1:spPr>
          <ns1:xfrm>
            <ns1:off x="548640" y="868680"/>
            <ns1:ext cx="10972800" cy="36576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999999"/>
                </ns1:solidFill>
                <ns1:latin typeface="Microsoft YaHei"/>
              </ns1:rPr>
              <ns1:t>来源：综合大会发言（人民网/中新网报道整理）</ns1:t>
            </ns1:r>
          </ns1:p>
        </ns1:txBody>
      </ns1:sp>
      <ns1:sp>
        <ns1:spPr>
          <ns1:xfrm>
            <ns1:off x="548640" y="1200000"/>
            <ns1:ext cx="10972800" cy="3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500" b="1">
                <ns1:solidFill>
                  <ns1:srgbClr val="007EB5"/>
                </ns1:solidFill>
                <ns1:latin typeface="Microsoft YaHei"/>
              </ns1:rPr>
              <ns1:t>住建部2026年四项重点工作</ns1:t>
            </ns1:r>
          </ns1:p>
        </ns1:txBody>
      </ns1:sp>
      <ns1:sp>
        <ns1:spPr>
          <ns1:xfrm>
            <ns1:off x="700000" y="162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① 供水安全 — 贯彻新修订《供水条例》，筑牢供水安全防线</ns1:t>
            </ns1:r>
          </ns1:p>
        </ns1:txBody>
      </ns1:sp>
      <ns1:sp>
        <ns1:spPr>
          <ns1:xfrm>
            <ns1:off x="700000" y="196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② 排水防涝 — 统筹硬软件建设，加快北方地区补齐短板</ns1:t>
            </ns1:r>
          </ns1:p>
        </ns1:txBody>
      </ns1:sp>
      <ns1:sp>
        <ns1:spPr>
          <ns1:xfrm>
            <ns1:off x="700000" y="230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③ 污水治理 — 推进管网改造和再生水利用</ns1:t>
            </ns1:r>
          </ns1:p>
        </ns1:txBody>
      </ns1:sp>
      <ns1:sp>
        <ns1:spPr>
          <ns1:xfrm>
            <ns1:off x="700000" y="264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④ 行业支撑 — 完善法规标准，推动智慧化升级和人才培养</ns1:t>
            </ns1:r>
          </ns1:p>
        </ns1:txBody>
      </ns1:sp>
      <ns1:sp>
        <ns1:spPr>
          <ns1:xfrm>
            <ns1:off x="548640" y="3080000"/>
            <ns1:ext cx="10972800" cy="3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500" b="1">
                <ns1:solidFill>
                  <ns1:srgbClr val="007EB5"/>
                </ns1:solidFill>
                <ns1:latin typeface="Microsoft YaHei"/>
              </ns1:rPr>
              <ns1:t>章林伟（中国水协会长）三大战略方向</ns1:t>
            </ns1:r>
          </ns1:p>
        </ns1:txBody>
      </ns1:sp>
      <ns1:sp>
        <ns1:spPr>
          <ns1:xfrm>
            <ns1:off x="700000" y="350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① 数字化赋能 — 推动AI与供排水全场景深度融合；搭建水务AI数据库；加快老旧设施改造</ns1:t>
            </ns1:r>
          </ns1:p>
        </ns1:txBody>
      </ns1:sp>
      <ns1:sp>
        <ns1:spPr>
          <ns1:xfrm>
            <ns1:off x="700000" y="384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② 价格机制改革 — 推动自来水价格听证制度改革；污水处理费收费机制转型</ns1:t>
            </ns1:r>
          </ns1:p>
        </ns1:txBody>
      </ns1:sp>
      <ns1:sp>
        <ns1:spPr>
          <ns1:xfrm>
            <ns1:off x="700000" y="4180000"/>
            <ns1:ext cx="10472800" cy="33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0">
                <ns1:solidFill>
                  <ns1:srgbClr val="4D4D4D"/>
                </ns1:solidFill>
                <ns1:latin typeface="Microsoft YaHei"/>
              </ns1:rPr>
              <ns1:t>③ 培育龙头企业 — 以国家统一大市场政策为导向，探索产业整合，提升产业集中度</ns1:t>
            </ns1:r>
          </ns1:p>
        </ns1:txBody>
      </ns1:sp>
      <ns1:sp>
        <ns1:spPr>
          <ns1:xfrm>
            <ns1:off x="548640" y="4620000"/>
            <ns1:ext cx="10972800" cy="3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4D4D4D"/>
                </ns1:solidFill>
                <ns1:latin typeface="Microsoft YaHei"/>
              </ns1:rPr>
              <ns1:t>关键节点：《城镇供水条例》2026年6月1日正式施行</ns1:t>
            </ns1:r>
          </ns1:p>
        </ns1:txBody>
      </ns1:sp>
      <ns1:sp>
        <ns1:spPr>
          <ns1:xfrm>
            <ns1:off x="548640" y="5040000"/>
            <ns1:ext cx="109728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C00000"/>
                </ns1:solidFill>
                <ns1:latin typeface="Microsoft YaHei"/>
              </ns1:rPr>
              <ns1:t>⚠ 注：以上政策内容根据人民网、中新网等媒体报道整理，原始发言未经逐字核实。</ns1:t>
            </ns1:r>
          </ns1:p>
        </ns1:txBody>
      </ns1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02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AI+水务：从概念到落地</ns1:t>
            </ns1:r>
          </ns1:p>
        </ns1:txBody>
      </ns1:sp>
      <ns1:sp>
        <ns1:spPr>
          <ns1:xfrm>
            <ns1:off x="548640" y="868680"/>
            <ns1:ext cx="10972800" cy="36576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999999"/>
                </ns1:solidFill>
                <ns1:latin typeface="Microsoft YaHei"/>
              </ns1:rPr>
              <ns1:t>来源：媒体报道 · 龚利民/任南琪演讲摘要</ns1:t>
            </ns1:r>
          </ns1:p>
        </ns1:txBody>
      </ns1:sp>
      <ns1:sp>
        <ns1:spPr>
          <ns1:xfrm>
            <ns1:off x="548640" y="1100000"/>
            <ns1:ext cx="2400000" cy="5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2200" b="1">
                <ns1:solidFill>
                  <ns1:srgbClr val="007EB5"/>
                </ns1:solidFill>
                <ns1:latin typeface="Microsoft YaHei"/>
              </ns1:rPr>
              <ns1:t>超99%</ns1:t>
            </ns1:r>
          </ns1:p>
        </ns1:txBody>
      </ns1:sp>
      <ns1:sp>
        <ns1:spPr>
          <ns1:xfrm>
            <ns1:off x="548640" y="1600000"/>
            <ns1:ext cx="24000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数字化覆盖率</ns1:t>
            </ns1:r>
          </ns1:p>
        </ns1:txBody>
      </ns1:sp>
      <ns1:sp>
        <ns1:spPr>
          <ns1:xfrm>
            <ns1:off x="3048640" y="1100000"/>
            <ns1:ext cx="2400000" cy="5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2200" b="1">
                <ns1:solidFill>
                  <ns1:srgbClr val="007EB5"/>
                </ns1:solidFill>
                <ns1:latin typeface="Microsoft YaHei"/>
              </ns1:rPr>
              <ns1:t>30%</ns1:t>
            </ns1:r>
          </ns1:p>
        </ns1:txBody>
      </ns1:sp>
      <ns1:sp>
        <ns1:spPr>
          <ns1:xfrm>
            <ns1:off x="3048640" y="1600000"/>
            <ns1:ext cx="24000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运维效率提升</ns1:t>
            </ns1:r>
          </ns1:p>
        </ns1:txBody>
      </ns1:sp>
      <ns1:sp>
        <ns1:spPr>
          <ns1:xfrm>
            <ns1:off x="5548640" y="1100000"/>
            <ns1:ext cx="2400000" cy="5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2200" b="1">
                <ns1:solidFill>
                  <ns1:srgbClr val="007EB5"/>
                </ns1:solidFill>
                <ns1:latin typeface="Microsoft YaHei"/>
              </ns1:rPr>
              <ns1:t>97%</ns1:t>
            </ns1:r>
          </ns1:p>
        </ns1:txBody>
      </ns1:sp>
      <ns1:sp>
        <ns1:spPr>
          <ns1:xfrm>
            <ns1:off x="5548640" y="1600000"/>
            <ns1:ext cx="24000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客户满意率</ns1:t>
            </ns1:r>
          </ns1:p>
        </ns1:txBody>
      </ns1:sp>
      <ns1:sp>
        <ns1:spPr>
          <ns1:xfrm>
            <ns1:off x="8048640" y="1100000"/>
            <ns1:ext cx="2400000" cy="5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2200" b="1">
                <ns1:solidFill>
                  <ns1:srgbClr val="007EB5"/>
                </ns1:solidFill>
                <ns1:latin typeface="Microsoft YaHei"/>
              </ns1:rPr>
              <ns1:t>5%以下</ns1:t>
            </ns1:r>
          </ns1:p>
        </ns1:txBody>
      </ns1:sp>
      <ns1:sp>
        <ns1:spPr>
          <ns1:xfrm>
            <ns1:off x="8048640" y="1600000"/>
            <ns1:ext cx="24000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管网漏损率</ns1:t>
            </ns1:r>
          </ns1:p>
        </ns1:txBody>
      </ns1:sp>
      <ns1:sp>
        <ns1:spPr>
          <ns1:xfrm>
            <ns1:off x="548640" y="2000000"/>
            <ns1:ext cx="109728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007EB5"/>
                </ns1:solidFill>
                <ns1:latin typeface="Microsoft YaHei"/>
              </ns1:rPr>
              <ns1:t>深水云脑2.0（龚利民/深圳环水集团）</ns1:t>
            </ns1:r>
          </ns1:p>
        </ns1:txBody>
      </ns1:sp>
      <ns1:sp>
        <ns1:spPr>
          <ns1:xfrm>
            <ns1:off x="800000" y="237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超99%数字化覆盖率 | 已建成管网数字孪生系统</ns1:t>
            </ns1:r>
          </ns1:p>
        </ns1:txBody>
      </ns1:sp>
      <ns1:sp>
        <ns1:spPr>
          <ns1:xfrm>
            <ns1:off x="800000" y="269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近零碳水厂/全地下水质净化厂 | 智能装备出口海外</ns1:t>
            </ns1:r>
          </ns1:p>
        </ns1:txBody>
      </ns1:sp>
      <ns1:sp>
        <ns1:spPr>
          <ns1:xfrm>
            <ns1:off x="800000" y="301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布局开源鸿蒙生态</ns1:t>
            </ns1:r>
          </ns1:p>
        </ns1:txBody>
      </ns1:sp>
      <ns1:sp>
        <ns1:spPr>
          <ns1:xfrm>
            <ns1:off x="548640" y="3410000"/>
            <ns1:ext cx="109728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007EB5"/>
                </ns1:solidFill>
                <ns1:latin typeface="Microsoft YaHei"/>
              </ns1:rPr>
              <ns1:t>任南琪（哈工大）数字孪生技术架构</ns1:t>
            </ns1:r>
          </ns1:p>
        </ns1:txBody>
      </ns1:sp>
      <ns1:sp>
        <ns1:spPr>
          <ns1:xfrm>
            <ns1:off x="800000" y="378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「天-空-地-水」一体化数据感知体系</ns1:t>
            </ns1:r>
          </ns1:p>
        </ns1:txBody>
      </ns1:sp>
      <ns1:sp>
        <ns1:spPr>
          <ns1:xfrm>
            <ns1:off x="800000" y="410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数字孪生→多模态水质融合→AI图像识别原生动物</ns1:t>
            </ns1:r>
          </ns1:p>
        </ns1:txBody>
      </ns1:sp>
      <ns1:sp>
        <ns1:spPr>
          <ns1:xfrm>
            <ns1:off x="800000" y="442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三大制约：源代码/平台框架/仪器仪表 — 亟需国产化替代</ns1:t>
            </ns1:r>
          </ns1:p>
        </ns1:txBody>
      </ns1:sp>
      <ns1:sp>
        <ns1:spPr>
          <ns1:xfrm>
            <ns1:off x="548640" y="4820000"/>
            <ns1:ext cx="109728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007EB5"/>
                </ns1:solidFill>
                <ns1:latin typeface="Microsoft YaHei"/>
              </ns1:rPr>
              <ns1:t>AI落地现状评估</ns1:t>
            </ns1:r>
          </ns1:p>
        </ns1:txBody>
      </ns1:sp>
      <ns1:sp>
        <ns1:spPr>
          <ns1:xfrm>
            <ns1:off x="800000" y="519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深圳深水云脑2.0 ✅ 已落地 | 数字孪生 ✅ 已落地（深圳/重庆/咸宁）</ns1:t>
            </ns1:r>
          </ns1:p>
        </ns1:txBody>
      </ns1:sp>
      <ns1:sp>
        <ns1:spPr>
          <ns1:xfrm>
            <ns1:off x="800000" y="5510000"/>
            <ns1:ext cx="10372800" cy="31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AI图像识别（原生动物诊断）🔶 试点 | 人形机器人 🔶 展示为主</ns1:t>
            </ns1:r>
          </ns1:p>
        </ns1:txBody>
      </ns1:sp>
      <ns1:sp>
        <ns1:spPr>
          <ns1:xfrm>
            <ns1:off x="548640" y="5910000"/>
            <ns1:ext cx="109728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C00000"/>
                </ns1:solidFill>
                <ns1:latin typeface="Microsoft YaHei"/>
              </ns1:rPr>
              <ns1:t>⚠ 本页数据来源为媒体报道摘要，原始PPT/录音未获取，部分数据无法完全核实。</ns1:t>
            </ns1:r>
          </ns1:p>
        </ns1:txBody>
      </ns1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03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技术亮点：AOA工艺 / 管网智能检测</ns1:t>
            </ns1:r>
          </ns1:p>
        </ns1:txBody>
      </ns1:sp>
      <ns1:sp>
        <ns1:spPr>
          <ns1:xfrm>
            <ns1:off x="548640" y="868680"/>
            <ns1:ext cx="10972800" cy="36576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999999"/>
                </ns1:solidFill>
                <ns1:latin typeface="Microsoft YaHei"/>
              </ns1:rPr>
              <ns1:t>⚠ 技术信息来自媒体报道/厂商通稿，未获取原始技术文档</ns1:t>
            </ns1:r>
          </ns1:p>
        </ns1:txBody>
      </ns1:sp>
      <ns1:sp>
        <ns1:spPr>
          <ns1:xfrm>
            <ns1:off x="548640" y="1200000"/>
            <ns1:ext cx="10972800" cy="3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007EB5"/>
                </ns1:solidFill>
                <ns1:latin typeface="Microsoft YaHei"/>
              </ns1:rPr>
              <ns1:t>AOA污水处理新技术（彭永臻/北京工业大学/中国工程院院士）</ns1:t>
            </ns1:r>
          </ns1:p>
        </ns1:txBody>
      </ns1:sp>
      <ns1:sp>
        <ns1:spPr>
          <ns1:xfrm>
            <ns1:off x="700000" y="159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核心技术优势：中低温污水深度脱氮（14.3°C低温下总氮&lt;3.8mg/L）</ns1:t>
            </ns1:r>
          </ns1:p>
        </ns1:txBody>
      </ns1:sp>
      <ns1:sp>
        <ns1:spPr>
          <ns1:xfrm>
            <ns1:off x="700000" y="192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对比传统AAO：省曝气能耗 | 减污泥量 | 降N₂O碳排放</ns1:t>
            </ns1:r>
          </ns1:p>
        </ns1:txBody>
      </ns1:sp>
      <ns1:sp>
        <ns1:spPr>
          <ns1:xfrm>
            <ns1:off x="700000" y="225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已有试点工程：北京高碑店/定福庄、合肥王小郢、天津张贵庄</ns1:t>
            </ns1:r>
          </ns1:p>
        </ns1:txBody>
      </ns1:sp>
      <ns1:sp>
        <ns1:spPr>
          <ns1:xfrm>
            <ns1:off x="700000" y="258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好氧区曝气控制是减小N₂O排放的关键</ns1:t>
            </ns1:r>
          </ns1:p>
        </ns1:txBody>
      </ns1:sp>
      <ns1:sp>
        <ns1:spPr>
          <ns1:xfrm>
            <ns1:off x="700000" y="291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007EB5"/>
                </ns1:solidFill>
                <ns1:latin typeface="Microsoft YaHei"/>
              </ns1:rPr>
              <ns1:t>• Hach关联：深度脱氮对在线氨氮/溶解氧/总氮监测精度要求更高</ns1:t>
            </ns1:r>
          </ns1:p>
        </ns1:txBody>
      </ns1:sp>
      <ns1:sp>
        <ns1:spPr>
          <ns1:xfrm>
            <ns1:off x="548640" y="3340000"/>
            <ns1:ext cx="10972800" cy="3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007EB5"/>
                </ns1:solidFill>
                <ns1:latin typeface="Microsoft YaHei"/>
              </ns1:rPr>
              <ns1:t>管网智能检测（博铭维技术）</ns1:t>
            </ns1:r>
          </ns1:p>
        </ns1:txBody>
      </ns1:sp>
      <ns1:sp>
        <ns1:spPr>
          <ns1:xfrm>
            <ns1:off x="700000" y="373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多场景管网检测机器人 | 管网鸿蒙系统监测模块</ns1:t>
            </ns1:r>
          </ns1:p>
        </ns1:txBody>
      </ns1:sp>
      <ns1:sp>
        <ns1:spPr>
          <ns1:xfrm>
            <ns1:off x="700000" y="406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「机器人+AI」水质检测（深圳环水「环水智检」）</ns1:t>
            </ns1:r>
          </ns1:p>
        </ns1:txBody>
      </ns1:sp>
      <ns1:sp>
        <ns1:spPr>
          <ns1:xfrm>
            <ns1:off x="700000" y="439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全自动水质检测实验室 — 替代人工检测趋势</ns1:t>
            </ns1:r>
          </ns1:p>
        </ns1:txBody>
      </ns1:sp>
      <ns1:sp>
        <ns1:spPr>
          <ns1:xfrm>
            <ns1:off x="548640" y="4820000"/>
            <ns1:ext cx="109728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C00000"/>
                </ns1:solidFill>
                <ns1:latin typeface="Microsoft YaHei"/>
              </ns1:rPr>
              <ns1:t>⚠ 以上技术信息来自媒体报道/厂商通稿，未获取原始技术文档或现场演讲录音核实。</ns1:t>
            </ns1:r>
          </ns1:p>
        </ns1:txBody>
      </ns1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06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参展商观察：全链条化 / 可信度说明</ns1:t>
            </ns1:r>
          </ns1:p>
        </ns1:txBody>
      </ns1:sp>
      <ns1:sp>
        <ns1:spPr>
          <ns1:xfrm>
            <ns1:off x="548640" y="868680"/>
            <ns1:ext cx="10972800" cy="36576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999999"/>
                </ns1:solidFill>
                <ns1:latin typeface="Microsoft YaHei"/>
              </ns1:rPr>
              <ns1:t>⚠ 展商信息来自厂商通稿/媒体报道，无法现场核实</ns1:t>
            </ns1:r>
          </ns1:p>
        </ns1:txBody>
      </ns1:sp>
      <ns1:sp>
        <ns1:spPr>
          <ns1:xfrm>
            <ns1:off x="548640" y="1100000"/>
            <ns1:ext cx="109728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200" b="0">
                <ns1:solidFill>
                  <ns1:srgbClr val="999999"/>
                </ns1:solidFill>
                <ns1:latin typeface="Microsoft YaHei"/>
              </ns1:rPr>
              <ns1:t>180余家参展 | 5万平米 | 展会主题：精细化 / 智能化 / 绿色化</ns1:t>
            </ns1:r>
          </ns1:p>
        </ns1:txBody>
      </ns1:sp>
      <ns1:sp>
        <ns1:spPr>
          <ns1:xfrm>
            <ns1:off x="548640" y="150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C00000"/>
                </ns1:solidFill>
                <ns1:latin typeface="Microsoft YaHei"/>
              </ns1:rPr>
              <ns1:t>宁水集团    AI摄像水表+超声波+电磁水表 · 管网全链方案</ns1:t>
            </ns1:r>
          </ns1:p>
        </ns1:txBody>
      </ns1:sp>
      <ns1:sp>
        <ns1:spPr>
          <ns1:xfrm>
            <ns1:off x="700000" y="182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🔴 高威胁    来源：厂商通稿(04-18)</ns1:t>
            </ns1:r>
          </ns1:p>
        </ns1:txBody>
      </ns1:sp>
      <ns1:sp>
        <ns1:spPr>
          <ns1:xfrm>
            <ns1:off x="548640" y="212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E36C09"/>
                </ns1:solidFill>
                <ns1:latin typeface="Microsoft YaHei"/>
              </ns1:rPr>
              <ns1:t>万朗集团    AI+智慧水务整体方案 · 二供AI大脑</ns1:t>
            </ns1:r>
          </ns1:p>
        </ns1:txBody>
      </ns1:sp>
      <ns1:sp>
        <ns1:spPr>
          <ns1:xfrm>
            <ns1:off x="700000" y="244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🟠 中高威胁    来源：厂商通稿(04-14)</ns1:t>
            </ns1:r>
          </ns1:p>
        </ns1:txBody>
      </ns1:sp>
      <ns1:sp>
        <ns1:spPr>
          <ns1:xfrm>
            <ns1:off x="548640" y="274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E36C09"/>
                </ns1:solidFill>
                <ns1:latin typeface="Microsoft YaHei"/>
              </ns1:rPr>
              <ns1:t>威铭能源    智慧水务全场景（威胜信息旗下）</ns1:t>
            </ns1:r>
          </ns1:p>
        </ns1:txBody>
      </ns1:sp>
      <ns1:sp>
        <ns1:spPr>
          <ns1:xfrm>
            <ns1:off x="700000" y="306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🟠 中威胁    来源：厂商通稿(04-16)</ns1:t>
            </ns1:r>
          </ns1:p>
        </ns1:txBody>
      </ns1:sp>
      <ns1:sp>
        <ns1:spPr>
          <ns1:xfrm>
            <ns1:off x="548640" y="336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4D4D4D"/>
                </ns1:solidFill>
                <ns1:latin typeface="Microsoft YaHei"/>
              </ns1:rPr>
              <ns1:t>汉威科技    水务传感解决方案</ns1:t>
            </ns1:r>
          </ns1:p>
        </ns1:txBody>
      </ns1:sp>
      <ns1:sp>
        <ns1:spPr>
          <ns1:xfrm>
            <ns1:off x="700000" y="368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🟡 中威胁    来源：厂商通稿(04-18)</ns1:t>
            </ns1:r>
          </ns1:p>
        </ns1:txBody>
      </ns1:sp>
      <ns1:sp>
        <ns1:spPr>
          <ns1:xfrm>
            <ns1:off x="548640" y="398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4D4D4D"/>
                </ns1:solidFill>
                <ns1:latin typeface="Microsoft YaHei"/>
              </ns1:rPr>
              <ns1:t>开发科技    水计量自主知识产权 · 住宅/商业智能水表</ns1:t>
            </ns1:r>
          </ns1:p>
        </ns1:txBody>
      </ns1:sp>
      <ns1:sp>
        <ns1:spPr>
          <ns1:xfrm>
            <ns1:off x="700000" y="430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🟢 低威胁    来源：厂商通稿(04-16)</ns1:t>
            </ns1:r>
          </ns1:p>
        </ns1:txBody>
      </ns1:sp>
      <ns1:sp>
        <ns1:spPr>
          <ns1:xfrm>
            <ns1:off x="548640" y="460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4D4D4D"/>
                </ns1:solidFill>
                <ns1:latin typeface="Microsoft YaHei"/>
              </ns1:rPr>
              <ns1:t>博铭维技术    管网检测机器人+鸿蒙监测模块</ns1:t>
            </ns1:r>
          </ns1:p>
        </ns1:txBody>
      </ns1:sp>
      <ns1:sp>
        <ns1:spPr>
          <ns1:xfrm>
            <ns1:off x="700000" y="492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🟢 低威胁    来源：媒体报道(04-18)</ns1:t>
            </ns1:r>
          </ns1:p>
        </ns1:txBody>
      </ns1:sp>
      <ns1:sp>
        <ns1:spPr>
          <ns1:xfrm>
            <ns1:off x="548640" y="522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4D4D4D"/>
                </ns1:solidFill>
                <ns1:latin typeface="Microsoft YaHei"/>
              </ns1:rPr>
              <ns1:t>舜禹股份    智慧水务全链条（水源→用户→再生水）</ns1:t>
            </ns1:r>
          </ns1:p>
        </ns1:txBody>
      </ns1:sp>
      <ns1:sp>
        <ns1:spPr>
          <ns1:xfrm>
            <ns1:off x="700000" y="554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🟡 中威胁    来源：媒体报道</ns1:t>
            </ns1:r>
          </ns1:p>
        </ns1:txBody>
      </ns1:sp>
      <ns1:sp>
        <ns1:spPr>
          <ns1:xfrm>
            <ns1:off x="548640" y="5840000"/>
            <ns1:ext cx="109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50" b="1">
                <ns1:solidFill>
                  <ns1:srgbClr val="4D4D4D"/>
                </ns1:solidFill>
                <ns1:latin typeface="Microsoft YaHei"/>
              </ns1:rPr>
              <ns1:t>三川智慧    超声波/电磁水表 · 对接华为云IoT</ns1:t>
            </ns1:r>
          </ns1:p>
        </ns1:txBody>
      </ns1:sp>
      <ns1:sp>
        <ns1:spPr>
          <ns1:xfrm>
            <ns1:off x="700000" y="6160000"/>
            <ns1:ext cx="104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  🟡 中威胁    来源：？来源不明</ns1:t>
            </ns1:r>
          </ns1:p>
        </ns1:txBody>
      </ns1:sp>
      <ns1:sp>
        <ns1:spPr>
          <ns1:xfrm>
            <ns1:off x="548640" y="6540000"/>
            <ns1:ext cx="10972800" cy="2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可信度：🔵官方确认 | 🟢厂商通稿 | ⚠媒体报道 | ？无法确认</ns1:t>
            </ns1:r>
          </ns1:p>
        </ns1:txBody>
      </ns1:sp>
      <ns1:sp>
        <ns1:spPr>
          <ns1:xfrm>
            <ns1:off x="548640" y="6860000"/>
            <ns1:ext cx="109728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C00000"/>
                </ns1:solidFill>
                <ns1:latin typeface="Microsoft YaHei"/>
              </ns1:rPr>
              <ns1:t>⚠ 无法核实：展台规模、人流量、客户反馈、产品实际性能。竞争威胁等级仅为基于报道的初步判断。</ns1:t>
            </ns1:r>
          </ns1:p>
        </ns1:txBody>
      </ns1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07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Hach机会矩阵：威胁与机会并存</ns1:t>
            </ns1:r>
          </ns1:p>
        </ns1:txBody>
      </ns1:sp>
      <ns1:sp>
        <ns1:spPr>
          <ns1:xfrm>
            <ns1:off x="548640" y="868680"/>
            <ns1:ext cx="10972800" cy="36576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999999"/>
                </ns1:solidFill>
                <ns1:latin typeface="Microsoft YaHei"/>
              </ns1:rPr>
              <ns1:t>IMS视角判断</ns1:t>
            </ns1:r>
          </ns1:p>
        </ns1:txBody>
      </ns1:sp>
      <ns1:sp>
        <ns1:spPr>
          <ns1:xfrm>
            <ns1:off x="548640" y="1150000"/>
            <ns1:ext cx="52000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400" b="1">
                <ns1:solidFill>
                  <ns1:srgbClr val="C00000"/>
                </ns1:solidFill>
                <ns1:latin typeface="Microsoft YaHei"/>
              </ns1:rPr>
              <ns1:t>🔴 竞争威胁</ns1:t>
            </ns1:r>
          </ns1:p>
        </ns1:txBody>
      </ns1:sp>
      <ns1:sp>
        <ns1:spPr>
          <ns1:xfrm>
            <ns1:off x="6200000" y="1150000"/>
            <ns1:ext cx="52000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400" b="1">
                <ns1:solidFill>
                  <ns1:srgbClr val="00B050"/>
                </ns1:solidFill>
                <ns1:latin typeface="Microsoft YaHei"/>
              </ns1:rPr>
              <ns1:t>🟢 Hach机会</ns1:t>
            </ns1:r>
          </ns1:p>
        </ns1:txBody>
      </ns1:sp>
      <ns1:sp>
        <ns1:spPr>
          <ns1:xfrm>
            <ns1:off x="548640" y="155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宁水AI摄像水表：直接替代传统机械表</ns1:t>
            </ns1:r>
          </ns1:p>
        </ns1:txBody>
      </ns1:sp>
      <ns1:sp>
        <ns1:spPr>
          <ns1:xfrm>
            <ns1:off x="6200000" y="155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AI大模型依赖高精度传感器数据</ns1:t>
            </ns1:r>
          </ns1:p>
        </ns1:txBody>
      </ns1:sp>
      <ns1:sp>
        <ns1:spPr>
          <ns1:xfrm>
            <ns1:off x="548640" y="189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威铭/万朗/舜禹全链条：SCADA平台替代</ns1:t>
            </ns1:r>
          </ns1:p>
        </ns1:txBody>
      </ns1:sp>
      <ns1:sp>
        <ns1:spPr>
          <ns1:xfrm>
            <ns1:off x="6200000" y="189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AOA等新工艺对在线仪表要求更高</ns1:t>
            </ns1:r>
          </ns1:p>
        </ns1:txBody>
      </ns1:sp>
      <ns1:sp>
        <ns1:spPr>
          <ns1:xfrm>
            <ns1:off x="548640" y="223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鸿蒙生态锁定：无接入能力面临出局</ns1:t>
            </ns1:r>
          </ns1:p>
        </ns1:txBody>
      </ns1:sp>
      <ns1:sp>
        <ns1:spPr>
          <ns1:xfrm>
            <ns1:off x="6200000" y="223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老旧设施改造：仪表更新换代需求</ns1:t>
            </ns1:r>
          </ns1:p>
        </ns1:txBody>
      </ns1:sp>
      <ns1:sp>
        <ns1:spPr>
          <ns1:xfrm>
            <ns1:off x="548640" y="257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国产价格竞争：中小水务优先性价比</ns1:t>
            </ns1:r>
          </ns1:p>
        </ns1:txBody>
      </ns1:sp>
      <ns1:sp>
        <ns1:spPr>
          <ns1:xfrm>
            <ns1:off x="6200000" y="2570000"/>
            <ns1:ext cx="54000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• 深圳样板全国推广：配套采购释放</ns1:t>
            </ns1:r>
          </ns1:p>
        </ns1:txBody>
      </ns1:sp>
      <ns1:sp>
        <ns1:spPr>
          <ns1:xfrm>
            <ns1:off x="548640" y="2990000"/>
            <ns1:ext cx="10972800" cy="3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007EB5"/>
                </ns1:solidFill>
                <ns1:latin typeface="Microsoft YaHei"/>
              </ns1:rPr>
              <ns1:t>核心判断：AI时代，Hach仪表的价值不是「替代人」，而是「喂给AI的数据源头」</ns1:t>
            </ns1:r>
          </ns1:p>
        </ns1:txBody>
      </ns1:sp>
      <ns1:sp>
        <ns1:spPr>
          <ns1:xfrm>
            <ns1:off x="548640" y="3410000"/>
            <ns1:ext cx="109728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50" b="0">
                <ns1:solidFill>
                  <ns1:srgbClr val="999999"/>
                </ns1:solidFill>
                <ns1:latin typeface="Microsoft YaHei"/>
              </ns1:rPr>
              <ns1:t>深圳信号：住建部明确广东「为全国提供示范」；深圳环水已布局开源鸿蒙生态</ns1:t>
            </ns1:r>
          </ns1:p>
        </ns1:txBody>
      </ns1:sp>
      <ns1:sp>
        <ns1:spPr>
          <ns1:xfrm>
            <ns1:off x="548640" y="3760000"/>
            <ns1:ext cx="109728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C00000"/>
                </ns1:solidFill>
                <ns1:latin typeface="Microsoft YaHei"/>
              </ns1:rPr>
              <ns1:t>⚠ 竞争威胁评估基于媒体报道，无法现场核实展台规模和客户反馈强度。</ns1:t>
            </ns1:r>
          </ns1:p>
        </ns1:txBody>
      </ns1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>
    <ns0:spTree>
      <ns1:sp>
        <ns1:spPr>
          <ns1:xfrm>
            <ns1:off x="0" y="0"/>
            <ns1:ext cx="12188952" cy="73152"/>
          </ns1:xfrm>
          <ns1:prstGeom prst="rect"/>
          <ns1:solidFill>
            <ns1:srgbClr val="007EB5"/>
          </ns1:solidFill>
          <ns1:ln>
            <ns1:noFill/>
          </ns1:ln>
        </ns1:spPr>
      </ns1:sp>
      <ns1:sp>
        <ns1:spPr>
          <ns1:xfrm>
            <ns1:off x="457200" y="274320"/>
            <ns1:ext cx="914400" cy="731520"/>
          </ns1:xfrm>
          <ns1:prstGeom prst="rect"/>
          <ns1:noFill/>
        </ns1:spPr>
        <ns1:txBody>
          <ns1:bodyPr wrap="none" rtlCol="0"/>
          <ns1:lstStyle/>
          <ns1:p>
            <ns1:r>
              <ns1:rPr>
                <ns1:solidFill>
                  <ns1:srgbClr val="007EB5"/>
                </ns1:solidFill>
                <ns1:latin typeface="Microsoft YaHei"/>
              </ns1:rPr>
              <ns1:t>08</ns1:t>
            </ns1:r>
          </ns1:p>
        </ns1:txBody>
      </ns1:sp>
      <ns1:sp>
        <ns1:spPr>
          <ns1:xfrm>
            <ns1:off x="548640" y="274320"/>
            <ns1:ext cx="10972800" cy="548640"/>
          </ns1:xfrm>
          <ns1:prstGeom prst="rect"/>
          <ns1:noFill/>
        </ns1:spPr>
        <ns1:txBody>
          <ns1:bodyPr wrap="square" rtlCol="0"/>
          <ns1:lstStyle/>
          <ns1:p>
            <ns1:r>
              <ns1:rPr>
                <ns1:solidFill>
                  <ns1:srgbClr val="4D4D4D"/>
                </ns1:solidFill>
                <ns1:latin typeface="Microsoft YaHei"/>
              </ns1:rPr>
              <ns1:t>数据来源与研究说明</ns1:t>
            </ns1:r>
          </ns1:p>
        </ns1:txBody>
      </ns1:sp>
      <ns1:sp>
        <ns1:spPr>
          <ns1:xfrm>
            <ns1:off x="548640" y="1200000"/>
            <ns1:ext cx="10972800" cy="38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400" b="1">
                <ns1:solidFill>
                  <ns1:srgbClr val="C00000"/>
                </ns1:solidFill>
                <ns1:latin typeface="Microsoft YaHei"/>
              </ns1:rPr>
              <ns1:t>⚠ 数据可信度说明</ns1:t>
            </ns1:r>
          </ns1:p>
        </ns1:txBody>
      </ns1:sp>
      <ns1:sp>
        <ns1:spPr>
          <ns1:xfrm>
            <ns1:off x="700000" y="162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① 展商名单/参展内容：来自厂商通稿或媒体报道，未实地核实，存在偏差风险</ns1:t>
            </ns1:r>
          </ns1:p>
        </ns1:txBody>
      </ns1:sp>
      <ns1:sp>
        <ns1:spPr>
          <ns1:xfrm>
            <ns1:off x="700000" y="196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② 演讲内容：来自媒体报道摘要，未获取原始PPT或录音，可能断章取义</ns1:t>
            </ns1:r>
          </ns1:p>
        </ns1:txBody>
      </ns1:sp>
      <ns1:sp>
        <ns1:spPr>
          <ns1:xfrm>
            <ns1:off x="700000" y="230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③ 竞争态势：无现场感受（人流/展台大小/客户反馈），无法评估真实影响力</ns1:t>
            </ns1:r>
          </ns1:p>
        </ns1:txBody>
      </ns1:sp>
      <ns1:sp>
        <ns1:spPr>
          <ns1:xfrm>
            <ns1:off x="700000" y="2640000"/>
            <ns1:ext cx="10472800" cy="32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100" b="0">
                <ns1:solidFill>
                  <ns1:srgbClr val="4D4D4D"/>
                </ns1:solidFill>
                <ns1:latin typeface="Microsoft YaHei"/>
              </ns1:rPr>
              <ns1:t>④ 建议：与环博会现场验证数据交叉对比使用，优先采信官方确认信息</ns1:t>
            </ns1:r>
          </ns1:p>
        </ns1:txBody>
      </ns1:sp>
      <ns1:sp>
        <ns1:spPr>
          <ns1:xfrm>
            <ns1:off x="548640" y="3080000"/>
            <ns1:ext cx="10972800" cy="35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300" b="1">
                <ns1:solidFill>
                  <ns1:srgbClr val="4D4D4D"/>
                </ns1:solidFill>
                <ns1:latin typeface="Microsoft YaHei"/>
              </ns1:rPr>
              <ns1:t>数据来源</ns1:t>
            </ns1:r>
          </ns1:p>
        </ns1:txBody>
      </ns1:sp>
      <ns1:sp>
        <ns1:spPr>
          <ns1:xfrm>
            <ns1:off x="700000" y="346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人民网深圳4月19日电（刘森君）— 综合大会报道</ns1:t>
            </ns1:r>
          </ns1:p>
        </ns1:txBody>
      </ns1:sp>
      <ns1:sp>
        <ns1:spPr>
          <ns1:xfrm>
            <ns1:off x="700000" y="373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中新网广州4月19日电（记者 王坚）— 综合大会报道</ns1:t>
            </ns1:r>
          </ns1:p>
        </ns1:txBody>
      </ns1:sp>
      <ns1:sp>
        <ns1:spPr>
          <ns1:xfrm>
            <ns1:off x="700000" y="400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百度百科 — 中国水协2026年会条目</ns1:t>
            </ns1:r>
          </ns1:p>
        </ns1:txBody>
      </ns1:sp>
      <ns1:sp>
        <ns1:spPr>
          <ns1:xfrm>
            <ns1:off x="700000" y="427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南方+新闻（2026-04-17）</ns1:t>
            </ns1:r>
          </ns1:p>
        </ns1:txBody>
      </ns1:sp>
      <ns1:sp>
        <ns1:spPr>
          <ns1:xfrm>
            <ns1:off x="700000" y="454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深圳政府在线 — 新闻发布会（2026-04-14）</ns1:t>
            </ns1:r>
          </ns1:p>
        </ns1:txBody>
      </ns1:sp>
      <ns1:sp>
        <ns1:spPr>
          <ns1:xfrm>
            <ns1:off x="700000" y="481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水业圈公众号（cuwa_org_cn）— 展会动态</ns1:t>
            </ns1:r>
          </ns1:p>
        </ns1:txBody>
      </ns1:sp>
      <ns1:sp>
        <ns1:spPr>
          <ns1:xfrm>
            <ns1:off x="700000" y="508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宁水集团参展信息（2026-04-18）— 厂商通稿</ns1:t>
            </ns1:r>
          </ns1:p>
        </ns1:txBody>
      </ns1:sp>
      <ns1:sp>
        <ns1:spPr>
          <ns1:xfrm>
            <ns1:off x="700000" y="535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汉威科技参展信息（2026-04-18）— 厂商通稿</ns1:t>
            </ns1:r>
          </ns1:p>
        </ns1:txBody>
      </ns1:sp>
      <ns1:sp>
        <ns1:spPr>
          <ns1:xfrm>
            <ns1:off x="700000" y="562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威铭能源参展信息（2026-04-16）— 厂商通稿</ns1:t>
            </ns1:r>
          </ns1:p>
        </ns1:txBody>
      </ns1:sp>
      <ns1:sp>
        <ns1:spPr>
          <ns1:xfrm>
            <ns1:off x="700000" y="589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开发科技参展信息（2026-04-16）— 厂商通稿</ns1:t>
            </ns1:r>
          </ns1:p>
        </ns1:txBody>
      </ns1:sp>
      <ns1:sp>
        <ns1:spPr>
          <ns1:xfrm>
            <ns1:off x="700000" y="616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万朗集团参展信息（2026-04-14）— 厂商通稿</ns1:t>
            </ns1:r>
          </ns1:p>
        </ns1:txBody>
      </ns1:sp>
      <ns1:sp>
        <ns1:spPr>
          <ns1:xfrm>
            <ns1:off x="700000" y="643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央视网 — 深圳南山水厂报道</ns1:t>
            </ns1:r>
          </ns1:p>
        </ns1:txBody>
      </ns1:sp>
      <ns1:sp>
        <ns1:spPr>
          <ns1:xfrm>
            <ns1:off x="700000" y="670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深圳特区报数字报</ns1:t>
            </ns1:r>
          </ns1:p>
        </ns1:txBody>
      </ns1:sp>
      <ns1:sp>
        <ns1:spPr>
          <ns1:xfrm>
            <ns1:off x="700000" y="697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住建部城市建设司 — 综合大会发言</ns1:t>
            </ns1:r>
          </ns1:p>
        </ns1:txBody>
      </ns1:sp>
      <ns1:sp>
        <ns1:spPr>
          <ns1:xfrm>
            <ns1:off x="700000" y="7240000"/>
            <ns1:ext cx="10472800" cy="26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中国水协官网 cuwa.org.cn</ns1:t>
            </ns1:r>
          </ns1:p>
        </ns1:txBody>
      </ns1:sp>
      <ns1:sp>
        <ns1:spPr>
          <ns1:xfrm>
            <ns1:off x="548640" y="7590000"/>
            <ns1:ext cx="10972800" cy="300000"/>
          </ns1:xfrm>
          <ns1:prstGeom prst="rect"/>
          <ns1:noFill/>
        </ns1:spPr>
        <ns1:txBody>
          <ns1:bodyPr wrap="square" rtlCol="0"/>
          <ns1:lstStyle/>
          <ns1:p>
            <ns1:pPr algn="l"/>
            <ns1:r>
              <ns1:rPr sz="1000" b="0">
                <ns1:solidFill>
                  <ns1:srgbClr val="999999"/>
                </ns1:solidFill>
                <ns1:latin typeface="Microsoft YaHei"/>
              </ns1:rPr>
              <ns1:t>数据截至2026年4月22日 | 结论仅供参考，不构成投资建议</ns1:t>
            </ns1:r>
          </ns1:p>
        </ns1:txBody>
      </ns1:sp>
    </ns0:spTree>
  </ns0:cSld>
  <ns0:clrMapOvr>
    <ns1:masterClrMapping/>
  </ns0:clrMapOvr>
</ns0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Hach行动建议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基于本次年会情报整理，后续行动优先级排序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立即行动（0-3个月）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1. 对标宁水集团AI摄像水表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获取产品规格书，与Hach产品参数逐项对比，明确差距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2. 了解深水云脑2.0数据接口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联系深圳水务科技（马丹红团队），确认仪表/SCADA对接规格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3. 联系深圳水务龚利民团队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了解仪表采购规格要求，评估Hach入围可能性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中期（3-12个月）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1. 围绕《供水条例》6月1日施行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梳理Hach合规优势，编制合规产品手册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2. 建立与国内智慧水务平台合作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威铭/万朗/舜禹——仪表作为数据采集端被集成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3. 制定老旧设施改造专项方案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抓住(加快老旧设施改造)政策窗口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数据来源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人民网深圳4月19日电（刘森君）— 综合大会报道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中新网广州4月19日电（记者 王坚）— 综合大会报道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百度百科 — 中国水协2026年会条目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南方+新闻（2026-04-17）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深圳政府在线 — 新闻发布会（2026-04-14）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水业圈公众号（cuwa_org_cn）— 展会动态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宁水集团参展信息（2026-04-18）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汉威科技参展信息（2026-04-18）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威铭能源参展信息（2026-04-16）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开发科技参展信息（2026-04-16）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万朗集团参展信息（2026-04-14）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央视网 — 深圳南山水厂报道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22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深圳特区报数字报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住建部城市建设司 — 综合大会发言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中国水协官网 cuwa.org.cn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数据截至2026年4月22日 | 结论仅供参考，不构成投资建议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