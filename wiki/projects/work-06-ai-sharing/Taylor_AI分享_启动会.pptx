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48640"/>
            <a:ext cx="1225296" cy="256032"/>
          </a:xfrm>
          <a:prstGeom prst="rect">
            <a:avLst/>
          </a:prstGeom>
          <a:solidFill>
            <a:srgbClr val="2D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2252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D9488"/>
                </a:solidFill>
                <a:latin typeface="Microsoft YaHei"/>
              </a:rPr>
              <a:t>INTERNAL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Microsoft YaHei"/>
              </a:rPr>
              <a:t>在使用中学习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9488"/>
                </a:solidFill>
                <a:latin typeface="Microsoft YaHei"/>
              </a:rPr>
              <a:t>三个月实践 / 真实案例 / 诚实的踩坑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931920"/>
            <a:ext cx="3657600" cy="228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Microsoft YaHei"/>
              </a:rPr>
              <a:t>Taylor  |  Hach China iMS业务负责人 &amp; China AI技术联系人  |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Microsoft YaHei"/>
              </a:rPr>
              <a:t>Agenda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217920"/>
            <a:ext cx="2286000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263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9488"/>
                </a:solidFill>
                <a:latin typeface="Microsoft YaHei"/>
              </a:rPr>
              <a:t>开场打破认知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6217920"/>
            <a:ext cx="2286000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263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9488"/>
                </a:solidFill>
                <a:latin typeface="Microsoft YaHei"/>
              </a:rPr>
              <a:t>四个业务场景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6217920"/>
            <a:ext cx="228600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6263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Microsoft YaHei"/>
              </a:rPr>
              <a:t>诚实的部分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39" y="6217920"/>
            <a:ext cx="2286000" cy="2743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9" y="6263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Microsoft YaHei"/>
              </a:rPr>
              <a:t>附录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512064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120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开场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打破认知: 过年三天, 做出一个App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Microsoft YaHei"/>
              </a:rPr>
              <a:t>真实故事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59152"/>
            <a:ext cx="109728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Microsoft YaHei"/>
              </a:rPr>
              <a:t>春节假期, Claude Code刚上线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Microsoft YaHei"/>
              </a:rPr>
              <a:t>目标: 把多年培训视频和资料做成一个App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Microsoft YaHei"/>
              </a:rPr>
              <a:t>结果: 类YouTube界面 + 文档 + 记忆卡片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Microsoft YaHei"/>
              </a:rPr>
              <a:t>两三天上线, 同事直呼不可思议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Microsoft YaHei"/>
              </a:rPr>
              <a:t>对比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359152"/>
            <a:ext cx="5486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441448"/>
            <a:ext cx="484632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14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Microsoft YaHei"/>
              </a:rPr>
              <a:t>传统原生开发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514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Microsoft YaHei"/>
              </a:rPr>
              <a:t>AI辅助开发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944368"/>
            <a:ext cx="484632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专人专职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0175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9488"/>
                </a:solidFill>
                <a:latin typeface="Microsoft YaHei"/>
              </a:rPr>
              <a:t>非专业人员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447288"/>
            <a:ext cx="484632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6-12个月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520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9488"/>
                </a:solidFill>
                <a:latin typeface="Microsoft YaHei"/>
              </a:rPr>
              <a:t>2-3天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950208"/>
            <a:ext cx="484632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023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成本极高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023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9488"/>
                </a:solidFill>
                <a:latin typeface="Microsoft YaHei"/>
              </a:rPr>
              <a:t>零额外成本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9488"/>
                </a:solidFill>
                <a:latin typeface="Microsoft YaHei"/>
              </a:rPr>
              <a:t>AI最大的价值不是帮你写得更快, 而是让你能做以前根本做不到的事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场景一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竞品情报收集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市场 / 服务 / 销售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Microsoft YaHei"/>
              </a:rPr>
              <a:t>环博会 2026, 上海浦东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50292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32004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14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录音笔录制讲座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7520"/>
            <a:ext cx="32004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71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AI自动转文字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32004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429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AI搜索整理信息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32004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319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886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生成竞品分析PPT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Microsoft YaHei"/>
              </a:rPr>
              <a:t>覆盖100+参展企业, 包含技术趋势分析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Microsoft YaHei"/>
              </a:rPr>
              <a:t>水协2026年会, 远程跟踪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377440"/>
            <a:ext cx="50292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2560320"/>
            <a:ext cx="320040" cy="3200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5603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514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设置定时爬取任务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017520"/>
            <a:ext cx="320040" cy="3200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0175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718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每6小时自动运行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3474720"/>
            <a:ext cx="320040" cy="3200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4747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429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整理最新发布信息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931920"/>
            <a:ext cx="320040" cy="3200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9319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8862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邮件推送到本人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Microsoft YaHei"/>
              </a:rPr>
              <a:t>即使不在现场, 也能接近身临其境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9488"/>
                </a:solidFill>
                <a:latin typeface="Microsoft YaHei"/>
              </a:rPr>
              <a:t>AI是信息密度的放大器, 不是替代判断的工具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场景二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文档工作流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市场 / 财务 / 法务 / 所有人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4A"/>
                </a:solidFill>
                <a:latin typeface="Microsoft YaHei"/>
              </a:rPr>
              <a:t>起草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78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人写模板和思路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359152"/>
            <a:ext cx="6400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2286000"/>
            <a:ext cx="201168" cy="2011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4A"/>
                </a:solidFill>
                <a:latin typeface="Microsoft YaHei"/>
              </a:rPr>
              <a:t>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78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AI按模板填充初稿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0" y="2359152"/>
            <a:ext cx="6400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2286000"/>
            <a:ext cx="201168" cy="2011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4A"/>
                </a:solidFill>
                <a:latin typeface="Microsoft YaHei"/>
              </a:rPr>
              <a:t>审核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78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人工Review修正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359152"/>
            <a:ext cx="6400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95360" y="2286000"/>
            <a:ext cx="201168" cy="201168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2240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B4A"/>
                </a:solidFill>
                <a:latin typeface="Microsoft YaHei"/>
              </a:rPr>
              <a:t>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578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文档直接生成PPT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840480"/>
            <a:ext cx="1097280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Microsoft YaHei"/>
              </a:rPr>
              <a:t>案例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Microsoft YaHei"/>
              </a:rPr>
              <a:t>产品经理陈涛: 以往写一份授权文档需要数天反复修改; 现在思路清晰时, 半天到一个晚上完成文档, 再直接生成PPT, 两三次确认即可发给客户。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9488"/>
                </a:solidFill>
                <a:latin typeface="Microsoft YaHei"/>
              </a:rPr>
              <a:t>人定方向, AI填内容 - 这个分工适用于所有部门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场景三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自主Agent与质量管控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IT / 法务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Microsoft YaHei"/>
              </a:rPr>
              <a:t>Agent工作方式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91440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每4小时自动运行一次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90088"/>
            <a:ext cx="73152" cy="7315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443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覆盖线索扫描 + 竞品监控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65576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985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串行执行, 一次只做一件事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73152" cy="7315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9534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仅推送到dev分支, 经审核才合并主线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16552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7083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每次运行留下审计日志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Microsoft YaHei"/>
              </a:rPr>
              <a:t>质量门控机制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331720"/>
            <a:ext cx="91440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2514600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4688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数据完整性审计: 17个问题识别并修复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990088"/>
            <a:ext cx="73152" cy="7315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2944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置信度强制标注: 高 / 中 / 低 三级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465576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341985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信息源类型标注: 官方 / 媒体 / 推断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941064"/>
            <a:ext cx="73152" cy="7315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389534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人工审核节点: Taylor每轮审核确认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9488"/>
                </a:solidFill>
                <a:latin typeface="Microsoft YaHei"/>
              </a:rPr>
              <a:t>AI系统不是黑箱 - 可以被设计、被审计、被管理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63093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场景四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数据分析与预测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居家桥水厂 / 传感器数据分析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Microsoft YaHei"/>
              </a:rPr>
              <a:t>核心发现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73152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分析6个月传感器数据, 发现5个人工看不见的异常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FreeNH4可提前3-7天预警试剂瓶故障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47872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两次历史故障均成功回测, 150天无误报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78223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检测规则自动激活, 无需客户手动配置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11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Microsoft YaHei"/>
              </a:rPr>
              <a:t>实测数据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331720"/>
            <a:ext cx="5486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0" y="2514600"/>
            <a:ext cx="4114800" cy="1554480"/>
          </a:xfrm>
          <a:prstGeom prst="rect">
            <a:avLst/>
          </a:prstGeom>
          <a:solidFill>
            <a:srgbClr val="1A2B4A"/>
          </a:solidFill>
          <a:ln>
            <a:solidFill>
              <a:srgbClr val="1A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2651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9488"/>
                </a:solidFill>
                <a:latin typeface="Microsoft YaHei"/>
              </a:rPr>
              <a:t>提前预警周期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9260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</a:rPr>
              <a:t>3-7天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657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Microsoft YaHei"/>
              </a:rPr>
              <a:t>居家桥水厂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297680"/>
            <a:ext cx="4114800" cy="137160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4434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Microsoft YaHei"/>
              </a:rPr>
              <a:t>150天内误报次数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6634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</a:rPr>
              <a:t>0次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9488"/>
                </a:solidFill>
                <a:latin typeface="Microsoft YaHei"/>
              </a:rPr>
              <a:t>AI发现人看不见的规律, 但验证和决策仍由人完成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868680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68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诚实的部分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我踩过的坑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Microsoft YaHei"/>
              </a:rPr>
              <a:t>踩坑案例: 客户联系人数据收集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09728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①  AI返回了一批联系人数据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900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②  要求说明来源 -&gt; 称来自搜索引擎缓存页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6557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③  去验证 -&gt; 找不到缓存页面入口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4106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④  数据真实性无法确认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480560"/>
            <a:ext cx="502920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4530C"/>
                </a:solidFill>
                <a:latin typeface="Microsoft YaHei"/>
              </a:rPr>
              <a:t>结论: AI幻觉在数据领域真实存在, 不能盲目信任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Microsoft YaHei"/>
              </a:rPr>
              <a:t>我的工作原则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331720"/>
            <a:ext cx="9144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2514600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24688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只用公开数据与外部AI交互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990088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944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内部文件 / 客户数据绝不上传外部AI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465576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41985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AI负责初稿, 人负责验证和决策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3941064"/>
            <a:ext cx="731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89534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Microsoft YaHei"/>
              </a:rPr>
              <a:t>结果由使用者本人负责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D9488"/>
                </a:solidFill>
                <a:latin typeface="Microsoft YaHei"/>
              </a:rPr>
              <a:t>AI幻觉是真实存在的 - 人的判断永远不能被绕过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987552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9875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给法务的结论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今天所有案例的共同底线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0972800" cy="7772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YaHei"/>
              </a:rPr>
              <a:t>今天分享的所有案例, 使用的都是互联网公开数据和本人的判断。没有任何内部文件或客户数据上传给外部AI工具。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3566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Microsoft YaHei"/>
              </a:rPr>
              <a:t>底线工具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微软工具是安全底线: 公司已批准, 先把它用好;功能比本土产品弱, 但培训后完全够用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3154680"/>
            <a:ext cx="3566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32461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Microsoft YaHei"/>
              </a:rPr>
              <a:t>用法规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6118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公开数据 + 个人判断 = 可接受;内部文件 + 外部AI = 红线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5" y="3154680"/>
            <a:ext cx="3566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324612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Microsoft YaHei"/>
              </a:rPr>
              <a:t>对外发布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36118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AI生成内容对外发布需确认版权归属和准确性;不能直接以公司名义发布未经审核的内容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3440"/>
            <a:ext cx="10972800" cy="1417320"/>
          </a:xfrm>
          <a:prstGeom prst="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0" y="4709160"/>
            <a:ext cx="13716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4709160"/>
            <a:ext cx="1371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</a:rPr>
              <a:t>外部案例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548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Microsoft YaHei"/>
              </a:rPr>
              <a:t>行业参考: Anthropic法务团队的实践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来源: Mark Pike, Anthropic Associate General Counsel (公开视频, 非Taylor案例, 非Hach内部实践)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* 营销材料合规审查: 周期从数天-&gt;数小时    * AI做风险分级, 律师只复核高风险    * 人永远在审核链里, AI是过滤器, 不是决策者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512064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120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AI时代, 人的竞争力在哪里?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Microsoft YaHei"/>
              </a:rPr>
              <a:t>不能只说乐观的那面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9144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AI创造新工作, 但转型有时间成本 - 历史上以十年计, 现在以月计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这次最先冲击的不是蓝领, 是文字、分析、初级文件处理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478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提升AI能力对有些人是真实可行的, 对有些人代价很高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Microsoft YaHei"/>
              </a:rPr>
              <a:t>真正的竞争力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331720"/>
            <a:ext cx="91440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514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Microsoft YaHei"/>
              </a:rPr>
              <a:t>判断力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知道AI什么时候是对的, 什么时候在胡说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Microsoft YaHei"/>
              </a:rPr>
              <a:t>提问力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29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能把复杂问题拆解清楚, 告诉AI去做什么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703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Microsoft YaHei"/>
              </a:rPr>
              <a:t>行业积累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023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Microsoft YaHei"/>
              </a:rPr>
              <a:t>这两种能力, 有丰富经验的人天然更强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760720"/>
            <a:ext cx="10972800" cy="182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D9488"/>
                </a:solidFill>
                <a:latin typeface="Microsoft YaHei"/>
              </a:rPr>
              <a:t>工具在变, 判断力和提问力是你自己的 - 而这两样东西, 恰恰需要真实的行业经验才能建立。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57200"/>
            <a:ext cx="512064" cy="256032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5120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附录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2B4A"/>
                </a:solidFill>
                <a:latin typeface="Microsoft YaHei"/>
              </a:rPr>
              <a:t>推荐学习资源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B4A"/>
                </a:solidFill>
                <a:latin typeface="Microsoft YaHei"/>
              </a:rPr>
              <a:t>4D AI Fluency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Claude.ai官方课程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70048"/>
            <a:ext cx="3566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Delegation(委派) / Description(描述) / Discernment(辨别) / Diligence(尽责)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  <a:latin typeface="Microsoft YaHei"/>
              </a:rPr>
              <a:t>AI工作流的结果由使用者本人负责, 不是AI, 不是工具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20574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B4A"/>
                </a:solidFill>
                <a:latin typeface="Microsoft YaHei"/>
              </a:rPr>
              <a:t>Andrew Ng AI课程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377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DeepLearning.AI / Coursera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2670048"/>
            <a:ext cx="3566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27432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AI Agent原理与设计、LLM应用开发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7947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  <a:latin typeface="Microsoft YaHei"/>
              </a:rPr>
              <a:t>免费+付费课程均有, 系统性学习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0574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B4A"/>
                </a:solidFill>
                <a:latin typeface="Microsoft YaHei"/>
              </a:rPr>
              <a:t>Andrej Karpathy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377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Microsoft YaHei"/>
              </a:rPr>
              <a:t>YouTube / GitHub / Blog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5" y="2670048"/>
            <a:ext cx="356616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274320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Microsoft YaHei"/>
              </a:rPr>
              <a:t>Vibe Coding / LLM Wiki / 2025年度回顾(必读)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37947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D9488"/>
                </a:solidFill>
                <a:latin typeface="Microsoft YaHei"/>
              </a:rPr>
              <a:t>2025年出现的东西好好串联, 可以强大10倍 (1400万次浏览)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03520"/>
            <a:ext cx="10972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B4A"/>
                </a:solidFill>
                <a:latin typeface="Microsoft YaHei"/>
              </a:rPr>
              <a:t>AI变化太快, 唯一有效的学习方式是在使用中学习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icrosoft YaHei"/>
              </a:rPr>
              <a:t>工具每天都在变
判断力和提问力
才是你自己的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572000"/>
            <a:ext cx="4572000" cy="228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D9488"/>
                </a:solidFill>
                <a:latin typeface="Microsoft YaHei"/>
              </a:rPr>
              <a:t>-- Andrej Karpathy, 2025年12月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