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4114800" cy="678484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>
                <a:solidFill>
                  <a:srgbClr val="00A0DC"/>
                </a:solidFill>
                <a:latin typeface="Microsoft YaHei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459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4D4D4D"/>
                </a:solidFill>
                <a:latin typeface="Microsoft YaHei"/>
              </a:rPr>
              <a:t>人工智能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7432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D4D4D"/>
                </a:solidFill>
                <a:latin typeface="Microsoft YaHei"/>
              </a:rPr>
              <a:t>从概念到落地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520440"/>
            <a:ext cx="6858000" cy="3657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374903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99999"/>
                </a:solidFill>
                <a:latin typeface="Microsoft YaHei"/>
              </a:rPr>
              <a:t>Taylor  |  Hach China iMS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5029200"/>
            <a:ext cx="3200400" cy="6400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5074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INTERNAL  USE 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</a:rPr>
              <a:t>Hach China  |  iMS  |  AI分享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356616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D4D4D"/>
                </a:solidFill>
                <a:latin typeface="Microsoft YaHei"/>
              </a:rPr>
              <a:t>什么是人工智能？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4124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Microsoft YaHei"/>
              </a:rPr>
              <a:t>Artificial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</a:rPr>
              <a:t>Hach China  |  iMS  |  AI分享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303520" cy="201168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353312"/>
            <a:ext cx="5157216" cy="186537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4D4D4D"/>
                </a:solidFill>
                <a:latin typeface="Microsoft YaHei"/>
              </a:rPr>
              <a:t>AI 是让机器具有人类智能的技术</a:t>
            </a:r>
          </a:p>
          <a:p>
            <a:pPr algn="ctr"/>
            <a:r>
              <a:rPr sz="1300" b="0">
                <a:solidFill>
                  <a:srgbClr val="4D4D4D"/>
                </a:solidFill>
                <a:latin typeface="Microsoft YaHei"/>
              </a:rPr>
              <a:t>使机器能够：</a:t>
            </a:r>
          </a:p>
          <a:p>
            <a:pPr algn="ctr"/>
            <a:r>
              <a:rPr sz="1300" b="0">
                <a:solidFill>
                  <a:srgbClr val="4D4D4D"/>
                </a:solidFill>
                <a:latin typeface="Microsoft YaHei"/>
              </a:rPr>
              <a:t>  • 理解 — 感知、解读数据</a:t>
            </a:r>
          </a:p>
          <a:p>
            <a:pPr algn="ctr"/>
            <a:r>
              <a:rPr sz="1300" b="0">
                <a:solidFill>
                  <a:srgbClr val="4D4D4D"/>
                </a:solidFill>
                <a:latin typeface="Microsoft YaHei"/>
              </a:rPr>
              <a:t>  • 推理 — 分析、判断、决策</a:t>
            </a:r>
          </a:p>
          <a:p>
            <a:pPr algn="ctr"/>
            <a:r>
              <a:rPr sz="1300" b="0">
                <a:solidFill>
                  <a:srgbClr val="4D4D4D"/>
                </a:solidFill>
                <a:latin typeface="Microsoft YaHei"/>
              </a:rPr>
              <a:t>  • 生成 — 创造内容、解决方案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280160"/>
            <a:ext cx="2651760" cy="20116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2" y="1353312"/>
            <a:ext cx="2505456" cy="186537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分析式AI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判读已有数据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做出决策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现有模式识别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280160"/>
            <a:ext cx="2651760" cy="2011680"/>
          </a:xfrm>
          <a:prstGeom prst="rect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1353312"/>
            <a:ext cx="2505456" cy="186537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生成式AI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创造全新内容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文字/图像/代码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类人交互能力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11274552" cy="54864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20440"/>
            <a:ext cx="73152" cy="3200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EB5"/>
                </a:solidFill>
                <a:latin typeface="Microsoft YaHei"/>
              </a:rPr>
              <a:t>1950s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1605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图灵测试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520440"/>
            <a:ext cx="73152" cy="3200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39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EB5"/>
                </a:solidFill>
                <a:latin typeface="Microsoft YaHei"/>
              </a:rPr>
              <a:t>2012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1605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深度学习
突破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520440"/>
            <a:ext cx="73152" cy="3200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EB5"/>
                </a:solidFill>
                <a:latin typeface="Microsoft YaHei"/>
              </a:rPr>
              <a:t>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59" y="41605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GPT-3.5
生成式AI
爆发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3520440"/>
            <a:ext cx="73152" cy="3200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EB5"/>
                </a:solidFill>
                <a:latin typeface="Microsoft YaHei"/>
              </a:rPr>
              <a:t>2024+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1605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Agent
时代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356616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D4D4D"/>
                </a:solidFill>
                <a:latin typeface="Microsoft YaHei"/>
              </a:rPr>
              <a:t>AI 能力图谱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4124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Microsoft YaHei"/>
              </a:rPr>
              <a:t>从文本到行动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</a:rPr>
              <a:t>Hach China  |  iMS  |  AI分享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3474720" cy="2011680"/>
          </a:xfrm>
          <a:prstGeom prst="rect">
            <a:avLst/>
          </a:prstGeom>
          <a:solidFill>
            <a:srgbClr val="F5F8FC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3474720" cy="109728"/>
          </a:xfrm>
          <a:prstGeom prst="rect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481328"/>
            <a:ext cx="1371600" cy="365760"/>
          </a:xfrm>
          <a:prstGeom prst="rect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49961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LLM / GPT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938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D4D4D"/>
                </a:solidFill>
                <a:latin typeface="Microsoft YaHei"/>
              </a:rPr>
              <a:t>文本理解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331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信息检索、文档分析、问答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280160"/>
            <a:ext cx="3474720" cy="2011680"/>
          </a:xfrm>
          <a:prstGeom prst="rect">
            <a:avLst/>
          </a:prstGeom>
          <a:solidFill>
            <a:srgbClr val="F5F8FC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280160"/>
            <a:ext cx="3474720" cy="109728"/>
          </a:xfrm>
          <a:prstGeom prst="rect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481328"/>
            <a:ext cx="1371600" cy="365760"/>
          </a:xfrm>
          <a:prstGeom prst="rect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49961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CV / CNN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938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D4D4D"/>
                </a:solidFill>
                <a:latin typeface="Microsoft YaHei"/>
              </a:rPr>
              <a:t>图像识别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331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缺陷检测、仪表读数识别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280160"/>
            <a:ext cx="3474720" cy="2011680"/>
          </a:xfrm>
          <a:prstGeom prst="rect">
            <a:avLst/>
          </a:prstGeom>
          <a:solidFill>
            <a:srgbClr val="F5F8FC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280160"/>
            <a:ext cx="3474720" cy="109728"/>
          </a:xfrm>
          <a:prstGeom prst="rect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481328"/>
            <a:ext cx="1371600" cy="365760"/>
          </a:xfrm>
          <a:prstGeom prst="rect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149961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ML / 统计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1938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D4D4D"/>
                </a:solidFill>
                <a:latin typeface="Microsoft YaHei"/>
              </a:rPr>
              <a:t>数据分析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331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趋势预测、异常检测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566160"/>
            <a:ext cx="3474720" cy="2011680"/>
          </a:xfrm>
          <a:prstGeom prst="rect">
            <a:avLst/>
          </a:prstGeom>
          <a:solidFill>
            <a:srgbClr val="F5F8FC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566160"/>
            <a:ext cx="3474720" cy="109728"/>
          </a:xfrm>
          <a:prstGeom prst="rect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767328"/>
            <a:ext cx="1371600" cy="365760"/>
          </a:xfrm>
          <a:prstGeom prst="rect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785615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Code Llama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224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D4D4D"/>
                </a:solidFill>
                <a:latin typeface="Microsoft YaHei"/>
              </a:rPr>
              <a:t>代码生成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617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自动化脚本、模型调用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3566160"/>
            <a:ext cx="3474720" cy="2011680"/>
          </a:xfrm>
          <a:prstGeom prst="rect">
            <a:avLst/>
          </a:prstGeom>
          <a:solidFill>
            <a:srgbClr val="F5F8FC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1960" y="3566160"/>
            <a:ext cx="3474720" cy="10972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43400" y="3767328"/>
            <a:ext cx="1371600" cy="3657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3785615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ReAct / MCP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4224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D4D4D"/>
                </a:solidFill>
                <a:latin typeface="Microsoft YaHei"/>
              </a:rPr>
              <a:t>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4617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自主规划、工具调用、自动化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3566160"/>
            <a:ext cx="3474720" cy="2011680"/>
          </a:xfrm>
          <a:prstGeom prst="rect">
            <a:avLst/>
          </a:prstGeom>
          <a:solidFill>
            <a:srgbClr val="F5F8FC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6720" y="3566160"/>
            <a:ext cx="3474720" cy="109728"/>
          </a:xfrm>
          <a:prstGeom prst="rect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3767328"/>
            <a:ext cx="1371600" cy="365760"/>
          </a:xfrm>
          <a:prstGeom prst="rect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80" y="3785615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Qwen / 盘古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4224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D4D4D"/>
                </a:solidFill>
                <a:latin typeface="Microsoft YaHei"/>
              </a:rPr>
              <a:t>行业大模型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4617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水务/工业专业知识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EB5"/>
                </a:solidFill>
                <a:latin typeface="Microsoft YaHei"/>
              </a:rPr>
              <a:t>★ 核心趋势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356616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D4D4D"/>
                </a:solidFill>
                <a:latin typeface="Microsoft YaHei"/>
              </a:rPr>
              <a:t>AI 落地四步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4124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Microsoft YaHei"/>
              </a:rPr>
              <a:t>从战略到执行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</a:rPr>
              <a:t>Hach China  |  iMS  |  AI分享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1371600"/>
            <a:ext cx="731520" cy="7315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38988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D4D4D"/>
                </a:solidFill>
                <a:latin typeface="Microsoft YaHei"/>
              </a:rPr>
              <a:t>数据准备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974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D4D4D"/>
                </a:solidFill>
                <a:latin typeface="Microsoft YaHei"/>
              </a:rPr>
              <a:t>结构化数据
知识库构建
数据治理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4630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99999"/>
                </a:solidFill>
                <a:latin typeface="Microsoft YaHe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371600"/>
            <a:ext cx="731520" cy="7315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38988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D4D4D"/>
                </a:solidFill>
                <a:latin typeface="Microsoft YaHei"/>
              </a:rPr>
              <a:t>场景选择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6974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D4D4D"/>
                </a:solidFill>
                <a:latin typeface="Microsoft YaHei"/>
              </a:rPr>
              <a:t>高价值场景
低风险切入
快速验证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4630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99999"/>
                </a:solidFill>
                <a:latin typeface="Microsoft Ya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1371600"/>
            <a:ext cx="731520" cy="7315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138988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D4D4D"/>
                </a:solidFill>
                <a:latin typeface="Microsoft YaHei"/>
              </a:rPr>
              <a:t>模型选型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6974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D4D4D"/>
                </a:solidFill>
                <a:latin typeface="Microsoft YaHei"/>
              </a:rPr>
              <a:t>大模型 vs 小模型
云端 vs 边缘
开源 vs 闭源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14630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99999"/>
                </a:solidFill>
                <a:latin typeface="Microsoft YaHe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04119" y="1371600"/>
            <a:ext cx="731520" cy="7315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04119" y="138988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D4D4D"/>
                </a:solidFill>
                <a:latin typeface="Microsoft YaHei"/>
              </a:rPr>
              <a:t>持续优化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6974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D4D4D"/>
                </a:solidFill>
                <a:latin typeface="Microsoft YaHei"/>
              </a:rPr>
              <a:t>反馈循环
知识积累
迭代升级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663440"/>
            <a:ext cx="11274552" cy="914400"/>
          </a:xfrm>
          <a:prstGeom prst="rect">
            <a:avLst/>
          </a:prstGeom>
          <a:solidFill>
            <a:srgbClr val="F0F8FF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EB5"/>
                </a:solidFill>
                <a:latin typeface="Microsoft YaHei"/>
              </a:rPr>
              <a:t>关键洞察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4754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数据是AI的燃料。没有高质量的数据基础设施，模型再强也是空中楼阁。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356616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D4D4D"/>
                </a:solidFill>
                <a:latin typeface="Microsoft YaHei"/>
              </a:rPr>
              <a:t>AI + GTM 战略整合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4124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Microsoft YaHei"/>
              </a:rPr>
              <a:t>How AI changes our market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</a:rPr>
              <a:t>Hach China  |  iMS  |  AI分享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4D4D"/>
                </a:solidFill>
                <a:latin typeface="Microsoft YaHei"/>
              </a:rPr>
              <a:t>当前挑战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09728" cy="4114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客户需求多样化，响应速度慢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23160"/>
            <a:ext cx="109728" cy="4114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竞品AI平台正在侵蚀传统市场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39"/>
            <a:ext cx="109728" cy="4114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0632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软件销售高度依赖销售个人能力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03320"/>
            <a:ext cx="109728" cy="4114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IMS产品价值难以标准化呈现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280160"/>
            <a:ext cx="54864" cy="43891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4D4D"/>
                </a:solidFill>
                <a:latin typeface="Microsoft YaHei"/>
              </a:rPr>
              <a:t>AI赋能路径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109728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智能客服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7×24覆盖，线索初筛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606040"/>
            <a:ext cx="109728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Agent助手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9260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方案自动生成，竞品对比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429000"/>
            <a:ext cx="109728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429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数据驱动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客户画像，精准GTM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251960"/>
            <a:ext cx="109728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251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IMS差异化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AI能力嵌入，数据护城河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356616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D4D4D"/>
                </a:solidFill>
                <a:latin typeface="Microsoft YaHei"/>
              </a:rPr>
              <a:t>案例：FreeNH₄ 氨氮优化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4124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Microsoft YaHei"/>
              </a:rPr>
              <a:t>AI驱动的工艺参数优化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</a:rPr>
              <a:t>Hach China  |  iMS  |  AI分享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1274552" cy="82296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353312"/>
            <a:ext cx="11128248" cy="6766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4D4D4D"/>
                </a:solidFill>
                <a:latin typeface="Microsoft YaHei"/>
              </a:rPr>
              <a:t>场景：污水处理厂氨氮优化</a:t>
            </a:r>
          </a:p>
          <a:p>
            <a:pPr algn="ctr"/>
            <a:r>
              <a:rPr sz="1200" b="0">
                <a:solidFill>
                  <a:srgbClr val="4D4D4D"/>
                </a:solidFill>
                <a:latin typeface="Microsoft YaHei"/>
              </a:rPr>
              <a:t>目标：在保证出水达标的前提下，降低曝气能耗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EB5"/>
                </a:solidFill>
                <a:latin typeface="Microsoft YaHei"/>
              </a:rPr>
              <a:t>数据输入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2560320" cy="64008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2491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4D4D"/>
                </a:solidFill>
                <a:latin typeface="Microsoft YaHei"/>
              </a:rPr>
              <a:t>NH₃-N (氨氮) 实时浓度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697480"/>
            <a:ext cx="2560320" cy="64008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72491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4D4D"/>
                </a:solidFill>
                <a:latin typeface="Microsoft YaHei"/>
              </a:rPr>
              <a:t>DO (溶解氧) 实时数据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697480"/>
            <a:ext cx="2560320" cy="64008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72491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4D4D"/>
                </a:solidFill>
                <a:latin typeface="Microsoft YaHei"/>
              </a:rPr>
              <a:t>流量计数据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2697480"/>
            <a:ext cx="2560320" cy="64008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272491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4D4D"/>
                </a:solidFill>
                <a:latin typeface="Microsoft YaHei"/>
              </a:rPr>
              <a:t>历史工艺参数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4290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99999"/>
                </a:solidFill>
                <a:latin typeface="Microsoft YaHei"/>
              </a:rPr>
              <a:t>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EB5"/>
                </a:solidFill>
                <a:latin typeface="Microsoft YaHei"/>
              </a:rPr>
              <a:t>AI推理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06240"/>
            <a:ext cx="11274552" cy="731520"/>
          </a:xfrm>
          <a:prstGeom prst="rect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279392"/>
            <a:ext cx="11128248" cy="5852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Agent分析 → 实时优化建议 → DO设定值调整 → 反馈闭环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66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EB5"/>
                </a:solidFill>
                <a:latin typeface="Microsoft YaHei"/>
              </a:rPr>
              <a:t>优化结果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32120"/>
            <a:ext cx="3474720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5595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曝气量↓  15-30%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43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EBFF"/>
                </a:solidFill>
                <a:latin typeface="Microsoft YaHei"/>
              </a:rPr>
              <a:t>能耗降低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5532120"/>
            <a:ext cx="3474720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55595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氨氮稳定  达标率↑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943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EBFF"/>
                </a:solidFill>
                <a:latin typeface="Microsoft YaHei"/>
              </a:rPr>
              <a:t>出水更稳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5532120"/>
            <a:ext cx="3474720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55595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人力↓  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943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EBFF"/>
                </a:solidFill>
                <a:latin typeface="Microsoft YaHei"/>
              </a:rPr>
              <a:t>减少巡检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356616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D4D4D"/>
                </a:solidFill>
                <a:latin typeface="Microsoft YaHei"/>
              </a:rPr>
              <a:t>AI 产品格局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4124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Microsoft YaHei"/>
              </a:rPr>
              <a:t>Who is building what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</a:rPr>
              <a:t>Hach China  |  iMS  |  AI分享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2651760" cy="4572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984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基础设施层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2651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013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4D4D"/>
                </a:solidFill>
                <a:latin typeface="Microsoft YaHei"/>
              </a:rPr>
              <a:t>NVIDIA GPU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042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4D4D"/>
                </a:solidFill>
                <a:latin typeface="Microsoft YaHei"/>
              </a:rPr>
              <a:t>Google TPU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88920"/>
            <a:ext cx="2651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8072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4D4D"/>
                </a:solidFill>
                <a:latin typeface="Microsoft YaHei"/>
              </a:rPr>
              <a:t>华为昇腾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2651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101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4D4D"/>
                </a:solidFill>
                <a:latin typeface="Microsoft YaHei"/>
              </a:rPr>
              <a:t>Intel NPU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1280160"/>
            <a:ext cx="2651760" cy="457200"/>
          </a:xfrm>
          <a:prstGeom prst="rect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12984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通用大模型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1783080"/>
            <a:ext cx="2651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18013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4D4D"/>
                </a:solidFill>
                <a:latin typeface="Microsoft YaHei"/>
              </a:rPr>
              <a:t>GPT-4o (OpenAI)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2286000"/>
            <a:ext cx="2651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23042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4D4D"/>
                </a:solidFill>
                <a:latin typeface="Microsoft YaHei"/>
              </a:rPr>
              <a:t>Claude (Anthropic)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2788920"/>
            <a:ext cx="2651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28072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4D4D"/>
                </a:solidFill>
                <a:latin typeface="Microsoft YaHei"/>
              </a:rPr>
              <a:t>Gemini (Google)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3291840"/>
            <a:ext cx="2651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33101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4D4D"/>
                </a:solidFill>
                <a:latin typeface="Microsoft YaHei"/>
              </a:rPr>
              <a:t>Qwen (阿里)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280160"/>
            <a:ext cx="2651760" cy="457200"/>
          </a:xfrm>
          <a:prstGeom prst="rect">
            <a:avLst/>
          </a:prstGeom>
          <a:solidFill>
            <a:srgbClr val="006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2984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行业模型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783080"/>
            <a:ext cx="2651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59" y="18013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4D4D"/>
                </a:solidFill>
                <a:latin typeface="Microsoft YaHei"/>
              </a:rPr>
              <a:t>盘古 (华为)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23042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4D4D"/>
                </a:solidFill>
                <a:latin typeface="Microsoft YaHei"/>
              </a:rPr>
              <a:t>文心 (百度)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788920"/>
            <a:ext cx="2651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59" y="28072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4D4D"/>
                </a:solidFill>
                <a:latin typeface="Microsoft YaHei"/>
              </a:rPr>
              <a:t>通义 (阿里)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291840"/>
            <a:ext cx="2651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59" y="33101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4D4D"/>
                </a:solidFill>
                <a:latin typeface="Microsoft YaHei"/>
              </a:rPr>
              <a:t>Watson (IBM)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1280160"/>
            <a:ext cx="2651760" cy="457200"/>
          </a:xfrm>
          <a:prstGeom prst="rect">
            <a:avLst/>
          </a:prstGeom>
          <a:solidFill>
            <a:srgbClr val="00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98280" y="12984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开源框架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98280" y="1783080"/>
            <a:ext cx="2651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19" y="18013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4D4D"/>
                </a:solidFill>
                <a:latin typeface="Microsoft YaHei"/>
              </a:rPr>
              <a:t>LangChain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98280" y="2286000"/>
            <a:ext cx="2651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9719" y="23042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4D4D"/>
                </a:solidFill>
                <a:latin typeface="Microsoft YaHei"/>
              </a:rPr>
              <a:t>MCP Protocol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98280" y="2788920"/>
            <a:ext cx="2651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9719" y="28072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4D4D"/>
                </a:solidFill>
                <a:latin typeface="Microsoft YaHei"/>
              </a:rPr>
              <a:t>LlamaIndex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98280" y="3291840"/>
            <a:ext cx="2651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19" y="33101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4D4D"/>
                </a:solidFill>
                <a:latin typeface="Microsoft YaHei"/>
              </a:rPr>
              <a:t>Ollama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3977639"/>
            <a:ext cx="11274552" cy="54864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4114800"/>
            <a:ext cx="11274552" cy="1097280"/>
          </a:xfrm>
          <a:prstGeom prst="rect">
            <a:avLst/>
          </a:prstGeom>
          <a:solidFill>
            <a:srgbClr val="EBF5FF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EB5"/>
                </a:solidFill>
                <a:latin typeface="Microsoft YaHei"/>
              </a:rPr>
              <a:t>Hach 的位置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45262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我们在"行业模型"层有独特的护城河：10年水务仪表故障知识库 + 工艺参数经验值，这是通用大模型和系统集成商无法复制的。
差异化不在于"接入AI"，而在于"有AI无法替代的水务专业知识"。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356616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D4D4D"/>
                </a:solidFill>
                <a:latin typeface="Microsoft YaHei"/>
              </a:rPr>
              <a:t>我们的AI资源地图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4124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Microsoft YaHei"/>
              </a:rPr>
              <a:t>Key resources and learning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</a:rPr>
              <a:t>Hach China  |  iMS  |  AI分享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4D4D"/>
                </a:solidFill>
                <a:latin typeface="Microsoft YaHei"/>
              </a:rPr>
              <a:t>学习路径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91440" cy="8229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Andrew 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8483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EB5"/>
                </a:solidFill>
                <a:latin typeface="Microsoft YaHei"/>
              </a:rPr>
              <a:t>AI Coursera / DeepLearning.AI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3774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入门首选，系统体系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91440" cy="8229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Andrej Karpathy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192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EB5"/>
                </a:solidFill>
                <a:latin typeface="Microsoft YaHei"/>
              </a:rPr>
              <a:t>YouTube / GitHub / Blog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LLM内部原理，深度理解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91440" cy="8229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4D AI Fluency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537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EB5"/>
                </a:solidFill>
                <a:latin typeface="Microsoft YaHei"/>
              </a:rPr>
              <a:t>公司内部培训体系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分阶段：概念→工具→实践→传授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280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4D4D"/>
                </a:solidFill>
                <a:latin typeface="Microsoft YaHei"/>
              </a:rPr>
              <a:t>4D AI Fluency 模型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691640"/>
            <a:ext cx="548640" cy="8229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1920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Discover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发现AI机会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1305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哪些场景可以用AI？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788920"/>
            <a:ext cx="548640" cy="822960"/>
          </a:xfrm>
          <a:prstGeom prst="rect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Define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8346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定义AI问题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227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如何将业务问题AI化？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886200"/>
            <a:ext cx="548640" cy="822960"/>
          </a:xfrm>
          <a:prstGeom prst="rect">
            <a:avLst/>
          </a:prstGeom>
          <a:solidFill>
            <a:srgbClr val="006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Develop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开发AI方案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325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用什么工具/模型/数据？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983479"/>
            <a:ext cx="548640" cy="822960"/>
          </a:xfrm>
          <a:prstGeom prst="rect">
            <a:avLst/>
          </a:prstGeom>
          <a:solidFill>
            <a:srgbClr val="00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52120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50291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部署AI应用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54223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如何落地并持续优化？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356616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D4D4D"/>
                </a:solidFill>
                <a:latin typeface="Microsoft YaHei"/>
              </a:rPr>
              <a:t>AI实践场景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4124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Microsoft YaHei"/>
              </a:rPr>
              <a:t>Where AI meets water treatment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</a:rPr>
              <a:t>Hach China  |  iMS  |  AI分享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486400" cy="2194560"/>
          </a:xfrm>
          <a:prstGeom prst="rect">
            <a:avLst/>
          </a:prstGeom>
          <a:solidFill>
            <a:srgbClr val="F5F8FC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548640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3533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水质预警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8745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输入：实时数据+AI预测模型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240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EB5"/>
                </a:solidFill>
                <a:latin typeface="Microsoft YaHei"/>
              </a:rPr>
              <a:t>输出：早于人工发现异常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06039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案例：进水超标预警 / 膜污染预测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280160"/>
            <a:ext cx="5486400" cy="2194560"/>
          </a:xfrm>
          <a:prstGeom prst="rect">
            <a:avLst/>
          </a:prstGeom>
          <a:solidFill>
            <a:srgbClr val="F5F8FC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280160"/>
            <a:ext cx="548640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3533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工艺优化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8745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输入：DO/pH/ORP多参数联动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40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EB5"/>
                </a:solidFill>
                <a:latin typeface="Microsoft YaHei"/>
              </a:rPr>
              <a:t>输出：AI建议最优参数组合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06039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案例：曝气量优化 / 药剂投加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49039"/>
            <a:ext cx="5486400" cy="2194560"/>
          </a:xfrm>
          <a:prstGeom prst="rect">
            <a:avLst/>
          </a:prstGeom>
          <a:solidFill>
            <a:srgbClr val="F5F8FC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49039"/>
            <a:ext cx="548640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22191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设备诊断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343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输入：仪表数据+故障知识库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70915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EB5"/>
                </a:solidFill>
                <a:latin typeface="Microsoft YaHei"/>
              </a:rPr>
              <a:t>输出：自动根因分析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07492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案例：传感器漂移 / 设备劣化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749039"/>
            <a:ext cx="5486400" cy="2194560"/>
          </a:xfrm>
          <a:prstGeom prst="rect">
            <a:avLst/>
          </a:prstGeom>
          <a:solidFill>
            <a:srgbClr val="F5F8FC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749039"/>
            <a:ext cx="548640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822191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客户服务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343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输入：Agent+IMS知识库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70915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EB5"/>
                </a:solidFill>
                <a:latin typeface="Microsoft YaHei"/>
              </a:rPr>
              <a:t>输出：7×24智能问答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07492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案例：方案推荐 / 竞品对比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356616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D4D4D"/>
                </a:solidFill>
                <a:latin typeface="Microsoft YaHei"/>
              </a:rPr>
              <a:t>AI知识体系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4124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Microsoft YaHei"/>
              </a:rPr>
              <a:t>The complete picture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</a:rPr>
              <a:t>Hach China  |  iMS  |  AI分享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356616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984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819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6FF"/>
                </a:solidFill>
                <a:latin typeface="Microsoft YaHei"/>
              </a:rPr>
              <a:t>大语言模型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3566160" cy="59436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299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• GPT-4o / Claude / Gemini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78608"/>
            <a:ext cx="3566160" cy="59436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8833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• 开源：Qwen / Llama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36976"/>
            <a:ext cx="3566160" cy="59436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4670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• Prompt Engineering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95344"/>
            <a:ext cx="3566160" cy="59436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050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• RAG 知识增强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280160"/>
            <a:ext cx="3566160" cy="502920"/>
          </a:xfrm>
          <a:prstGeom prst="rect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2984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15819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6FF"/>
                </a:solidFill>
                <a:latin typeface="Microsoft YaHei"/>
              </a:rPr>
              <a:t>AI 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920240"/>
            <a:ext cx="3566160" cy="59436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20299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• ReAct / Plan-and-Execute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2578608"/>
            <a:ext cx="3566160" cy="59436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268833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• MCP 协议（工具调用）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236976"/>
            <a:ext cx="3566160" cy="59436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34670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• LangGraph / LlamaIndex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895344"/>
            <a:ext cx="3566160" cy="59436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40050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• 自主规划 + 工具使用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1280160"/>
            <a:ext cx="3566160" cy="502920"/>
          </a:xfrm>
          <a:prstGeom prst="rect">
            <a:avLst/>
          </a:prstGeom>
          <a:solidFill>
            <a:srgbClr val="006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12984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Edge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15819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6FF"/>
                </a:solidFill>
                <a:latin typeface="Microsoft YaHei"/>
              </a:rPr>
              <a:t>边缘AI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1920240"/>
            <a:ext cx="3566160" cy="59436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20299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• Qwen-7B INT4 本地部署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2578608"/>
            <a:ext cx="3566160" cy="59436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268833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• 工业PC / 工控机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3236976"/>
            <a:ext cx="3566160" cy="59436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334670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• MCP Server → 工业数据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3895344"/>
            <a:ext cx="3566160" cy="594360"/>
          </a:xfrm>
          <a:prstGeom prst="rect">
            <a:avLst/>
          </a:prstGeom>
          <a:solidFill>
            <a:srgbClr val="F8FAFC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40050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• 数据不出厂，隐私合规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663440"/>
            <a:ext cx="11274552" cy="914400"/>
          </a:xfrm>
          <a:prstGeom prst="rect">
            <a:avLst/>
          </a:prstGeom>
          <a:solidFill>
            <a:srgbClr val="EBF5FF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754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三者结合 = 完整的AI落地架构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LLM提供大脑推理能力，Agent负责工具调用和工作流自动化，Edge AI确保工业场景的数据隐私和实时性。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356616" cy="35661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D4D4D"/>
                </a:solidFill>
                <a:latin typeface="Microsoft YaHei"/>
              </a:rPr>
              <a:t>4D AI Fluency 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4124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Microsoft YaHei"/>
              </a:rPr>
              <a:t>The maturity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</a:rPr>
              <a:t>Hach China  |  iMS  |  AI分享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Microsoft YaHe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44751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D1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D4D4D"/>
                </a:solidFill>
                <a:latin typeface="Microsoft YaHei"/>
              </a:rP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691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发现阶段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325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了解AI能做什么，识别团队内的AI机会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EB5"/>
                </a:solidFill>
                <a:latin typeface="Microsoft YaHei"/>
              </a:rPr>
              <a:t>参加培训、读文章、看案例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029967"/>
            <a:ext cx="54864" cy="512064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651760"/>
            <a:ext cx="640080" cy="640080"/>
          </a:xfrm>
          <a:prstGeom prst="rect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2491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D2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606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D4D4D"/>
                </a:solidFill>
                <a:latin typeface="Microsoft YaHei"/>
              </a:rPr>
              <a:t>Define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971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定义阶段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60603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将业务问题转化为AI可解决的问题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5A8C"/>
                </a:solidFill>
                <a:latin typeface="Microsoft YaHei"/>
              </a:rPr>
              <a:t>定义数据需求、选择场景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3310127"/>
            <a:ext cx="54864" cy="512064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31919"/>
            <a:ext cx="640080" cy="640080"/>
          </a:xfrm>
          <a:prstGeom prst="rect">
            <a:avLst/>
          </a:prstGeom>
          <a:solidFill>
            <a:srgbClr val="006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05071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D3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8861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D4D4D"/>
                </a:solidFill>
                <a:latin typeface="Microsoft YaHei"/>
              </a:rPr>
              <a:t>Develop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2519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开发阶段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88619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用AI工具/平台构建解决方案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2976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6482"/>
                </a:solidFill>
                <a:latin typeface="Microsoft YaHei"/>
              </a:rPr>
              <a:t>原型验证、Prompt优化、知识库构建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4590288"/>
            <a:ext cx="54864" cy="512064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212079"/>
            <a:ext cx="640080" cy="640080"/>
          </a:xfrm>
          <a:prstGeom prst="rect">
            <a:avLst/>
          </a:prstGeom>
          <a:solidFill>
            <a:srgbClr val="00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285231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D4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166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D4D4D"/>
                </a:solidFill>
                <a:latin typeface="Microsoft YaHei"/>
              </a:rPr>
              <a:t>Deploy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532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部署阶段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16635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将AI方案落地并持续运营优化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577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5064"/>
                </a:solidFill>
                <a:latin typeface="Microsoft YaHei"/>
              </a:rPr>
              <a:t>监控效果、收集反馈、迭代升级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4114800" cy="678484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>
                <a:solidFill>
                  <a:srgbClr val="00A0DC"/>
                </a:solidFill>
                <a:latin typeface="Microsoft YaHei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icrosoft YaHei"/>
              </a:rPr>
              <a:t>The best way to
predict the future
is to build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D4D4D"/>
                </a:solidFill>
                <a:latin typeface="Microsoft YaHei"/>
              </a:rPr>
              <a:t>拥抱AI，从今天开始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2651760"/>
            <a:ext cx="6858000" cy="3657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2926080"/>
            <a:ext cx="1188720" cy="5943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30175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今天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D4D4D"/>
                </a:solidFill>
                <a:latin typeface="Microsoft YaHei"/>
              </a:rPr>
              <a:t>学一门AI课（Andrew Ng / Karpathy）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3840480"/>
            <a:ext cx="1188720" cy="5943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931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本周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D4D4D"/>
                </a:solidFill>
                <a:latin typeface="Microsoft YaHei"/>
              </a:rPr>
              <a:t>找一个适合AI赋能的客户场景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4754880"/>
            <a:ext cx="1188720" cy="5943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4846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本月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D4D4D"/>
                </a:solidFill>
                <a:latin typeface="Microsoft YaHei"/>
              </a:rPr>
              <a:t>完成一个IMS + AI原型演示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</a:rPr>
              <a:t>Hach China  |  iMS  |  Taylor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