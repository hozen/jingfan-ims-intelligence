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D4D4D"/>
                </a:solidFill>
                <a:latin typeface="微软雅黑"/>
              </a:defRPr>
            </a:pPr>
            <a:r>
              <a:t>2026环博会市场观察报告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7EB5"/>
                </a:solidFill>
                <a:latin typeface="微软雅黑"/>
              </a:defRPr>
            </a:pPr>
            <a:r>
              <a:t>基于B2B工业市场研究框架的深度分析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D4D4D"/>
                </a:solidFill>
                <a:latin typeface="微软雅黑"/>
              </a:defRPr>
            </a:pPr>
            <a:r>
              <a:t>产品趋势 · 技术趋势 · 客户需求 · 政策驱动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D4D4D"/>
                </a:solidFill>
                <a:latin typeface="微软雅黑"/>
              </a:defRPr>
            </a:pPr>
            <a:r>
              <a:t>2026年4月  |  上海新国际博览中心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数据来源：微信公众号公开OCR数据  |  样本：972家参展厂商  |  覆盖16个展馆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分析框架：B2B工业市场研究方法论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474720" cy="20116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47472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3C分析框架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· Company（公司）：我们有什么产品/技术能力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· Customer（客户）：客户需求在哪里、怎么变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· Competitor（竞争）：竞争格局如何、威胁在哪里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05840"/>
            <a:ext cx="3474720" cy="20116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05840"/>
            <a:ext cx="347472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005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PESTEL政策框架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P=政治/政策：十五五规划、双碳目标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099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E=经济：投资驱动、运营降本需求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9568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S=社会：公众环保意识提升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2037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T=技术：IoT/AI/云/数字孪生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450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E=环境：污染物协同管控要求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L=法律：等保2.0、数据合规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1005840"/>
            <a:ext cx="3657600" cy="20116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1005840"/>
            <a:ext cx="365760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1005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STP市场细分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· S细分：市政/工业/农村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· T目标：政府监管/企业自测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423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· P定位：水务集团/工业园区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00400"/>
            <a:ext cx="11247120" cy="24688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200400"/>
            <a:ext cx="1124712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200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4P营销组合 + 价值链分析（本报告结构）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703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EB5"/>
                </a:solidFill>
                <a:latin typeface="微软雅黑"/>
              </a:defRPr>
            </a:pPr>
            <a:r>
              <a:t>Product（产品）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069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展商类型分布、产品趋势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→ 见P1/P2页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703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EB5"/>
                </a:solidFill>
                <a:latin typeface="微软雅黑"/>
              </a:defRPr>
            </a:pPr>
            <a:r>
              <a:t>Price（价格）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069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国产替代、价格战、订阅制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→ 见客户需求页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703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EB5"/>
                </a:solidFill>
                <a:latin typeface="微软雅黑"/>
              </a:defRPr>
            </a:pPr>
            <a:r>
              <a:t>Place（渠道）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069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展馆分布、区域市场覆盖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→ 见样本说明页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3703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EB5"/>
                </a:solidFill>
                <a:latin typeface="微软雅黑"/>
              </a:defRPr>
            </a:pPr>
            <a:r>
              <a:t>Promotion（推广）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069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数字化跨界公司动向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→ 见P7页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本报告将PESTEL、3C、STP框架融入每一页的趋势分析，而非机械套用，确保分析有深度而非堆砌框架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数据样本：972家参展商 · 16个展馆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651760" cy="11887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EB5"/>
                </a:solidFill>
                <a:latin typeface="微软雅黑"/>
              </a:defRPr>
            </a:pPr>
            <a:r>
              <a:t>972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家展商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OCR识别总数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005840"/>
            <a:ext cx="2651760" cy="11887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EB5"/>
                </a:solidFill>
                <a:latin typeface="微软雅黑"/>
              </a:defRPr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783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个展馆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E/N/W全馆覆盖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2651760" cy="11887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EB5"/>
                </a:solidFill>
                <a:latin typeface="微软雅黑"/>
              </a:defRPr>
            </a:pPr>
            <a:r>
              <a:t>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家数字化公司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云/平台/数据/智能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005840"/>
            <a:ext cx="2651760" cy="11887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EB5"/>
                </a:solidFill>
                <a:latin typeface="微软雅黑"/>
              </a:defRPr>
            </a:pPr>
            <a:r>
              <a:t>182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783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家仪器仪表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E4馆过程控制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377440"/>
            <a:ext cx="1124712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3774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展馆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3774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展商数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774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主题定位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377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代表展商/关键特征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34640"/>
            <a:ext cx="112471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8346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E4馆 182家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28346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182家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8346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过程控制/仪器仪表/监测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8346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仪器仪表最集中，同行竞争最激烈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46120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246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E6馆 187家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32461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187家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2461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大气治理/余热回收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2461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规模最大，细分领域最广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657600"/>
            <a:ext cx="112471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6576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E5馆 174家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36576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174家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36576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大气治理/VOCs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65760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VOC治理、无组织排放管控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069080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0690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E2馆 120家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40690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120家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40690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综合环境解决方案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06908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工程/运营/咨询类展商最多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480560"/>
            <a:ext cx="112471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4805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E1馆 93家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448056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93家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44805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综合环境解决方案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48056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水处理、膜材料、泵阀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892040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8920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E3馆 15家*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48920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15家*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48920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监测与检测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0" y="48920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*数据不完整，展位E3-C12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303520"/>
            <a:ext cx="112471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3035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其他馆 181家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68880" y="53035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181家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53035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N/W综合展区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20640" y="53035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分散在N/W馆，未精确分类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806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* E3馆数据因公众号图片CDN加密仅获取15家，实际展商数量更多。E+H、ABB、西门子、横河等未在OCR数据中检索到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展商类型深度分析（3C框架：产品-客户-竞争）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365760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产品趋势（Company）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3657600" cy="10972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仪表/传感器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EB5"/>
                </a:solidFill>
                <a:latin typeface="微软雅黑"/>
              </a:defRPr>
            </a:pPr>
            <a:r>
              <a:t>86家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1847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小型化、智能化、IoT化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76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天信仪表、威格中国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51760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数字化跨界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35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EB5"/>
                </a:solidFill>
                <a:latin typeface="微软雅黑"/>
              </a:defRPr>
            </a:pPr>
            <a:r>
              <a:t>39家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云+端一体化、软件定义硬件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64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江苏纽带智能、盘古自动化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840480"/>
            <a:ext cx="3657600" cy="10972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水处理/膜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24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EB5"/>
                </a:solidFill>
                <a:latin typeface="微软雅黑"/>
              </a:defRPr>
            </a:pPr>
            <a:r>
              <a:t>69家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224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膜材料国产化、价格下探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537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世浦泰膜、澳欣膜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029200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74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大气治理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132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EB5"/>
                </a:solidFill>
                <a:latin typeface="微软雅黑"/>
              </a:defRPr>
            </a:pPr>
            <a:r>
              <a:t>~360家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54132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设备大型化、节能化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42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兰山环保、杜尔涂装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960120"/>
            <a:ext cx="3657600" cy="411480"/>
          </a:xfrm>
          <a:prstGeom prst="rect">
            <a:avLst/>
          </a:prstGeom>
          <a:solidFill>
            <a:srgbClr val="00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960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客户需求（Customer）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1463040"/>
            <a:ext cx="3657600" cy="10972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买服务不买设备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1847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43C"/>
                </a:solidFill>
                <a:latin typeface="微软雅黑"/>
              </a:defRPr>
            </a:pPr>
            <a:r>
              <a:t>趋势明显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1847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从一次性采购到年度服务合同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2176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4343400" y="2651760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全链路管控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035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43C"/>
                </a:solidFill>
                <a:latin typeface="微软雅黑"/>
              </a:defRPr>
            </a:pPr>
            <a:r>
              <a:t>需求升级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从单点监测到厂网河湖一体化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3364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</a:p>
        </p:txBody>
      </p:sp>
      <p:sp>
        <p:nvSpPr>
          <p:cNvPr id="38" name="Rectangle 37"/>
          <p:cNvSpPr/>
          <p:nvPr/>
        </p:nvSpPr>
        <p:spPr>
          <a:xfrm>
            <a:off x="4343400" y="3840480"/>
            <a:ext cx="3657600" cy="10972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国产替代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224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43C"/>
                </a:solidFill>
                <a:latin typeface="微软雅黑"/>
              </a:defRPr>
            </a:pPr>
            <a:r>
              <a:t>价格敏感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4224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西部/农村市场优先选国产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5537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</a:p>
        </p:txBody>
      </p:sp>
      <p:sp>
        <p:nvSpPr>
          <p:cNvPr id="43" name="Rectangle 42"/>
          <p:cNvSpPr/>
          <p:nvPr/>
        </p:nvSpPr>
        <p:spPr>
          <a:xfrm>
            <a:off x="4343400" y="5029200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0" y="5074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碳监测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54132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43C"/>
                </a:solidFill>
                <a:latin typeface="微软雅黑"/>
              </a:defRPr>
            </a:pPr>
            <a:r>
              <a:t>新增长点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54132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高耗能行业碳核查需求浮现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5742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</a:p>
        </p:txBody>
      </p:sp>
      <p:sp>
        <p:nvSpPr>
          <p:cNvPr id="48" name="Rectangle 47"/>
          <p:cNvSpPr/>
          <p:nvPr/>
        </p:nvSpPr>
        <p:spPr>
          <a:xfrm>
            <a:off x="8275320" y="960120"/>
            <a:ext cx="3657600" cy="411480"/>
          </a:xfrm>
          <a:prstGeom prst="rect">
            <a:avLst/>
          </a:prstGeom>
          <a:solidFill>
            <a:srgbClr val="B4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960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竞争格局（Competitor）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20" y="1463040"/>
            <a:ext cx="3657600" cy="10972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E4馆直接竞争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847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3C00"/>
                </a:solidFill>
                <a:latin typeface="微软雅黑"/>
              </a:defRPr>
            </a:pPr>
            <a:r>
              <a:t>182家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38360" y="1847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国内品牌价格低30-50%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176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</a:p>
        </p:txBody>
      </p:sp>
      <p:sp>
        <p:nvSpPr>
          <p:cNvPr id="55" name="Rectangle 54"/>
          <p:cNvSpPr/>
          <p:nvPr/>
        </p:nvSpPr>
        <p:spPr>
          <a:xfrm>
            <a:off x="8275320" y="2651760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跨界打劫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035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3C00"/>
                </a:solidFill>
                <a:latin typeface="微软雅黑"/>
              </a:defRPr>
            </a:pPr>
            <a:r>
              <a:t>39家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38360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软件+云平台切入监测市场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3364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</a:p>
        </p:txBody>
      </p:sp>
      <p:sp>
        <p:nvSpPr>
          <p:cNvPr id="60" name="Rectangle 59"/>
          <p:cNvSpPr/>
          <p:nvPr/>
        </p:nvSpPr>
        <p:spPr>
          <a:xfrm>
            <a:off x="8275320" y="3840480"/>
            <a:ext cx="3657600" cy="10972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66760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国际品牌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4224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3C00"/>
                </a:solidFill>
                <a:latin typeface="微软雅黑"/>
              </a:defRPr>
            </a:pPr>
            <a:r>
              <a:t>若干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38360" y="4224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E+H/ABB/西门子等（展位未确认）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45537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</a:p>
        </p:txBody>
      </p:sp>
      <p:sp>
        <p:nvSpPr>
          <p:cNvPr id="65" name="Rectangle 64"/>
          <p:cNvSpPr/>
          <p:nvPr/>
        </p:nvSpPr>
        <p:spPr>
          <a:xfrm>
            <a:off x="8275320" y="5029200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66760" y="5074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工程商整合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54132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3C00"/>
                </a:solidFill>
                <a:latin typeface="微软雅黑"/>
              </a:defRPr>
            </a:pPr>
            <a:r>
              <a:t>约30家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38360" y="54132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解决方案打包蚕食硬件份额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66760" y="5742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产品趋势：监测设备从单机向平台化演进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在线监测设备爆发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E4馆182家展商大量展示在线水质/气体监测分析仪，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733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24/7实时监测替代传统实验室抽样检测已成明确趋势。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74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客户需求：数据联网、自动报警、远程校准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84248"/>
            <a:ext cx="54864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842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传感器小型化与低功耗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6829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多款小型化水质传感器、光谱分析仪亮相，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支持IoT、自适应采集、边缘预处理，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986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分布式监测、河道监测、农业面源污染监测等新场景涌现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08376"/>
            <a:ext cx="54864" cy="8229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083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膜材料与分离技术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9242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E1馆多家膜科技公司，膜技术从市政向工业延伸，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21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工业零排放、盐碱资源化、废水资源化推动膜市场扩容，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2277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国产膜价格比进口低40-60%，加速替代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32504"/>
            <a:ext cx="54864" cy="8229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3250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智能泵站与计量设备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165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水处理板块大量泵阀、流量计、液位计展商，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45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智能化（变频、节能）、计量精确化是主打卖点，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469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水务公司降本增效需求驱动泵站数字化改造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56632"/>
            <a:ext cx="54864" cy="8229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56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大气治理设备大型化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40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E5/E6馆361家展商，废气处理/除尘/脱硫脱硝设备规模大，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76986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存量改造市场依然巨大，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710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但增量放缓，新上项目减少，存量竞争加剧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洞察：监测产品正从单机设备向联网平台演进，纯硬件公司面临整合压力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技术趋势（PESTEL-T技术维度）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云平台SaaS化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39家数字化展商中大部分提供云平台服务，数据采集+存储+分析+可视化一体化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3441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→ 监测设备从卖硬件向卖服务转变，订阅制SaaS模式兴起，私有部署减少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IoT与边缘计算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50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分布式传感器+DTU/网关+云端架构已成标配，低功耗、自适应采集成为核心竞争力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3500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→ IoT监测节点数量爆发，海量数据接入倒逼边缘计算能力升级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AI与大数据分析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5584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展商展示预测性维护、异常预警、排放趋势预测等AI能力，从数据采集向数据挖掘演进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35584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→ AI+监测加速融合，异常检测、趋势预测、溯源分析是当前主要AI应用场景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7764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数字孪生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6168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多个展台展示三维水厂、数字管网、智慧水务大屏，数字孪生从概念走向落地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36168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→ 数字孪生成为运营管理标配工具，支撑仿真优化与决策支持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8348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5G+工业互联网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6752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5G网关、5G+监测方案亮相，解决传统有线方案痛点，低延时支撑实时控制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3675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→ 5G特性与监测场景天然契合，融合方案将持续增加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技术趋势结论：监测行业正经历从硬件主导向软件定义的技术架构转型，云+AI是核心驱动力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客户需求趋势（STP市场细分 + 4C视角）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STP市场细分：三类目标客户需求差异明显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669280" cy="10515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市政/水务集团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需求：厂网河湖一体化监测平台，数据联网，智慧水务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3C00"/>
                </a:solidFill>
                <a:latin typeface="微软雅黑"/>
              </a:defRPr>
            </a:pPr>
            <a:r>
              <a:t>痛点：数据孤岛、运维成本高、人才缺乏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EB5"/>
                </a:solidFill>
                <a:latin typeface="微软雅黑"/>
              </a:defRPr>
            </a:pPr>
            <a:r>
              <a:t>→ 需要整体解决方案+长期运维服务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5669280" cy="10515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工业园区/企业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需求：满足监管要求的在线监测系统，碳核查，排放数据上报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3C00"/>
                </a:solidFill>
                <a:latin typeface="微软雅黑"/>
              </a:defRPr>
            </a:pPr>
            <a:r>
              <a:t>痛点：一次性投资大、进口品牌贵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EB5"/>
                </a:solidFill>
                <a:latin typeface="微软雅黑"/>
              </a:defRPr>
            </a:pPr>
            <a:r>
              <a:t>→ 性价比优先，国产替代机会大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5669280" cy="10515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政府/监管机构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需求：一张网监管平台，污染源追溯，预警应急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3C00"/>
                </a:solidFill>
                <a:latin typeface="微软雅黑"/>
              </a:defRPr>
            </a:pPr>
            <a:r>
              <a:t>痛点：数据质量参差不齐，信息安全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EB5"/>
                </a:solidFill>
                <a:latin typeface="微软雅黑"/>
              </a:defRPr>
            </a:pPr>
            <a:r>
              <a:t>→ 等保合规，数据主权要求高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960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4C客户价值视角：客户真正买的是什么？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463040"/>
            <a:ext cx="2651760" cy="16002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463040"/>
            <a:ext cx="2651760" cy="3657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Customer Value</a:t>
            </a:r>
            <a:br/>
            <a:r>
              <a:t>客户价值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20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不只是设备，是监测能力</a:t>
            </a:r>
            <a:br/>
            <a:r>
              <a:t>和数据带来的决策支持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463040"/>
            <a:ext cx="2651760" cy="16002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1463040"/>
            <a:ext cx="2651760" cy="3657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Cost</a:t>
            </a:r>
            <a:br/>
            <a:r>
              <a:t>总拥有成本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1920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不只是采购价，是3-5年</a:t>
            </a:r>
            <a:br/>
            <a:r>
              <a:t>运维+校准+升级成本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200400"/>
            <a:ext cx="2651760" cy="16002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200400"/>
            <a:ext cx="2651760" cy="3657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200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Convenience</a:t>
            </a:r>
            <a:br/>
            <a:r>
              <a:t>便利性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6576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安装便捷、接口兼容、</a:t>
            </a:r>
            <a:br/>
            <a:r>
              <a:t>跨系统数据打通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3200400"/>
            <a:ext cx="2651760" cy="16002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3200400"/>
            <a:ext cx="2651760" cy="3657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200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Communication</a:t>
            </a:r>
            <a:br/>
            <a:r>
              <a:t>沟通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6576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厂商能否响应快、</a:t>
            </a:r>
            <a:br/>
            <a:r>
              <a:t>提供本地化支持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洞察：客户买的是监测能力而非监测设备，纯硬件销售模式面临严峻挑战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政策驱动（PESTEL政策+经济维度）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十五五规划：美丽中国建设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9601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P=政治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4416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美丽中国先行区、示范县建设推动全域环境基础设施建设，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→ 县镇级监测能力建设带来增量市场，黑臭水体治理持续，监测点位加密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47672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476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双碳目标：碳市场扩容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9476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E=经济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全国碳市场覆盖行业扩大，碳监测/碳核查需求从电力向钢铁/化工/水泥延伸，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6090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→ 碳排放在线监测、碳足迹管理、碳资产开发成为新增长赛道，年增速预估20-30%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35224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352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水环境精细化管理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93522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P=政治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1927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十四五水污染防止向十五五精细化管控过渡，流域监测、断面监测需求持续，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484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→ 饮用水源监测、地表水自动监测网络加密，推动高端监测设备需求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22776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227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大气多污染物协同控制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92277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P=政治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0682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臭氧与PM2.5协同管控，VOCS监测、无组织排放监管加强，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36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→ 大气监测从点源向面源、从浓度监测向成因精细化管控发展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10328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103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数字环保与智慧监管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91032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T=技术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9437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环保监管数字化转型，污染源自动监控一张网建设，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→ 数据联网、智慧决策、精准溯源成为监管标配，推动云平台和AI需求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政策结论：政策是环境监测市场最强驱动力，十五五+双碳构成双重引擎，数字化监管是技术主线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数字化跨界公司：最值得关注的竞争威胁（39家）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这39家公司以软件+数据+云平台为核心能力，跨界切入监测硬件市场，是展会中最值得关注的新兴力量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公司名称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4173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展位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14173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核心能力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4173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切入方式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4173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威胁等级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1247120" cy="4114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江苏纽带智能科技有限公司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874519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E3-G61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18745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端到端智能监测方案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8745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传感器+云平台+运维一体化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87451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1E1E"/>
                </a:solidFill>
                <a:latin typeface="微软雅黑"/>
              </a:defRPr>
            </a:pPr>
            <a:r>
              <a:t>极高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31719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3317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杭州易环智能科技有限公司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331719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E1-L12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3317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智慧环保平台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3317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数据采集+可视化+运维全链条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33171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6400"/>
                </a:solidFill>
                <a:latin typeface="微软雅黑"/>
              </a:defRPr>
            </a:pPr>
            <a:r>
              <a:t>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88919"/>
            <a:ext cx="11247120" cy="4114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7889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北京尚云互联科技有限公司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2788919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E2-W13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27889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环境监测云平台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7889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物联网数据接入+分析服务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78891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6400"/>
                </a:solidFill>
                <a:latin typeface="微软雅黑"/>
              </a:defRPr>
            </a:pPr>
            <a:r>
              <a:t>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46119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2461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E20环境平台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246119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E1-071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32461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环境产业互联网平台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2461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连接设备与用户，做平台而非设备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24611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6400"/>
                </a:solidFill>
                <a:latin typeface="微软雅黑"/>
              </a:defRPr>
            </a:pPr>
            <a:r>
              <a:t>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703319"/>
            <a:ext cx="11247120" cy="4114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7033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杭州盘古自动化系统有限公司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3703319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E4-F71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40" y="37033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自动化控制系统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7033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PLC/DCS+云端接入，硬件整合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70331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9600"/>
                </a:solidFill>
                <a:latin typeface="微软雅黑"/>
              </a:defRPr>
            </a:pPr>
            <a:r>
              <a:t>中高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160519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1605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山东混沌智能科技有限公司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4160519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E4-F28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40" y="41605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智能传感器+云平台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1605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传感器+数据服务软件一体化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16051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9600"/>
                </a:solidFill>
                <a:latin typeface="微软雅黑"/>
              </a:defRPr>
            </a:pPr>
            <a:r>
              <a:t>中高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617719"/>
            <a:ext cx="11247120" cy="4114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6177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广州云景信息科技有限公司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40" y="4617719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E4-C21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40" y="46177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智慧水务平台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6177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水处理数据中台，绑定水务公司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461771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9600"/>
                </a:solidFill>
                <a:latin typeface="微软雅黑"/>
              </a:defRPr>
            </a:pPr>
            <a:r>
              <a:t>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074919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0749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缘循智能科技(上海)有限公司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4640" y="5074919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E4-L50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40" y="50749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流体控制智能化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50749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传感器+数据服务，垂直场景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507491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9600"/>
                </a:solidFill>
                <a:latin typeface="微软雅黑"/>
              </a:defRPr>
            </a:pPr>
            <a:r>
              <a:t>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战略启示：数字化跨界公司是最大不确定性来源，建议优先评估其云平台成熟度和客户覆盖度，重点防范平台型公司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D4D4D"/>
                </a:solidFill>
                <a:latin typeface="微软雅黑"/>
              </a:defRPr>
            </a:pPr>
            <a:r>
              <a:t>总结与战略启示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产品趋势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0515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监测设备向实时化、智能化、平台化演进，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9047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EB5"/>
                </a:solidFill>
                <a:latin typeface="微软雅黑"/>
              </a:defRPr>
            </a:pPr>
            <a:r>
              <a:t>→ 纯硬件公司面临整合压力，需向设备+服务转型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39112"/>
            <a:ext cx="1371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3911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技术趋势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3911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云平台SaaS化、IoT、AI分析、数字孪生是技术主线，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78024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EB5"/>
                </a:solidFill>
                <a:latin typeface="微软雅黑"/>
              </a:defRPr>
            </a:pPr>
            <a:r>
              <a:t>→ 技术架构从单机向云端迁移是大势所趋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26664"/>
            <a:ext cx="1371600" cy="384048"/>
          </a:xfrm>
          <a:prstGeom prst="rect">
            <a:avLst/>
          </a:prstGeom>
          <a:solidFill>
            <a:srgbClr val="00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2666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客户需求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26664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客户买的是监测能力而非监测设备，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465576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43C"/>
                </a:solidFill>
                <a:latin typeface="微软雅黑"/>
              </a:defRPr>
            </a:pPr>
            <a:r>
              <a:t>→ 全链路管控、买服务不买设备是核心需求转变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14216"/>
            <a:ext cx="1371600" cy="384048"/>
          </a:xfrm>
          <a:prstGeom prst="rect">
            <a:avLst/>
          </a:prstGeom>
          <a:solidFill>
            <a:srgbClr val="B4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142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政策驱动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014216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十五五+双碳+数字化监管构成三重政策引擎，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45312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3C00"/>
                </a:solidFill>
                <a:latin typeface="微软雅黑"/>
              </a:defRPr>
            </a:pPr>
            <a:r>
              <a:t>→ 碳监测和县镇级监测是增量市场机会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01768"/>
            <a:ext cx="1371600" cy="384048"/>
          </a:xfrm>
          <a:prstGeom prst="rect">
            <a:avLst/>
          </a:prstGeom>
          <a:solidFill>
            <a:srgbClr val="961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0017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最值得关注的群体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00176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39家数字化跨界公司——平台+数据+服务能力，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4406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1E96"/>
                </a:solidFill>
                <a:latin typeface="微软雅黑"/>
              </a:defRPr>
            </a:pPr>
            <a:r>
              <a:t>→ 可能重塑监测行业竞争格局，是最大不确定性因素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2026环博会市场观察报告  |  数据来源：微信公众号公开OCR数据  |  样本：972家参展厂商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