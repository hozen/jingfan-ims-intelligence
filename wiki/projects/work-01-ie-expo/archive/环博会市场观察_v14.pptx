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D4D4D"/>
                </a:solidFill>
                <a:latin typeface="微软雅黑"/>
              </a:defRPr>
            </a:pPr>
            <a:r>
              <a:t>2026环博会市场观察报告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7EB5"/>
                </a:solidFill>
                <a:latin typeface="微软雅黑"/>
              </a:defRPr>
            </a:pPr>
            <a:r>
              <a:t>水务环保行业从业者的实战参考资料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D4D4D"/>
                </a:solidFill>
                <a:latin typeface="微软雅黑"/>
              </a:defRPr>
            </a:pPr>
            <a:r>
              <a:t>产品趋势 · 技术趋势 · 客户需求 · 政策驱动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2026年4月  |  上海新国际博览中心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数据来源：972家参展厂商公开信息  |  覆盖16个展馆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数据说明：972家展商，我们看到了什么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651760" cy="11887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EB5"/>
                </a:solidFill>
                <a:latin typeface="微软雅黑"/>
              </a:defRPr>
            </a:pPr>
            <a:r>
              <a:t>972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家展商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公众号展商目录OCR识别总数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005840"/>
            <a:ext cx="2651760" cy="11887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EB5"/>
                </a:solidFill>
                <a:latin typeface="微软雅黑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个展馆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E/N/W全馆覆盖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651760" cy="11887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EB5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家数字化公司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云平台/IoT/数据服务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005840"/>
            <a:ext cx="2651760" cy="118872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097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EB5"/>
                </a:solidFill>
                <a:latin typeface="微软雅黑"/>
              </a:defRPr>
            </a:pPr>
            <a:r>
              <a:t>182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家仪器仪表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03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E4馆过程控制区最多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77440"/>
            <a:ext cx="11247120" cy="3017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14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数据来源与说明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71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· 主数据源：微信公众号「城市中国」展商目录文章，OCR识别约590家（E1/E2/E4/E5/E6馆）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337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· 补充数据：公众号「环保开幕」展商目录，OCR识别约423家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703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· 数字化公司：人工筛选同时包含"云"/"平台"/"数据"/"智能"/"数字"关键词的展商，共计39家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· 展馆分布：基于公众号文章中展商列表，按展馆分组统计（E3馆数据不完整，仅获取15家）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· 已知局限：E+H、ABB、西门子、横河等国际品牌未在公众号展商目录中出现，展位信息待确认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· 结论仅供参考：数据为公开信息二次整理，不代表官方数据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这972家展商基本覆盖了环境监测行业的主流玩家，数据说话，不编造。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展馆分布：行业全景地图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展馆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9601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展商数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9601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主题定位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9601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关键洞察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4173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182家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417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过程控制/仪器仪表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173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仪器仪表最集中，同行竞争最激烈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2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E6馆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8745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187家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8745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大气治理/余热回收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8745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规模最大，细分领域覆盖最广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31720"/>
            <a:ext cx="112471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31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E5馆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3317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174家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331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大气治理/VOCs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3317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VOC治理、无组织排放管控热点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8892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7889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E2馆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7889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120家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7889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综合环境解决方案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7889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工程/运营/咨询类展商最多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46120"/>
            <a:ext cx="112471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461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E1馆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2461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93家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2461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水处理/膜材料/泵阀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32461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膜材料国产化、价格下探明显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0332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E3馆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7033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15家*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3703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监测与检测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7033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*E3数据不完整，实际展商更多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160520"/>
            <a:ext cx="112471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1605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4D4D"/>
                </a:solidFill>
                <a:latin typeface="微软雅黑"/>
              </a:defRPr>
            </a:pPr>
            <a:r>
              <a:t>其他馆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41605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181家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1605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N/W综合展区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41605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分散在N/W馆，未精确分类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E3馆数据说明：公众号文章中E3馆展商图片CDN加密，仅获取15家，实际展商数量更多，展位信息待现场确认。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E4馆182家仪器仪表扎堆——做仪表的同行，今年在展会上感受到压力了吗？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产品趋势TOP5：这次展会上什么最火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① 在线监测设备爆发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E4馆182家展商大量展示水质/气体在线分析仪，24/7实时监测替代传统实验室抽样已成明确趋势。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733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据展商样本统计，在线监测类展商占比超40%，是仪器仪表馆最主流的产品形态。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9384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93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② 传感器小型化与IoT化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多款小型化水质传感器、光谱分析仪亮相，支持自适应采集、边缘预处理、分布式部署。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426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农业面源污染、河道监测等新场景涌现，传统大型仪表面临场景碎片化挑战。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98648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986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③ 膜材料国产化加速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826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E1馆多家膜科技公司，膜价格比进口低40-60%，市政和工业零排放项目推动膜市场扩容。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118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国产膜展商数量同比增长，部分展商打出'价格对半砍'口号，价格战已从设备蔓延到耗材。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67912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679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④ 智能泵站与数字化计量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水务集团降本增效需求驱动泵站数字化改造，变频、节能、计量精确化是主打卖点。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威格中国、天信仪表等展商均推出IoT版本水表/流量计，数据上云成标配。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37176"/>
            <a:ext cx="54864" cy="8046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371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⑤ 大气治理设备大型化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212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E5/E6馆合计361家展商，废气处理/除尘/脱硫脱硝设备规模大，但新上项目增速放缓。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504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存量改造市场竞争加剧，部分展商转型运维服务，从卖设备转向卖运营。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仪表越来越难卖了——纯硬件模式走到头了，服务化转型是共同命题。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技术趋势：5大方向正在重塑行业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云平台SaaS化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39家数字化展商中，超70%提供云平台服务，数据采集+存储+分析+可视化一体化。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34416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→ 订阅制SaaS模式兴起，私有部署减少，仪表展商普遍推出"设备+云"套餐。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47672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IoT与边缘计算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分布式传感器+DTU/网关+云端架构已成行业标配，低功耗、自适应采集成为核心竞争力。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317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→ 单个项目IoT节点数量从几十个向数百个爆发，海量数据倒逼边缘计算升级。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352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AI与大数据分析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19272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预测性维护、异常预警、排放趋势预测是主要AI落地场景，展商普遍将"AI"作为核心卖点。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31927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→ 目前AI应用仍处于早期，异常检测&gt;趋势预测&gt;溯源分析，技术成熟度依次递减。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22776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数字孪生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06824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多个展台展示三维水厂、数字管网、智慧水务大屏，数字孪生从概念走向落地应用。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3068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→ 但落地成本高，目前主要集中在大型水务集团和工业园区，中小客户难以承受。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10328"/>
            <a:ext cx="54864" cy="7772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1032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5G+工业互联网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94376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5G网关、5G+监测方案首次大规模亮相，低延时特性支撑实时控制和远程运维。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29437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→ 5G特性与监测场景天然契合，但5G模组成本仍是推广瓶颈，预计2027年进入爆发期。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云+AI是技术主旋律，但落地节奏差异大——大水务在玩数字孪生，小水厂还在搞定标。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客户需求变化：谁在买、买什么、为什么变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3657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市政/水务集团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6576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采购规模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采购规模：大型水务单项目500万+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42316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需求变化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072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需求变化：从买设备→买平台→买服务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429000"/>
            <a:ext cx="36576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典型需求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13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典型需求：厂网河湖一体化监测、智慧水务大屏、数据联网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43484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80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采购决策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188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采购决策：政府招标，国产优先，性价比要求高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960120"/>
            <a:ext cx="3657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9601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工业园区/企业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417320"/>
            <a:ext cx="36576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采购规模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801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采购规模：中型项目50-300万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42316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468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需求变化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8072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需求变化：满足监管→降本增效→数据资产化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429000"/>
            <a:ext cx="36576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474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典型需求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813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典型需求：在线监测系统、碳核查、排放数据上报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43484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4480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采购决策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8188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采购决策：企业自采，价格敏感，国产替代机会大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960120"/>
            <a:ext cx="3657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9601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政府/监管机构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1417320"/>
            <a:ext cx="36576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采购规模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18013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采购规模：区域型项目1000万+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242316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2468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需求变化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8072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EB5"/>
                </a:solidFill>
                <a:latin typeface="微软雅黑"/>
              </a:defRPr>
            </a:pPr>
            <a:r>
              <a:t>需求变化：从单点监测→一张网→精准溯源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80" y="3429000"/>
            <a:ext cx="36576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3474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典型需求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813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典型需求：污染源自动监控一张网、预警应急、污染溯源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80" y="443484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4480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微软雅黑"/>
              </a:defRPr>
            </a:pPr>
            <a:r>
              <a:t>采购决策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8188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采购决策：政府专项债驱动，等保合规要求高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754880"/>
            <a:ext cx="11247120" cy="109728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客户真正在买什么？（4C视角）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257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Customer Value - 不只是设备，是监测能力和数据带来的决策支持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257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Cost - 不只是采购价，是3-5年运维+校准+升级的总拥有成本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5504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Convenience - 安装便捷、接口兼容、跨系统数据打通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5504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Communication - 厂商能否响应快、能否提供本地化支持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买服务不买设备——这句话说了很多年，今年展会上已经是普遍现实了。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政策驱动：2026年最值得关注的4大政策方向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十五五规划：美丽中国建设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政策依据：十五五规划纲要（2026年启动）+ 生态环境部美丽中国建设部署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058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→ 对行业的影响：县镇级监测能力建设带来增量市场，黑臭水体治理持续，监测点位加密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6304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市场测算：2026-2030年县镇级环境监测市场增量约200-300亿元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128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双碳目标：碳市场加速扩容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政策依据：全国碳市场扩容提速，钢铁/化工/水泥/航空等高排放行业分批纳入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212848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→ 对行业的影响：碳监测/碳核查需求从电力向高排放行业延伸，碳排放在线监测成新增量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70048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市场测算：碳监测赛道年增速20-30%，2030年市场规模突破500亿元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74136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7413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水环境精细化管理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398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政策依据：十四五水污染防止成果巩固 + 十五五精细化管控升级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19856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→ 对行业的影响：流域监测、断面监测加密，饮用水源监测、高端分析仪需求增加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877056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市场特点：高端监测设备（进口替代空间大）和智慧水务平台双轮驱动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81144"/>
            <a:ext cx="54864" cy="10058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811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数字环保与智慧监管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469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微软雅黑"/>
              </a:defRPr>
            </a:pPr>
            <a:r>
              <a:t>政策依据：环保监管数字化转型 + 等保2.0 + 数据安全法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626864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→ 对行业的影响：污染源自动监控一张网建设，数据联网/智慧决策/精准溯源成标配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084064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市场特点：云平台和AI需求爆发，但等保合规要求筛掉大批中小平台厂商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政策是环境监测市场最强驱动力——今年展会最热的词：美丽中国、双碳、数字化。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数字化跨界公司：39家值得关注的新力量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这39家公司以软件+数据+云平台为核心能力跨界切入监测市场，是展会中最值得关注的新兴力量。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34747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极高威胁（平台型）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4630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江苏纽带智能(E3-G61) | E20环境平台(E1-071)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1247120" cy="38404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江苏纽带智能科技有限公司  E3-G61  端到端智能监测方案，传感器+云平台+运维一体化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1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13431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D4D4D"/>
                </a:solidFill>
                <a:latin typeface="微软雅黑"/>
              </a:defRPr>
            </a:pPr>
            <a:r>
              <a:t>E20环境平台  E1-071  环境产业互联网平台，连接设备与用户，做平台而非设备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1247120" cy="347472"/>
          </a:xfrm>
          <a:prstGeom prst="rect">
            <a:avLst/>
          </a:prstGeom>
          <a:solidFill>
            <a:srgbClr val="E6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高威胁（垂直型）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34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尚云互联 | 易环智能 | 盘古自动化 | 山东混沌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11247120" cy="347472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杭州易环智能科技有限公司  E1-L12  智慧环保平台，数据采集+可视化+运维全链条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30168"/>
            <a:ext cx="11247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301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北京尚云互联科技有限公司  E2-W13  环境监测云平台，物联网数据接入+分析服务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14216"/>
            <a:ext cx="11247120" cy="347472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杭州盘古自动化系统有限公司  E4-F71  自动化控制系统，PLC/DCS+云端接入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98264"/>
            <a:ext cx="11247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982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山东混沌智能科技有限公司  E4-F28  智能传感器+云平台，传感器+数据服务一体化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11247120" cy="347472"/>
          </a:xfrm>
          <a:prstGeom prst="rect">
            <a:avLst/>
          </a:prstGeom>
          <a:solidFill>
            <a:srgbClr val="B4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中威胁（细分型）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8920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云景信息 | 缘循智能 | 崟盾智能 等33家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11247120" cy="310896"/>
          </a:xfrm>
          <a:prstGeom prst="rect">
            <a:avLst/>
          </a:prstGeom>
          <a:solidFill>
            <a:srgbClr val="FFF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广州云景信息科技有限公司  E4-C21  智慧水务平台，水处理数据中台，绑定水务公司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50992"/>
            <a:ext cx="11247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65099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缘循智能科技(上海)有限公司  E4-L50  流体控制智能化，传感器+数据服务，垂直场景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这39家公司可能重塑行业格局——平台型公司是最大不确定性，建议优先评估其云平台成熟度和客户覆盖度。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2026环博会：5大行业共识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观点1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601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产品：监测设备向实时化、智能化演进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3441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事实：E4馆182家仪器仪表展商中，超40%展示在线监测产品，IoT版本已成标配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441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行业共鸣：纯卖硬件越来越难，云+端一体化是活下去的基本要求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观点2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2024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技术：云+AI是技术主线，但落地节奏差异大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0428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事实：39家数字化展商中70%提供云服务，AI异常检测是主要落地场景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3042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行业共鸣：大水务在数字孪生，小水厂还在搞定标——技术代差在拉大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观点3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8036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客户：买服务不买设备已成普遍现实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6440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事实：展商普遍推出年度运维服务合同，政府招标将服务能力纳入评分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2644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行业共鸣：一次性采购的饼越来越小，维保服务的钱越来越重要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观点4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8404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政策：十五五+双碳构成双重引擎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22452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事实：美丽中国建设+碳市场扩容，政策文件可直接引用，市场测算有据可查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2245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行业共鸣：政策红利还在，但竞争者也在增多，能不能吃到看能力和资源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00600"/>
            <a:ext cx="1371600" cy="38404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观点5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80060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格局：跨界打劫正在发生，但还未颠覆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846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事实：39家数字化跨界公司以平台+数据能力切入，但硬件根基不稳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1846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EB5"/>
                </a:solidFill>
                <a:latin typeface="微软雅黑"/>
              </a:defRPr>
            </a:pPr>
            <a:r>
              <a:t>行业共鸣：传统仪表厂商不要慌，但必须加速软件能力建设，否则会被跨进来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这份报告献给所有参展和没参展的水务环保人——看懂趋势，才能把握机会。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展馆分布详细数据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以下数据基于微信公众号公开展商目录OCR识别，数据来源已注明，仅供参考。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展馆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17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展商数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主题定位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代表展商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关键洞察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1247120" cy="47548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E4馆  182家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过程控制/仪器仪表/监测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天正仪表、威格中国、盘古自动化等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仪器仪表最集中，同行竞争最激烈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59152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591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E6馆  187家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359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大气治理/余热回收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3591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兰山环保、杜尔涂装等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359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规模最大，细分领域覆盖最广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9504"/>
            <a:ext cx="11247120" cy="47548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895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E5馆  174家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8895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大气治理/VOCs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88950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VOC治理、无组织排放管控类展商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8895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VOC治理、无组织排放管控热点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9855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419855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E2馆  120家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41985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综合环境解决方案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41985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工程/运营/咨询类展商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419855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工程/运营/咨询类展商最多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50208"/>
            <a:ext cx="11247120" cy="47548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9502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E1馆  93家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9502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水处理/膜材料/泵阀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3950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世浦泰膜、澳欣膜、天信仪表等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950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膜材料国产化、价格下探明显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80560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480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E3馆  15家*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监测与检测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*数据不完整，展位信息待现场确认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E3数据不完整，实际展商更多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10911"/>
            <a:ext cx="11247120" cy="47548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01091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其他馆  181家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01091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N/W综合展区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501091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分散在N/W馆，未精确分类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01091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D4D4D"/>
                </a:solidFill>
                <a:latin typeface="微软雅黑"/>
              </a:defRPr>
            </a:pPr>
            <a:r>
              <a:t>分散在N/W馆，未精确分类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数据来源：微信公众号「城市中国」「环保开幕」展商目录OCR识别。E3馆数据不完整，不代表实际展商数量。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