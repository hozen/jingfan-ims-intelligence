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E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2026环博会市场观察报告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水务环保行业从业者的实战参考资料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产品趋势 · 技术趋势 · 客户需求 · 政策驱动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  |  上海新国际博览中心  |  第27届上海国际环博会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展商样本交叉验证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官方数据：1,987家展商告诉我们什么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公众号样本交叉验证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数据来源：第27届上海国际环博会官方发布（2026.04.15）；样本校验：微信公众号「城市中国」「环保开幕」OCR识别展商样本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659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965960" cy="5486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1,987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家参展企业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来自20个国家和地区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名专业观众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来自119个国家和地区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17万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平方米展示面积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15个展馆启用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0372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国际观众增幅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连续两年超30%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1097280" cy="29260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747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规模超预期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45920" y="34747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实际1,987家 vs 预期近2,000家，基本符合；15馆启用 vs 上年略有收缩，说明行业整体规模趋稳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1097280" cy="29260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862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国际化加速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45920" y="38862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119国观众 + 7国家展团 + 35个国际采购团，国际观众连续两年增幅超30%，出海是真实机会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1097280" cy="29260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97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智能化主线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45920" y="42976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官方主题"百国共襄 智能引领"，AI+环保融合已成行业共识，非概念而是落地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展馆分布：行业全景地图（官方版）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数据来源：官方展馆数据 + 公众号样本交叉验证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E4/E6/E5/E2/E1数据来源：官方发布；E3馆约200家展商，官方未公开完整数据，展位号来自展商整理（微信搜索2026环博会展商名单公众号文章）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过程控制/仪器仪表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仪器仪表最集中，同行竞争最激烈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23444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E6馆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187家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大气治理/余热回收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规模最大，细分领域覆盖最广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23444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E5馆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大气治理/VOCs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VOC治理、无组织排放管控热点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65176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65176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120家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综合环境解决方案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364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工程/运营/咨询类展商最多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265176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65176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2336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93家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38328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水处理/膜材料/泵阀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3364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膜材料国产化、价格下探明显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265176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651760"/>
            <a:ext cx="640080" cy="3200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~200家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1792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监测与检测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3364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水质监测企业最集中；官方未公开完整数据，本列表来自展商自己整理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波特五力分析：行业竞争格局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数据来源：基于展馆分布数据推断 + 公开政策文件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有数据支撑的推断；★★ = 行业共识推断；★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188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行业内现有竞争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E4馆182家仪器仪表扎堆；价格战已从设备蔓延到耗材（膜价格低40-60%）；纯硬件模式越来越难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92440" y="1188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展商分布数据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新进入者威胁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39家数字化公司跨界切入（云平台+数据+IoT）；软件能力强的跨界者正在重新定义竞争规则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92440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展商分类数据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上游议价能力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传感器/芯片国产化提升，但高端传感器仍依赖进口；传感器价格下探有助于降低仪表成本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行业趋势推断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83280"/>
            <a:ext cx="54864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下游议价能力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3383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水务集团/市政采购：政府招标、国产优先、性价比要求高；买方高度集中且信息化程度提升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92440" y="3383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政策导向+采购模式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替代品威胁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91840" y="4114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在线监测替代传统实验室抽样（趋势明确）；但高端检测仍需实验室，替代速度中等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92440" y="4114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技术趋势推断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行业价值链：从研发到服务的利润迁移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数据来源：基于展商样本类型分布推断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有展商数据支撑；★★ = 行业共识推断；★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1554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核心零部件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传感器/芯片/膜材料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传感器国产替代中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高端仍依赖进口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109728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76272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76272" y="1234440"/>
            <a:ext cx="1554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8" name="Text 16"/>
          <p:cNvSpPr/>
          <p:nvPr/>
        </p:nvSpPr>
        <p:spPr>
          <a:xfrm>
            <a:off x="2176272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49424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仪器仪表制造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9424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水质/气体分析仪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9424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E4馆182家扎堆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价格战激烈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04872" y="3200400"/>
            <a:ext cx="109728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2404872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30752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95344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1234440"/>
            <a:ext cx="1554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7" name="Text 25"/>
          <p:cNvSpPr/>
          <p:nvPr/>
        </p:nvSpPr>
        <p:spPr>
          <a:xfrm>
            <a:off x="3895344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68496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68496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IoT方案/边缘计算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68496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跨界进入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23944" y="3200400"/>
            <a:ext cx="109728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32" name="Text 30"/>
          <p:cNvSpPr/>
          <p:nvPr/>
        </p:nvSpPr>
        <p:spPr>
          <a:xfrm>
            <a:off x="4123944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49824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14416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14416" y="1234440"/>
            <a:ext cx="1554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6" name="Text 34"/>
          <p:cNvSpPr/>
          <p:nvPr/>
        </p:nvSpPr>
        <p:spPr>
          <a:xfrm>
            <a:off x="5614416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87568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软件平台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87568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SaaS云平台/AI分析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87568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70%数字化展商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提供云服务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43016" y="3200400"/>
            <a:ext cx="109728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1" name="Text 39"/>
          <p:cNvSpPr/>
          <p:nvPr/>
        </p:nvSpPr>
        <p:spPr>
          <a:xfrm>
            <a:off x="5843016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68896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333488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33488" y="1234440"/>
            <a:ext cx="1554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5" name="Text 43"/>
          <p:cNvSpPr/>
          <p:nvPr/>
        </p:nvSpPr>
        <p:spPr>
          <a:xfrm>
            <a:off x="7333488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06640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运维服务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406640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校准/运维/运营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06640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卖设备→卖服务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已成普遍现实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62088" y="3200400"/>
            <a:ext cx="109728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50" name="Text 48"/>
          <p:cNvSpPr/>
          <p:nvPr/>
        </p:nvSpPr>
        <p:spPr>
          <a:xfrm>
            <a:off x="7562088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高且稳定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3703320"/>
            <a:ext cx="8549640" cy="82296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价值链洞察：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4360" y="4069080"/>
            <a:ext cx="8275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利润正从仪器仪表制造向软件平台和运维服务迁移。纯硬件销售利润空间持续收窄，"设备+云+服务"一体化模式是抵御价格战的关键路径。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3C战略分析：Hach的机会与挑战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数据来源：展商数据 + 公开新闻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事实；★★ = 有依据的推断；★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市场地位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荣膺2026 IE环博奖年度领军企业（官方认证）★★★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523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20年本土研发积累 + Veralto集团平台 + 水质监测全品类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552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战略挑战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4655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纯硬件模式承压；数字化/AI能力需加速补齐；服务占比偏低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2277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684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参展动作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178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E3-C12展位 + 研发20周年庆典 + 七大行业解决方案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Competitors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1783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国内创新者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智易时代：AI算法+巡检机器人★AI创新奖；聚光/谱育：环博奖双料★年度领军+出海先锋；格林凯瑞：水质预制试剂新品；诺方：0.1μm颗粒计数器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49631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平台型跨界者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7523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江苏纽带智能(E3-G61)：传感器+云平台+运维一体化；淳业科技(E3-C98)：水质监测全系列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209544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2552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4655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雷磁(E3-D22，86年积累)、深昌鸿(E75)、虹润：价格低40-60%，满足国产优先政策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92277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9684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国际品牌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4178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E+H、西门子、横河等：官方目录未见；实际参展情况待现场确认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26480" y="1783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市政水务集团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买设备→买平台→买服务；国产优先；单项目500万+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49631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27523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满足监管→降本增效→数据资产化；国产替代机会大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3209544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2552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政府监管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4655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一张网+精准溯源；等保合规；区域型项目1000万+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392277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9684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采购决策变化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4178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不只是采购价，是3-5年运维+校准+升级总拥有成本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PESTEL政策分析：2026年最值得关注的政策方向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数据来源：公开政策文件 + 政府工作报告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数据来源：十五五规划纲要（2026年启动）；全国两会政府工作报告2026；生态环境部公开文件；碳市场扩容政策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政治/Policy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十五五规划开局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856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美丽中国建设部署，县镇级监测能力建设带来增量市场，黑臭水体治理持续，监测点位加密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267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政府招标国产优先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国产化率要求提升，外资品牌进入采购名单门槛提高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188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188720"/>
            <a:ext cx="411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4904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经济/Economic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双碳目标推进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856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碳市场扩容提速，钢铁/化工/水泥/航空等高排放行业分批纳入，碳监测成新增量赛道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267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水务集团降本增效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地方财政压力下，水务集团降本需求强烈，价格敏感度提升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188720"/>
            <a:ext cx="41148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836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社会/Social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公众环保意识提升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856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环境数据公开需求增加，舆情监督倒逼企业监测升级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267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监测从业人员结构变化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数字化技能需求增加，传统运维人员面临转型压力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1440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技术/Technological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520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AI+IoT加速融合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数字孪生、预测性维护、异常预警技术成熟度提升，从概念走向落地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142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5G模组成本下降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3525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5G+工业互联网预计2027年进入爆发期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3063240"/>
            <a:ext cx="411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74904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环境/Environmental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83280" y="3520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水环境精细化管理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流域监测、断面监测加密，饮用水源监测需求增加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83280" y="4142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大气治理持续高压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83280" y="43525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VOC无组织排放管控趋严，监测密度要求提升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3063240"/>
            <a:ext cx="41148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9" name="Text 47"/>
          <p:cNvSpPr/>
          <p:nvPr/>
        </p:nvSpPr>
        <p:spPr>
          <a:xfrm>
            <a:off x="612648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58368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法律/Legal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17920" y="3520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等保2.0+数据安全法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1792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数据联网合规要求筛掉大批中小平台厂商，利好头部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17920" y="4142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碳核查法制化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17920" y="43525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碳排放数据真实性要求提高，第三方监测市场扩容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技术趋势TOP5：这次展会上什么最火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数据来源：展商样本分析 + 官方展会主题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数据来源：公众号展商目录样本分析；推断结论标注置信度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549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在线监测设备爆发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1536192"/>
            <a:ext cx="36576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5361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2344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E4馆182家展商中超40%展示在线监测产品，24/7实时监测替代传统实验室抽样已成明确趋势。云+端一体化是活下去的基本要求。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01952"/>
            <a:ext cx="854964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01952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947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传感器小型化与IoT化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2249424"/>
            <a:ext cx="36576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2494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94767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多款小型化水质传感器，光谱分析仪亮相，支持自适应采集、边缘预处理、分布式部署。农业面源污染、河道监测等新场景涌现。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15184"/>
            <a:ext cx="8549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15184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660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AI与大数据分析落地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2962656"/>
            <a:ext cx="36576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29626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266090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预测性维护、异常预警、排放趋势预测是主要AI落地场景。异常检测&gt;趋势预测&gt;溯源分析，技术成熟度依次递减。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854964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28416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3741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数字孪生从概念走向落地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0120" y="3675888"/>
            <a:ext cx="36576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675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337413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多个展台展示三维水厂、智慧水务大屏，但落地成本高，目前主要集中在大型水务集团和工业园区。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41648"/>
            <a:ext cx="8549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041648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4087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60120" y="4389120"/>
            <a:ext cx="365760" cy="2560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43891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08736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5G网关、5G+监测方案首次大规模亮相，低延时特性支撑实时控制和远程运维。预计2027年进入爆发期。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AI分论坛核心结论：政府AI体系已成型，监测数据进入AI分析链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数据来源：2026中国环境技术大会AI×环保论坛（4月13-14日，环博会同期）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数据来源：2026中国环境技术大会AI×环保论坛（4月13-14日，上海）；腾讯元宝会议纪要（ID: ada69a26-45e4-4b8c-b92c-29e204aceeb4）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417320"/>
          </a:xfrm>
          <a:prstGeom prst="rect">
            <a:avLst/>
          </a:prstGeom>
          <a:solidFill>
            <a:srgbClr val="F0F5F9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生态环境部AI行动方案（核心政策信号）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成立AI工作专班，2026年38个应用场景落地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"山水大模型"统一入口：接入DeepSeek、讯飞等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700亿资源量环境知识库已建成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环评报告：30分钟生成 + 10分钟审批（全流程AI）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地下水污染报告智能生成：100+份规则模板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343400" cy="1417320"/>
          </a:xfrm>
          <a:prstGeom prst="rect">
            <a:avLst/>
          </a:prstGeom>
          <a:solidFill>
            <a:srgbClr val="F0F5F9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618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地下水AI监管实测数据（来自论坛案例）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5361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人工采样占比：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1536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99%（当前）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AI视频审核效率提升：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9385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采样合规率：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1938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98.9%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1396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后台专家人力减少：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2139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3408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单份报告处理时间：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2340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三大已落地AI应用场景（论坛实测案例）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6324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污染源数据异常智能诊断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3456432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4个AI专家智能体协同：数据预处理/诊断分析/结果解读/可视化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6类异常自动识别（数据缺失、高值突增、低值骤降等）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0" y="30632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3063240"/>
            <a:ext cx="2651760" cy="34747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湖库/河道AI智能识别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64992" y="3456432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多模态：无人机航拍+固定摄像头+卫星遥感；YOLOv8+大模型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某市河道违规行为识别准确率90%+；自动告警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30632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063240"/>
            <a:ext cx="2651760" cy="34747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污染溯源报告一键生成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9632" y="3456432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环境知识库+全域溯源知识图谱+大模型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自动生成：事件概况+溯源分析+处置建议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407408"/>
            <a:ext cx="854964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462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对Hach的直接影响：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663440"/>
            <a:ext cx="8366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环评AI审批落地（30分钟生成）→ 客户报告生成门槛降低，但数据合规性审核变严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监测数据直接进AI分析链 → 数据质量要求系统性提升，仪器精度是基础前提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报告自动生成已在土壤/地下水/环评落地 → 水质报告AI生成场景参照性强，机会窗口已开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地下水采样AI监管（视频+LLM审核）→ 采样规范性合规要求 → 硬件端需留有合规证据接口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客户需求变化：谁在买、买什么、为什么变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数据来源：展商反馈 + 政策文件 + 行业调研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数据来源：展商交流推断 + 政府招标文件分析 + 行业报告交叉验证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市政/水务集团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500万+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500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从买设备→买平台→买服务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986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081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厂网河湖一体化监测、智慧水务大屏、数据联网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472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630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国产优先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工业园区/企业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17830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50-300万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3317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3500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288036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8986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081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在线监测系统、碳核查、排放数据上报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42900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4472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3630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企业自采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价格敏感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政府/监管机构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26480" y="17830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1000万+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3317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3500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从单点监测→一张网→精准溯源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288036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28986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3081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污染源自动监控一张网、预警应急、污染溯源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42900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4472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0" y="3630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政府专项债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等保合规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023360"/>
            <a:ext cx="8549640" cy="777240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" y="4096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4C视角：客户真正在买什么？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" y="43525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Value（监测能力带来的决策支持） | Cost（3-5年总拥有成本） | Convenience（安装便捷、跨系统数据打通） | Communication（响应快、本地化支持）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竞争格局：39家数字化跨界公司值得重点关注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数据来源：公众号展商目录筛选，同时包含云/平台/数据/智能/数字关键词的展商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数据来源：微信公众号「城市中国」「环保开幕」展商目录，人工筛选数字化相关展商共39家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数字化跨界公司威胁分级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6517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26517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极高威胁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E20环境平台(E1-C71)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平台型：端到端智能监测，传感器+云平台+运维一体化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554480"/>
            <a:ext cx="26517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554480"/>
            <a:ext cx="265176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高威胁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尚云互联、易环智能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盘古自动化、智易时代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垂直型：智慧环保平台、自动化控制+AI算法；智易时代已获AI巡检机器人创新奖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6517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554480"/>
            <a:ext cx="265176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中威胁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云景信息、崟盾智能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缘循智能 等33家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细分型：智慧水务平台、流体控制智能化等垂直场景，绑定特定客户群体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549640" cy="777240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Hach战略定位建议：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352544"/>
            <a:ext cx="8275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39家公司可能重塑行业格局——平台型公司是最大不确定性。建议：①优先评估其云平台成熟度和客户覆盖度；②加速软件能力建设，从"设备供应商"转型"监测服务伙伴"；③与平台型公司探索合作而非对抗（数据接口+硬件互补）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2026环博会：5大行业共识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数据来源：展商行为分析 + 政策解读 + 行业交流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数据来源：基于展馆数据、展商展示内容、官方主题的综合推断；适合朋友圈分享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5496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98448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产品：监测设备向实时化、智能化演进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53619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E4馆182家仪器仪表展商中超40%展示在线监测产品，IoT版本已成标配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1261872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12801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纯卖硬件越来越难，云+端一体化是活下去的基本要求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54964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048256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1984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技术：云+AI是技术主线，但落地节奏差异大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2860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39家数字化展商中70%提供云服务，AI异常检测是主要落地场景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2011680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0299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大水务在数字孪生，小水厂还在搞定标——技术代差在拉大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88336"/>
            <a:ext cx="85496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798064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客户：买服务不买设备已成普遍现实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0358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展商普遍推出年度运维服务合同，政府招标将服务能力纳入评分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2761488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277977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一次性采购的饼越来越小，维保服务的钱越来越重要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38144"/>
            <a:ext cx="854964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547872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34838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政策：十五五+双碳构成双重引擎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378561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美丽中国建设+碳市场扩容，政策文件可直接引用，市场测算有据可查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20640" y="3511296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352958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政策红利还在，但竞争者也在增多，能不能吃到看能力和资源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187952"/>
            <a:ext cx="85496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" y="4233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格局：跨界打劫正在发生，但还未颠覆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3000" y="453542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39家数字化跨界公司以平台+数据能力切入，但硬件根基不稳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20640" y="4261104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9"/>
          <p:cNvSpPr/>
          <p:nvPr/>
        </p:nvSpPr>
        <p:spPr>
          <a:xfrm>
            <a:off x="5257800" y="42793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传统仪表厂商不要慌，但必须加速软件能力建设，否则会被跨进来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数据来源与说明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数据截至2026年4月15日展会闭幕；结论仅供参考，不构成投资建议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第27届上海国际环博会官方发布（2026.04.15）：1,987家展商、82,419名观众、17万平米、15馆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官方展会主题：百国共襄 智能引领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295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下一届：第28届上海环博会 2027年4月20-22日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8872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展商数据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600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主数据源：微信公众号「城市中国」「环保开幕」展商目录，OCR识别E1/E2/E4/E5/E6馆展商样本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0" y="19476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E3馆：约200家，来自展商整理（微信搜索2026环博会展商名单公众号文章），展位号完整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83280" y="2295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数字化公司：同时包含云/平台/数据/智能/数字关键词，共计39家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8872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政策数据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十五五规划纲要（2026年启动）——美丽中国建设部署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19476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全国两会政府工作报告2026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2295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生态环境部公开文件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2608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E3馆部分重点展商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哈希(E3-C12★年度领军)、聚光/谱育(★双奖年度领军+出海先锋)、智易时代(E3-D19/C20★机器人奖)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36850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格林凯瑞(E3-B42)、诺方(E3-B79)、深昌鸿(E3-E75)、淳业(E3-C98)、雷磁(E3-D22)、迪特西(E3-C39)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40325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沃德精准(E3-E3L-20)、莱特莱德(E3-A38)、虹润、皖仪(★成长先锋)、源易测、国林科技、纽带智能(E3-G61)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43799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★=2026 IE环博奖得主；E3馆约200家，完整名录来自展商整理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91840" y="29260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92608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论坛数据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3337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2026中国环境技术大会AI×环保论坛（4月13-14日，上海），腾讯元宝会议纪要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83280" y="36850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演讲嘉宾：生态环境部技术专家、赵总（水环境AI）、陈荣研究员（AI驱动环境监管数字化）、高松教授（VOC与大气AI感知）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2026环博会市场观察报告</dc:title>
  <dc:subject>PptxGenJS Presentation</dc:subject>
  <dc:creator>Hach中国IMS产品线</dc:creator>
  <cp:lastModifiedBy>Hach中国IMS产品线</cp:lastModifiedBy>
  <cp:revision>1</cp:revision>
  <dcterms:created xsi:type="dcterms:W3CDTF">2026-04-19T03:59:07Z</dcterms:created>
  <dcterms:modified xsi:type="dcterms:W3CDTF">2026-04-19T03:59:07Z</dcterms:modified>
</cp:coreProperties>
</file>