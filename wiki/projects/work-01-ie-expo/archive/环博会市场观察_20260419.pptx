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2026环博会市场观察报告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水务环保行业从业者的实战参考资料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产品趋势 · 技术趋势 · 客户需求 · 政策驱动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 |  上海新国际博览中心  |  第27届上海国际环博会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展商样本交叉验证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本报告内容由AI辅助生成，仅供参考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官方数据：1,987家展商告诉我们什么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公众号样本交叉验证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数据来源：第27届上海国际环博会官方发布（2026.04.15）；样本校验：微信公众号「城市中国」「环保开幕」OCR识别展商样本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965960" cy="5486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1,987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家参展企业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来自20个国家和地区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名专业观众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来自119个国家和地区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17万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平方米展示面积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15个展馆启用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国际观众增幅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连续两年超30%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10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规模超预期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3101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实际1,987家 vs 预期近2,000家，基本符合；15馆启用 vs 上年略有收缩，说明行业整体规模趋稳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国际化加速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36941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119国观众 + 7国家展团 + 35个国际采购团，国际观众连续两年增幅超30%，出海是真实机会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智能化主线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54480" y="407822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官方主题"百国共襄 智能引领"，AI+环保融合已成行业共识，非概念而是落地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展馆分布：行业全景地图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数据来源：官方展馆数据 + 公众号样本交叉验证；E1馆数据来自用户发送展商截图OCR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E1数据：用户发送截图OCR，77家已识别；E3馆约200家，官方未公开完整数据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过程控制/仪器仪表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仪器仪表最集中，同行竞争最激烈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170432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大气治理/余热回收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规模最大，细分领域覆盖最广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170432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971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963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大气治理/VOCs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VOC治理、无组织排放管控热点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560320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综合环境解决方案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工程/运营/咨询类展商最多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560320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0507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93家（77家已识别）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水处理/膜材料/泵阀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膜材料国产化价格下探明显；赛莱默、威立雅等国际品牌在列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560320"/>
            <a:ext cx="621792" cy="31089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3971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9963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监测与检测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963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水质监测企业最集中；E3-C12=哈希(C12)，E3-B42=格林凯瑞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波特五力分析：行业竞争格局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数据来源：基于展馆分布数据推断 + 公开政策文件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有数据支撑的推断；★★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行业内现有竞争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1430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E4馆182家仪器仪表扎堆；价格战已从设备蔓延到耗材（膜价格低40-60%）；纯硬件模式越来越难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11430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56232"/>
            <a:ext cx="530352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562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18562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185623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39家数字化公司跨界切入（云平台+数据+IoT）；软件能力强的跨界者正在重新定义竞争规则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185623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69464"/>
            <a:ext cx="530352" cy="5303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694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569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上游议价能力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56946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传感器/芯片国产化提升，但高端传感器仍依赖进口；传感器价格下探有助于降低仪表成本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18120" y="256946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行业趋势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82696"/>
            <a:ext cx="5303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82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2826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下游议价能力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28269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水务集团/市政采购：政府招标、国产优先、性价比要求高；买方高度集中且信息化程度提升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8120" y="328269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政策+采购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995928"/>
            <a:ext cx="530352" cy="5303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95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5568" y="3995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39959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在线监测替代传统实验室抽样（趋势明确）；但高端检测仍需实验室，替代速度中等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18120" y="39959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技术趋势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行业价值链：从研发到服务的利润迁移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数据来源：基于展商样本类型分布推断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有展商数据支撑；★★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传感器/芯片/膜材料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传感器国产替代中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高端仍依赖进口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76272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1188720"/>
            <a:ext cx="1554480" cy="4023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2176272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31136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仪器仪表制造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31136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水质/气体分析仪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31136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E4馆182家扎堆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价格战激烈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95728" y="3090672"/>
            <a:ext cx="1115568" cy="2468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2395728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30752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95344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1188720"/>
            <a:ext cx="1554480" cy="4023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3895344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50208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50208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IoT方案/边缘计算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50208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跨界进入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3090672"/>
            <a:ext cx="1115568" cy="2468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9824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14416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6" name="Text 34"/>
          <p:cNvSpPr/>
          <p:nvPr/>
        </p:nvSpPr>
        <p:spPr>
          <a:xfrm>
            <a:off x="5614416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69280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软件平台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SaaS云平台/AI分析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70%数字化展商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提供云服务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33872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1" name="Text 39"/>
          <p:cNvSpPr/>
          <p:nvPr/>
        </p:nvSpPr>
        <p:spPr>
          <a:xfrm>
            <a:off x="5833872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68896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33488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5" name="Text 43"/>
          <p:cNvSpPr/>
          <p:nvPr/>
        </p:nvSpPr>
        <p:spPr>
          <a:xfrm>
            <a:off x="7333488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88352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88352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校准/运维/运营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88352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卖设备→卖服务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已成普遍现实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52944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50" name="Text 48"/>
          <p:cNvSpPr/>
          <p:nvPr/>
        </p:nvSpPr>
        <p:spPr>
          <a:xfrm>
            <a:off x="7552944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高且稳定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657600"/>
            <a:ext cx="8549640" cy="80467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3749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价值链洞察：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" y="4023360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利润正从仪器仪表制造向软件平台和运维服务迁移。纯硬件销售利润空间持续收窄，"设备+云+服务"一体化模式是抵御价格战的关键路径。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3C战略分析：Hach的机会与挑战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数据来源：展商数据 + 公开新闻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事实；★★ = 有依据的推断；★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荣膺2026 IE环博奖年度领军企业（官方认证）★★★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20年本土研发积累 + Veralto集团平台 + 水质监测全品类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战略挑战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纯硬件模式承压；数字化/AI能力需加速补齐；服务占比偏低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参展动作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E3-C12展位 + 研发20周年庆典 + 七大行业解决方案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国内创新者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智易时代：AI算法+巡检机器人★AI创新奖；聚光/谱育：环博奖双料★年度领军+出海先锋；格林凯瑞：水质预制试剂新品；诺方：0.1μm颗粒计数器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平台型跨界者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江苏纽带智能(E3-G61)：传感器+云平台+运维一体化；淳业科技(E3-C98)：水质监测全系列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雷磁(E3-D22，86年积累)、深昌鸿(E75)、虹润：价格低40-60%，满足国产优先政策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国际品牌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赛莱默(Xylem)：E1馆，POM+臭氧新品；威立雅：E1馆人形机器人+AI降碳；恩德斯豪斯(EH)：全球客户论坛在瑞士，环博会未见大动作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市政水务集团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买设备→买平台→买服务；国产优先；单项目500万+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满足监管→降本增效→数据资产化；国产替代机会大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一张网+精准溯源；等保合规；区域型项目1000万+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采购决策变化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不只是采购价，是3-5年运维+校准+升级总拥有成本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PESTEL政策分析：2026年最值得关注的政策方向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数据来源：公开政策文件 + 政府工作报告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数据来源：十五五规划纲要（2026年启动）；全国两会政府工作报告2026；生态环境部公开文件；碳市场扩容政策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政治/Policy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十五五规划开局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美丽中国建设部署，县镇级监测能力建设带来增量市场，黑臭水体治理持续，监测点位加密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政府招标国产优先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国产化率要求提升，外资品牌进入采购名单门槛提高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43000"/>
            <a:ext cx="384048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3075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经济/Economic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双碳目标推进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碳市场扩容提速，钢铁/化工/水泥/航空等高排放行业分批纳入，碳监测成新增量赛道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水务集团降本增效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地方财政压力下，水务集团降本需求强烈，价格敏感度提升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143000"/>
            <a:ext cx="384048" cy="38404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539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社会/Social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公众环保意识提升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环境数据公开需求增加，舆情监督倒逼企业监测升级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监测从业人员结构变化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数字化技能需求增加，传统运维人员面临转型压力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611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技术/Technological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AI+IoT加速融合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数字孪生、预测性维护、异常预警技术成熟度提升，从概念走向落地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5G模组成本下降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5G+工业互联网预计2027年进入爆发期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990088"/>
            <a:ext cx="384048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3075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环境/Environmental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6499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水环境精细化管理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6499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流域监测、断面监测加密，饮用水源监测需求增加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6499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大气治理持续高压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6499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VOC无组织排放管控趋严，监测密度要求提升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990088"/>
            <a:ext cx="384048" cy="38404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56539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法律/Legal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等保2.0+数据安全法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963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数据联网合规要求筛掉大批中小平台厂商，利好头部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963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碳核查法制化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9963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碳排放数据真实性要求提高，第三方监测市场扩容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技术趋势TOP5：这次展会上什么最火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数据来源：展商样本分析 + 官方展会主题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数据来源：公众号展商目录样本分析；推断结论标注置信度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43000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1795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在线监测设备爆发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481328"/>
            <a:ext cx="347472" cy="22860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8132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17957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E4馆182家展商中超40%展示在线监测产品，24/7实时监测替代传统实验室抽样已成明确趋势。云+端一体化是活下去的基本要求。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37944"/>
            <a:ext cx="854964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37944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传感器小型化与IoT化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176272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762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8745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多款小型化水质传感器，光谱分析仪亮相，支持自适应采集、边缘预处理、分布式部署。农业面源污染、河道监测等新场景涌现。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32888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32888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25694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AI与大数据分析落地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2871216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871216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256946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预测性维护、异常预警、排放趋势预测是主要AI落地场景。异常检测&gt;趋势预测&gt;溯源分析，技术成熟度依次递减。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854964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227832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2644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数字孪生从概念走向落地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566160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5661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26440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多个展台展示三维水厂、智慧水务大屏，但落地成本高，目前主要集中在大型水务集团和工业园区。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22776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22776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4261104"/>
            <a:ext cx="347472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261104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0" y="39593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5G网关、5G+监测方案首次大规模亮相，低延时特性支撑实时控制和远程运维。预计2027年进入爆发期。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AI分论坛核心结论：政府AI体系已成型，监测数据进入AI分析链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数据来源：2026中国环境技术大会AI×环保论坛（4月13-14日，环博会同期）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数据来源：2026中国环境技术大会AI×环保论坛（4月13-14日，上海）；腾讯元宝会议纪要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371600"/>
          </a:xfrm>
          <a:prstGeom prst="rect">
            <a:avLst/>
          </a:prstGeom>
          <a:solidFill>
            <a:srgbClr val="F0F5F9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07008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生态环境部AI行动方案（核心政策信号）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877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成立AI工作专班，2026年38个应用场景落地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"山水大模型"统一入口：接入DeepSeek、讯飞等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700亿资源量环境知识库已建成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环评报告：30分钟生成 + 10分钟审批（全流程AI）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地下水污染报告智能生成：100+份规则模板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343400" cy="1371600"/>
          </a:xfrm>
          <a:prstGeom prst="rect">
            <a:avLst/>
          </a:prstGeom>
          <a:solidFill>
            <a:srgbClr val="F0F5F9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20700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地下水AI监管实测数据（来自论坛案例）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481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人工采样占比：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39712" y="148132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99%（当前）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6592" y="16824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AI视频审核效率提升：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39712" y="1682496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36592" y="18836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采样合规率：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39712" y="188366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后台专家人力减少：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39712" y="20848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2286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单份报告处理时间：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39712" y="22860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三大已落地AI应用场景（论坛实测案例）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污染源数据异常智能诊断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4个AI专家智能体协同：数据预处理/诊断分析/结果解读/可视化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6类异常自动识别（数据缺失、高值突增、低值骤降等）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926080"/>
            <a:ext cx="2651760" cy="329184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湖库/河道AI智能识别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多模态：无人机航拍+固定摄像头+卫星遥感；YOLOv8+大模型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某市河道违规行为识别准确率90%+；自动告警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926080"/>
            <a:ext cx="2651760" cy="32918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污染溯源报告一键生成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环境知识库+全域溯源知识图谱+大模型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自动生成：事件概况+溯源分析+处置建议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224528"/>
            <a:ext cx="8549640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2702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对Hach的直接影响：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4498848"/>
            <a:ext cx="8394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环评AI审批落地（30分钟生成）→ 客户报告生成门槛降低，但数据合规性审核变严  ② 监测数据直接进AI分析链→ 数据质量要求系统性提升  ③ 水质报告AI生成场景参照性强（土壤/地下水案例已落地），机会窗口已开  ④ 地下水采样AI监管→ 采样规范性合规要求→ 硬件端需留有合规证据接口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客户需求变化：谁在买、买什么、为什么变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数据来源：展商反馈 + 政策文件 + 行业调研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数据来源：展商交流推断 + 政府招标文件分析 + 行业报告交叉验证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市政/水务集团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从买设备→买平台→买服务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厂网河湖一体化监测、智慧水务大屏、数据联网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国产优先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工业园区/企业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499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50-300万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6499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在线监测系统、碳核查、排放数据上报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499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963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从单点监测→一张网→精准溯源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9963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污染源自动监控一张网、预警应急、污染溯源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9963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政府专项债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等保合规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950208"/>
            <a:ext cx="8549640" cy="74980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" y="4023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4C视角：客户真正在买什么？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4279392"/>
            <a:ext cx="8394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Value（监测能力带来的决策支持） | Cost（3-5年总拥有成本） | Convenience（安装便捷、跨系统数据打通） | Communication（响应快、本地化支持）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竞争格局：39家数字化跨界公司值得重点关注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数据来源：公众号展商目录筛选，云/平台/数据/智能/数字关键词展商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数据来源：微信公众号「城市中国」「环保开幕」展商目录，人工筛选数字化相关展商共39家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数字化跨界公司威胁分级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1328"/>
            <a:ext cx="2651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极高威胁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E20环境平台(E1)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平台型：端到端智能监测，传感器+云平台+运维一体化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81328"/>
            <a:ext cx="265176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高威胁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尚云互联、易环智能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盘古自动化、智易时代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垂直型：智慧环保平台、自动化控制+AI算法；智易时代已获AI巡检机器人创新奖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中威胁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云景信息、崟盾智能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缘循智能 等33家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细分型：智慧水务平台、流体控制智能化等垂直场景，绑定特定客户群体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549640" cy="74980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931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Hach战略定位建议：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187952"/>
            <a:ext cx="8394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39家公司可能重塑行业格局——平台型公司是最大不确定性。建议：①优先评估其云平台成熟度和客户覆盖度；②加速软件能力建设，从"设备供应商"转型"监测服务伙伴"；③与平台型公司探索合作而非对抗（数据接口+硬件互补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2026环博会：5大行业共识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数据来源：展商行为分析 + 政策解读 + 行业交流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数据来源：基于展馆数据、展商展示内容、官方主题的综合推断；适合朋友圈分享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23444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1795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产品：监测设备向实时化、智能化演进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4721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E4馆182家仪器仪表展商中超40%展示在线监测产品，IoT版本已成标配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9786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121615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纯卖硬件越来越难，云+端一体化是活下去的基本要求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549640" cy="658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196596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1911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技术：云+AI是技术主线，但落地节奏差异大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203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39家数字化展商中70%提供云服务，AI异常检测是主要落地场景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92938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194767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大水务在数字孪生，小水厂还在搞定标——技术代差在拉大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" y="269748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6426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客户：买服务不买设备已成普遍现实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9352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展商普遍推出年度运维服务合同，政府招标将服务能力纳入评分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66090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67919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一次性采购的饼越来越小，维保服务的钱越来越重要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549640" cy="658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" y="342900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3374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政策：十五五+双碳构成双重引擎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6667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美丽中国建设+碳市场扩容，政策文件可直接引用，市场测算有据可查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339242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341071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政策红利还在，但竞争者也在增多，能不能吃到看能力和资源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" y="416052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97280" y="4105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格局：跨界打劫正在发生，但还未颠覆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4398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39家数字化跨界公司以平台+数据能力切入，但硬件根基不稳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412394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5102352" y="414223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传统仪表厂商不要慌，但必须加速软件能力建设，否则会被跨进来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数据来源与说明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数据截至2026年4月15日展会闭幕；结论仅供参考，不构成投资建议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第27届上海国际环博会官方发布（2026.04.15）：1,987家展商、82,419名观众、17万平米、15馆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官方展会主题：百国共襄 智能引领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下一届：第28届上海环博会 2027年4月20-22日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展商数据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主数据源：微信公众号「城市中国」「环保开幕」展商目录，OCR识别E2/E4/E5/E6馆展商样本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E1馆：93家（77家已识别，用户发送截图OCR）；E3馆：约200家，官方未公开完整数据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数字化公司：同时包含云/平台/数据/智能/数字关键词，共计39家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政策数据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963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十五五规划纲要（2026年启动）——美丽中国建设部署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9963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全国两会政府工作报告2026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9963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生态环境部公开文件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E1馆重点展商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赛莱默(Xylem)：E1馆，POM系统+臭氧新品；威立雅：人形机器人+AI降碳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水艺环保(E1-A11)、清新环境(E1-C02/D01)、天津创业(E1-042/D43)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401421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昕彤赋能(长沙)人工智能(E1)：给水和排污系统，AI风机；中国恩菲(E1-L65)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E3馆重点展商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哈希(E3-C12★年度领军)、聚光/谱育(E3★双奖年度领军+出海先锋)、智易时代(E3-D19/C20★机器人奖)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格林凯瑞(E3-B42)、诺方(E3-B79)、深昌鸿(E3-E75)、淳业(E3-C98)、雷磁(E3-D22)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64992" y="401421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★=2026 IE环博奖得主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论坛数据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2026中国环境技术大会AI×环保论坛（4月13-14日，上海），腾讯元宝会议纪要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963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演讲嘉宾：生态环境部技术专家、赵总（水环境AI）、陈荣研究员（AI驱动环境监管数字化）、高松教授（VOC与大气AI感知）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硬件仪表竞品动态：有新品，有威胁，也有不动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分析方法：技术创新成熟度 x 市场覆盖度象限分析 | 数据来源：展商样本 + 公开报道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数据来源：展商样本；结论性质：★★★ 事实 / ★★ 有依据推断 / ★ 方向性判断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市场覆盖度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16200000">
            <a:off x="109728" y="2194560"/>
            <a:ext cx="256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技术创新成熟度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85496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0" cy="3273552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0" cy="3273552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907792"/>
            <a:ext cx="85496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1325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 / 梅特勒 / 横河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0665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国际老牌，展会期间无大动作披露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286000"/>
            <a:ext cx="777240" cy="2560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2860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737360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92624" y="1792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聚光/谱育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20665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双奖得主，实验室无人化+巡检机器人，平台化整套输出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65008" y="1792224"/>
            <a:ext cx="804672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8065008" y="179222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2816352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816352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92624" y="31455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POM系统+臭氧新品，硬件AI融合，E1馆市政水务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65008" y="2871216"/>
            <a:ext cx="804672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28712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3401568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格林凯瑞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水质预制试剂新品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986784"/>
            <a:ext cx="384048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867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88920" y="3401568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诺方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80360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0.1μm颗粒计数器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80360" y="3986784"/>
            <a:ext cx="384048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39867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846320" y="340156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401568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992624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(雷磁/虹润/深昌鸿等)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92624" y="370332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价格低40-60%，满足国产优先政策，市政采购入围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40233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402336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4992624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威立雅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92624" y="432511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人形机器人+AI降碳，综合服务AI化，E1馆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软件/平台/AI服务竞品动态：谁在重新定义竞争规则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分析方法：威胁本质 x 可copy性分层 | 数据来源：展商样本 + 论坛内容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可copy性：自研难度（高=难以复制，中=可以借鉴，低=容易被抄）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549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1887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188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(E3-G61)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42646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传感器+云平台+运维一体化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1609344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平台型：端到端智能监测，传感器是入口，云平台是底座，运维是粘性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65592" y="1188720"/>
            <a:ext cx="566928" cy="2011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8165592" y="11887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可copy:极高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8549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0"/>
            <a:ext cx="59436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19019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首创环保 / 鸿泰华瑞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21396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ASMART模型+WEAM / 飛鸿AI系统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" y="232257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把运营经验/AI决策变平台，让仪器变数据源，算法成决策核心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65592" y="1901952"/>
            <a:ext cx="56692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8165592" y="190195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542032"/>
            <a:ext cx="8549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42032"/>
            <a:ext cx="59436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542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" y="261518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58768" y="26151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(E3-D19/C20)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283464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AI巡检机器人+算法  ➤ AI算法切入巡检场景，机器人替代人工巡检，AI创新奖认证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65592" y="2615184"/>
            <a:ext cx="56692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8165592" y="261518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145536"/>
            <a:ext cx="8549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145536"/>
            <a:ext cx="59436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1455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5568" y="32186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58768" y="32186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(E1馆)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5568" y="343814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数字化平台  ➤ 平台型数字化公司，用平台能力绑定客户，重构采购决策链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65592" y="3218688"/>
            <a:ext cx="56692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8165592" y="321868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8549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749040"/>
            <a:ext cx="59436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15568" y="38221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昕彤智能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5568" y="404164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剑企AI智能风机  ➤ 硬件内嵌AI，曝气能耗降低30%，L4级水厂核心设备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65592" y="3822192"/>
            <a:ext cx="566928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6" name="Text 44"/>
          <p:cNvSpPr/>
          <p:nvPr/>
        </p:nvSpPr>
        <p:spPr>
          <a:xfrm>
            <a:off x="8165592" y="382219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" y="4352544"/>
            <a:ext cx="8549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352544"/>
            <a:ext cx="59436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35254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15568" y="43525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 / 易环智能 / 盘古自动化 等33家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15568" y="458114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智慧环保平台/自动化控制+AI算法  ➤ 垂直场景绑定特定客户群体，技术copy壁垒不高但客户关系深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65592" y="4352544"/>
            <a:ext cx="566928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3" name="Text 51"/>
          <p:cNvSpPr/>
          <p:nvPr/>
        </p:nvSpPr>
        <p:spPr>
          <a:xfrm>
            <a:off x="8165592" y="435254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" y="4855464"/>
            <a:ext cx="854964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855464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机遇窗口：政府AI体系已成型（山水大模型+700亿知识库），监测数据进入AI分析链——水质报告AI生成参照土壤/地下水案例已落地，Hach应抢占先机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竞品对标与Hach行动建议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分析方法：基于竞品动态矩阵 | 适合管理层/IMS产品线内部讨论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 有依据的推断 | 适合作为IMS产品线战略讨论输入，不构成确定性建议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11480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硬件文明公司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(聚光/赛莱默/威立雅)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50208" y="1216152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50208" y="12161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184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产品技术领先，平台化整套输出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加速软件能力内建，从卖设备转向卖监测服务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43000"/>
            <a:ext cx="411480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43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AI软件跨界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(鸿泰华瑞/首创环保/纽带智能)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47888" y="1216152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2161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6184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让仪器变数据源，算法成决策核心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硬件必须有软件接口，否则被管道化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90088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90088"/>
            <a:ext cx="411480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50208" y="3063240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950208" y="306324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465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48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价格低40-60%，国产优先政策受益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995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强化服务价值和长期总拥有成本优势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90088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990088"/>
            <a:ext cx="411480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90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AI创新新锐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(智易时代/昕彤智能)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47888" y="3063240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306324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465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648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垂直场景AI落地，轻量化改造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995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评估合作或收购可能，填补AI能力短板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2026环博会市场观察报告</dc:title>
  <dc:subject>PptxGenJS Presentation</dc:subject>
  <dc:creator>Hach中国IMS产品线</dc:creator>
  <cp:lastModifiedBy>Hach中国IMS产品线</cp:lastModifiedBy>
  <cp:revision>1</cp:revision>
  <dcterms:created xsi:type="dcterms:W3CDTF">2026-04-19T07:53:25Z</dcterms:created>
  <dcterms:modified xsi:type="dcterms:W3CDTF">2026-04-19T07:53:25Z</dcterms:modified>
</cp:coreProperties>
</file>