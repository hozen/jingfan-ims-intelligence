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7EB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46304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2026环博会市场观察报告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22860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水务环保行业从业者的实战参考资料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3200400" y="2880360"/>
            <a:ext cx="2743200" cy="274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30175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产品趋势 · 技术趋势 · 客户需求 · 政策驱动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3520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2026年4月  |  上海新国际博览中心  |  第27届上海国际环博会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45262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数据来源：官方发布 + 展商样本交叉验证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502920" cy="502920"/>
          </a:xfrm>
          <a:prstGeom prst="rect">
            <a:avLst/>
          </a:prstGeom>
          <a:solidFill>
            <a:srgbClr val="007EB5"/>
          </a:solidFill>
          <a:ln w="12700">
            <a:solidFill>
              <a:srgbClr val="007EB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3200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005840" y="32004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官方数据：1,987家展商告诉我们什么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005840" y="77724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数据来源：官方发布 + 公众号样本交叉验证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65760" y="475488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数据来源：第27届上海国际环博会官方发布（2026.04.15）；样本校验：微信公众号「城市中国」「环保开幕」OCR识别展商样本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280160"/>
            <a:ext cx="1965960" cy="1554480"/>
          </a:xfrm>
          <a:prstGeom prst="rect">
            <a:avLst/>
          </a:prstGeom>
          <a:solidFill>
            <a:srgbClr val="FFFFFF"/>
          </a:solidFill>
          <a:ln w="25400">
            <a:solidFill>
              <a:srgbClr val="007EB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280160"/>
            <a:ext cx="1965960" cy="54864"/>
          </a:xfrm>
          <a:prstGeom prst="rect">
            <a:avLst/>
          </a:prstGeom>
          <a:solidFill>
            <a:srgbClr val="007EB5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417320"/>
            <a:ext cx="1965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07E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1,987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457200" y="2011680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家参展企业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2377440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来自20个国家和地区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606040" y="1280160"/>
            <a:ext cx="196596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606040" y="1417320"/>
            <a:ext cx="1965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82,419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2606040" y="2011680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名专业观众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606040" y="2377440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来自119个国家和地区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754880" y="1280160"/>
            <a:ext cx="196596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54880" y="1417320"/>
            <a:ext cx="1965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17万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4754880" y="2011680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平方米展示面积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754880" y="2377440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15个展馆启用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903720" y="1280160"/>
            <a:ext cx="196596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903720" y="1417320"/>
            <a:ext cx="1965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82,419</a:t>
            </a:r>
            <a:endParaRPr lang="en-US" sz="3000" dirty="0"/>
          </a:p>
        </p:txBody>
      </p:sp>
      <p:sp>
        <p:nvSpPr>
          <p:cNvPr id="22" name="Text 20"/>
          <p:cNvSpPr/>
          <p:nvPr/>
        </p:nvSpPr>
        <p:spPr>
          <a:xfrm>
            <a:off x="6903720" y="2011680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国际观众增幅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903720" y="2377440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连续两年超30%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57200" y="30632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关键洞察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457200" y="3474720"/>
            <a:ext cx="1097280" cy="292608"/>
          </a:xfrm>
          <a:prstGeom prst="rect">
            <a:avLst/>
          </a:prstGeom>
          <a:solidFill>
            <a:srgbClr val="007EB5"/>
          </a:solidFill>
          <a:ln/>
        </p:spPr>
      </p:sp>
      <p:sp>
        <p:nvSpPr>
          <p:cNvPr id="26" name="Text 24"/>
          <p:cNvSpPr/>
          <p:nvPr/>
        </p:nvSpPr>
        <p:spPr>
          <a:xfrm>
            <a:off x="457200" y="3474720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规模超预期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645920" y="3474720"/>
            <a:ext cx="7040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实际1,987家 vs 预期近2,000家，基本符合；15馆启用 vs 上年略有收缩，说明行业整体规模趋稳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57200" y="3886200"/>
            <a:ext cx="1097280" cy="292608"/>
          </a:xfrm>
          <a:prstGeom prst="rect">
            <a:avLst/>
          </a:prstGeom>
          <a:solidFill>
            <a:srgbClr val="007EB5"/>
          </a:solidFill>
          <a:ln/>
        </p:spPr>
      </p:sp>
      <p:sp>
        <p:nvSpPr>
          <p:cNvPr id="29" name="Text 27"/>
          <p:cNvSpPr/>
          <p:nvPr/>
        </p:nvSpPr>
        <p:spPr>
          <a:xfrm>
            <a:off x="457200" y="3886200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国际化加速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1645920" y="3886200"/>
            <a:ext cx="7040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119国观众 + 7国家展团 + 35个国际采购团，国际观众连续两年增幅超30%，出海是真实机会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57200" y="4297680"/>
            <a:ext cx="1097280" cy="292608"/>
          </a:xfrm>
          <a:prstGeom prst="rect">
            <a:avLst/>
          </a:prstGeom>
          <a:solidFill>
            <a:srgbClr val="007EB5"/>
          </a:solidFill>
          <a:ln/>
        </p:spPr>
      </p:sp>
      <p:sp>
        <p:nvSpPr>
          <p:cNvPr id="32" name="Text 30"/>
          <p:cNvSpPr/>
          <p:nvPr/>
        </p:nvSpPr>
        <p:spPr>
          <a:xfrm>
            <a:off x="457200" y="4297680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智能化主线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1645920" y="4297680"/>
            <a:ext cx="7040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官方主题"百国共襄 智能引领"，AI+环保融合已成行业共识，非概念而是落地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502920" cy="502920"/>
          </a:xfrm>
          <a:prstGeom prst="rect">
            <a:avLst/>
          </a:prstGeom>
          <a:solidFill>
            <a:srgbClr val="007EB5"/>
          </a:solidFill>
          <a:ln w="12700">
            <a:solidFill>
              <a:srgbClr val="007EB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3200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005840" y="32004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展馆分布：行业全景地图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005840" y="77724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数据来源：官方展馆数据 + 公众号样本交叉验证；E1馆数据来自用户发送展商截图OCR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65760" y="475488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E1数据：用户发送截图OCR，77家已识别；E3馆约200家，官方未公开完整数据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234440"/>
            <a:ext cx="2651760" cy="1234440"/>
          </a:xfrm>
          <a:prstGeom prst="rect">
            <a:avLst/>
          </a:prstGeom>
          <a:solidFill>
            <a:srgbClr val="FFFFFF"/>
          </a:solidFill>
          <a:ln w="19050">
            <a:solidFill>
              <a:srgbClr val="007EB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234440"/>
            <a:ext cx="640080" cy="320040"/>
          </a:xfrm>
          <a:prstGeom prst="rect">
            <a:avLst/>
          </a:prstGeom>
          <a:solidFill>
            <a:srgbClr val="007EB5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23444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E4馆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188720" y="12801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182家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48640" y="164592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过程控制/仪器仪表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48640" y="1947672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仪器仪表最集中，同行竞争最激烈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291840" y="1234440"/>
            <a:ext cx="2651760" cy="1234440"/>
          </a:xfrm>
          <a:prstGeom prst="rect">
            <a:avLst/>
          </a:prstGeom>
          <a:solidFill>
            <a:srgbClr val="FFFFFF"/>
          </a:solidFill>
          <a:ln w="9525">
            <a:solidFill>
              <a:srgbClr val="999999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91840" y="1234440"/>
            <a:ext cx="640080" cy="320040"/>
          </a:xfrm>
          <a:prstGeom prst="rect">
            <a:avLst/>
          </a:prstGeom>
          <a:solidFill>
            <a:srgbClr val="007EB5"/>
          </a:solidFill>
          <a:ln/>
        </p:spPr>
      </p:sp>
      <p:sp>
        <p:nvSpPr>
          <p:cNvPr id="15" name="Text 13"/>
          <p:cNvSpPr/>
          <p:nvPr/>
        </p:nvSpPr>
        <p:spPr>
          <a:xfrm>
            <a:off x="3291840" y="123444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E6馆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023360" y="12801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187家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3383280" y="164592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大气治理/余热回收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383280" y="1947672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规模最大，细分领域覆盖最广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126480" y="1234440"/>
            <a:ext cx="2651760" cy="1234440"/>
          </a:xfrm>
          <a:prstGeom prst="rect">
            <a:avLst/>
          </a:prstGeom>
          <a:solidFill>
            <a:srgbClr val="FFFFFF"/>
          </a:solidFill>
          <a:ln w="9525">
            <a:solidFill>
              <a:srgbClr val="999999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126480" y="1234440"/>
            <a:ext cx="640080" cy="320040"/>
          </a:xfrm>
          <a:prstGeom prst="rect">
            <a:avLst/>
          </a:prstGeom>
          <a:solidFill>
            <a:srgbClr val="007EB5"/>
          </a:solidFill>
          <a:ln/>
        </p:spPr>
      </p:sp>
      <p:sp>
        <p:nvSpPr>
          <p:cNvPr id="21" name="Text 19"/>
          <p:cNvSpPr/>
          <p:nvPr/>
        </p:nvSpPr>
        <p:spPr>
          <a:xfrm>
            <a:off x="6126480" y="123444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E5馆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858000" y="12801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174家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6217920" y="164592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大气治理/VOCs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217920" y="1947672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VOC治理、无组织排放管控热点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57200" y="2651760"/>
            <a:ext cx="2651760" cy="1234440"/>
          </a:xfrm>
          <a:prstGeom prst="rect">
            <a:avLst/>
          </a:prstGeom>
          <a:solidFill>
            <a:srgbClr val="FFFFFF"/>
          </a:solidFill>
          <a:ln w="9525">
            <a:solidFill>
              <a:srgbClr val="999999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57200" y="2651760"/>
            <a:ext cx="640080" cy="320040"/>
          </a:xfrm>
          <a:prstGeom prst="rect">
            <a:avLst/>
          </a:prstGeom>
          <a:solidFill>
            <a:srgbClr val="007EB5"/>
          </a:solidFill>
          <a:ln/>
        </p:spPr>
      </p:sp>
      <p:sp>
        <p:nvSpPr>
          <p:cNvPr id="27" name="Text 25"/>
          <p:cNvSpPr/>
          <p:nvPr/>
        </p:nvSpPr>
        <p:spPr>
          <a:xfrm>
            <a:off x="457200" y="265176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E2馆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1188720" y="26974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120家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548640" y="306324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综合环境解决方案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48640" y="3364992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工程/运营/咨询类展商最多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3291840" y="2651760"/>
            <a:ext cx="2651760" cy="1234440"/>
          </a:xfrm>
          <a:prstGeom prst="rect">
            <a:avLst/>
          </a:prstGeom>
          <a:solidFill>
            <a:srgbClr val="FFFFFF"/>
          </a:solidFill>
          <a:ln w="9525">
            <a:solidFill>
              <a:srgbClr val="999999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291840" y="2651760"/>
            <a:ext cx="640080" cy="320040"/>
          </a:xfrm>
          <a:prstGeom prst="rect">
            <a:avLst/>
          </a:prstGeom>
          <a:solidFill>
            <a:srgbClr val="007EB5"/>
          </a:solidFill>
          <a:ln/>
        </p:spPr>
      </p:sp>
      <p:sp>
        <p:nvSpPr>
          <p:cNvPr id="33" name="Text 31"/>
          <p:cNvSpPr/>
          <p:nvPr/>
        </p:nvSpPr>
        <p:spPr>
          <a:xfrm>
            <a:off x="3291840" y="265176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E1馆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023360" y="26974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93家（77家已识别）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3383280" y="306324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水处理/膜材料/泵阀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3383280" y="3364992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膜材料国产化价格下探明显；赛莱默、威立雅等国际品牌在列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6126480" y="2651760"/>
            <a:ext cx="2651760" cy="1234440"/>
          </a:xfrm>
          <a:prstGeom prst="rect">
            <a:avLst/>
          </a:prstGeom>
          <a:solidFill>
            <a:srgbClr val="FFFFFF"/>
          </a:solidFill>
          <a:ln w="9525">
            <a:solidFill>
              <a:srgbClr val="999999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126480" y="2651760"/>
            <a:ext cx="640080" cy="320040"/>
          </a:xfrm>
          <a:prstGeom prst="rect">
            <a:avLst/>
          </a:prstGeom>
          <a:solidFill>
            <a:srgbClr val="999999"/>
          </a:solidFill>
          <a:ln/>
        </p:spPr>
      </p:sp>
      <p:sp>
        <p:nvSpPr>
          <p:cNvPr id="39" name="Text 37"/>
          <p:cNvSpPr/>
          <p:nvPr/>
        </p:nvSpPr>
        <p:spPr>
          <a:xfrm>
            <a:off x="6126480" y="265176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E3馆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6858000" y="26974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~200家</a:t>
            </a:r>
            <a:endParaRPr lang="en-US" sz="1800" dirty="0"/>
          </a:p>
        </p:txBody>
      </p:sp>
      <p:sp>
        <p:nvSpPr>
          <p:cNvPr id="41" name="Text 39"/>
          <p:cNvSpPr/>
          <p:nvPr/>
        </p:nvSpPr>
        <p:spPr>
          <a:xfrm>
            <a:off x="6217920" y="306324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监测与检测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6217920" y="3364992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水质监测企业最集中；E3-C12=哈希(C12)，E3-B42=格林凯瑞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502920" cy="502920"/>
          </a:xfrm>
          <a:prstGeom prst="rect">
            <a:avLst/>
          </a:prstGeom>
          <a:solidFill>
            <a:srgbClr val="007EB5"/>
          </a:solidFill>
          <a:ln w="12700">
            <a:solidFill>
              <a:srgbClr val="007EB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3200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005840" y="32004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波特五力分析：行业竞争格局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005840" y="77724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数据来源：基于展馆分布数据推断 + 公开政策文件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65760" y="475488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结论性质：★★★ = 有数据支撑的推断；★★ = 行业共识推断；★ = 方向性判断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188720"/>
            <a:ext cx="548640" cy="54864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1887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143000" y="118872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行业内现有竞争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291840" y="118872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E4馆182家仪器仪表扎堆；价格战已从设备蔓延到耗材（膜价格低40-60%）；纯硬件模式越来越难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909560" y="1188720"/>
            <a:ext cx="1097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★★★ 展商分布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457200" y="1783080"/>
            <a:ext cx="8549640" cy="9144"/>
          </a:xfrm>
          <a:prstGeom prst="rect">
            <a:avLst/>
          </a:prstGeom>
          <a:solidFill>
            <a:srgbClr val="E8E8E8"/>
          </a:solidFill>
          <a:ln/>
        </p:spPr>
      </p:sp>
      <p:sp>
        <p:nvSpPr>
          <p:cNvPr id="13" name="Shape 11"/>
          <p:cNvSpPr/>
          <p:nvPr/>
        </p:nvSpPr>
        <p:spPr>
          <a:xfrm>
            <a:off x="457200" y="1920240"/>
            <a:ext cx="548640" cy="548640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19202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中高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143000" y="192024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新进入者威胁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291840" y="192024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39家数字化公司跨界切入（云平台+数据+IoT）；软件能力强的跨界者正在重新定义竞争规则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909560" y="1920240"/>
            <a:ext cx="1097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★★★ 展商分类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457200" y="2514600"/>
            <a:ext cx="8549640" cy="9144"/>
          </a:xfrm>
          <a:prstGeom prst="rect">
            <a:avLst/>
          </a:prstGeom>
          <a:solidFill>
            <a:srgbClr val="E8E8E8"/>
          </a:solidFill>
          <a:ln/>
        </p:spPr>
      </p:sp>
      <p:sp>
        <p:nvSpPr>
          <p:cNvPr id="19" name="Shape 17"/>
          <p:cNvSpPr/>
          <p:nvPr/>
        </p:nvSpPr>
        <p:spPr>
          <a:xfrm>
            <a:off x="457200" y="2651760"/>
            <a:ext cx="548640" cy="548640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" y="26517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143000" y="265176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上游议价能力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291840" y="265176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传感器/芯片国产化提升，但高端传感器仍依赖进口；传感器价格下探有助于降低仪表成本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909560" y="2651760"/>
            <a:ext cx="1097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★★ 行业趋势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457200" y="3246120"/>
            <a:ext cx="8549640" cy="9144"/>
          </a:xfrm>
          <a:prstGeom prst="rect">
            <a:avLst/>
          </a:prstGeom>
          <a:solidFill>
            <a:srgbClr val="E8E8E8"/>
          </a:solidFill>
          <a:ln/>
        </p:spPr>
      </p:sp>
      <p:sp>
        <p:nvSpPr>
          <p:cNvPr id="25" name="Shape 23"/>
          <p:cNvSpPr/>
          <p:nvPr/>
        </p:nvSpPr>
        <p:spPr>
          <a:xfrm>
            <a:off x="457200" y="3383280"/>
            <a:ext cx="548640" cy="54864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26" name="Text 24"/>
          <p:cNvSpPr/>
          <p:nvPr/>
        </p:nvSpPr>
        <p:spPr>
          <a:xfrm>
            <a:off x="457200" y="33832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143000" y="338328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下游议价能力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3291840" y="338328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水务集团/市政采购：政府招标、国产优先、性价比要求高；买方高度集中且信息化程度提升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7909560" y="3383280"/>
            <a:ext cx="1097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★★★ 政策+采购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457200" y="3977640"/>
            <a:ext cx="8549640" cy="9144"/>
          </a:xfrm>
          <a:prstGeom prst="rect">
            <a:avLst/>
          </a:prstGeom>
          <a:solidFill>
            <a:srgbClr val="E8E8E8"/>
          </a:solidFill>
          <a:ln/>
        </p:spPr>
      </p:sp>
      <p:sp>
        <p:nvSpPr>
          <p:cNvPr id="31" name="Shape 29"/>
          <p:cNvSpPr/>
          <p:nvPr/>
        </p:nvSpPr>
        <p:spPr>
          <a:xfrm>
            <a:off x="457200" y="4114800"/>
            <a:ext cx="548640" cy="548640"/>
          </a:xfrm>
          <a:prstGeom prst="rect">
            <a:avLst/>
          </a:prstGeom>
          <a:solidFill>
            <a:srgbClr val="7F8C8D"/>
          </a:solidFill>
          <a:ln/>
        </p:spPr>
      </p:sp>
      <p:sp>
        <p:nvSpPr>
          <p:cNvPr id="32" name="Text 30"/>
          <p:cNvSpPr/>
          <p:nvPr/>
        </p:nvSpPr>
        <p:spPr>
          <a:xfrm>
            <a:off x="457200" y="41148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1143000" y="411480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替代品威胁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3291840" y="411480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在线监测替代传统实验室抽样（趋势明确）；但高端检测仍需实验室，替代速度中等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7909560" y="4114800"/>
            <a:ext cx="1097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★★ 技术趋势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502920" cy="502920"/>
          </a:xfrm>
          <a:prstGeom prst="rect">
            <a:avLst/>
          </a:prstGeom>
          <a:solidFill>
            <a:srgbClr val="007EB5"/>
          </a:solidFill>
          <a:ln w="12700">
            <a:solidFill>
              <a:srgbClr val="007EB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3200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005840" y="32004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行业价值链：从研发到服务的利润迁移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005840" y="77724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数据来源：基于展商样本类型分布推断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65760" y="475488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结论性质：★★★ = 有展商数据支撑；★★ = 行业共识推断；★ = 方向性判断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234440"/>
            <a:ext cx="1554480" cy="2286000"/>
          </a:xfrm>
          <a:prstGeom prst="rect">
            <a:avLst/>
          </a:prstGeom>
          <a:solidFill>
            <a:srgbClr val="FFFFFF"/>
          </a:solidFill>
          <a:ln w="19050">
            <a:solidFill>
              <a:srgbClr val="007EB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234440"/>
            <a:ext cx="1554480" cy="411480"/>
          </a:xfrm>
          <a:prstGeom prst="rect">
            <a:avLst/>
          </a:prstGeom>
          <a:solidFill>
            <a:srgbClr val="007EB5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23444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30352" y="1737360"/>
            <a:ext cx="140817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核心零部件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30352" y="2148840"/>
            <a:ext cx="14081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传感器/芯片/膜材料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30352" y="2514600"/>
            <a:ext cx="1408176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传感器国产替代中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高端仍依赖进口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85800" y="3200400"/>
            <a:ext cx="1097280" cy="256032"/>
          </a:xfrm>
          <a:prstGeom prst="rect">
            <a:avLst/>
          </a:prstGeom>
          <a:solidFill>
            <a:srgbClr val="007EB5"/>
          </a:solidFill>
          <a:ln/>
        </p:spPr>
      </p:sp>
      <p:sp>
        <p:nvSpPr>
          <p:cNvPr id="14" name="Text 12"/>
          <p:cNvSpPr/>
          <p:nvPr/>
        </p:nvSpPr>
        <p:spPr>
          <a:xfrm>
            <a:off x="685800" y="3200400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利润: 高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011680" y="2011680"/>
            <a:ext cx="1645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99999"/>
                </a:solidFill>
              </a:rPr>
              <a:t>▶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2176272" y="1234440"/>
            <a:ext cx="1554480" cy="2286000"/>
          </a:xfrm>
          <a:prstGeom prst="rect">
            <a:avLst/>
          </a:prstGeom>
          <a:solidFill>
            <a:srgbClr val="FFFFFF"/>
          </a:solidFill>
          <a:ln w="19050">
            <a:solidFill>
              <a:srgbClr val="4D4D4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176272" y="1234440"/>
            <a:ext cx="1554480" cy="411480"/>
          </a:xfrm>
          <a:prstGeom prst="rect">
            <a:avLst/>
          </a:prstGeom>
          <a:solidFill>
            <a:srgbClr val="4D4D4D"/>
          </a:solidFill>
          <a:ln/>
        </p:spPr>
      </p:sp>
      <p:sp>
        <p:nvSpPr>
          <p:cNvPr id="18" name="Text 16"/>
          <p:cNvSpPr/>
          <p:nvPr/>
        </p:nvSpPr>
        <p:spPr>
          <a:xfrm>
            <a:off x="2176272" y="123444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2249424" y="1737360"/>
            <a:ext cx="140817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仪器仪表制造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249424" y="2148840"/>
            <a:ext cx="14081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水质/气体分析仪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249424" y="2514600"/>
            <a:ext cx="1408176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E4馆182家扎堆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价格战激烈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2404872" y="3200400"/>
            <a:ext cx="1097280" cy="256032"/>
          </a:xfrm>
          <a:prstGeom prst="rect">
            <a:avLst/>
          </a:prstGeom>
          <a:solidFill>
            <a:srgbClr val="4D4D4D"/>
          </a:solidFill>
          <a:ln/>
        </p:spPr>
      </p:sp>
      <p:sp>
        <p:nvSpPr>
          <p:cNvPr id="23" name="Text 21"/>
          <p:cNvSpPr/>
          <p:nvPr/>
        </p:nvSpPr>
        <p:spPr>
          <a:xfrm>
            <a:off x="2404872" y="3200400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利润: 中低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730752" y="2011680"/>
            <a:ext cx="1645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99999"/>
                </a:solidFill>
              </a:rPr>
              <a:t>▶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3895344" y="1234440"/>
            <a:ext cx="1554480" cy="2286000"/>
          </a:xfrm>
          <a:prstGeom prst="rect">
            <a:avLst/>
          </a:prstGeom>
          <a:solidFill>
            <a:srgbClr val="FFFFFF"/>
          </a:solidFill>
          <a:ln w="19050">
            <a:solidFill>
              <a:srgbClr val="4D4D4D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895344" y="1234440"/>
            <a:ext cx="1554480" cy="411480"/>
          </a:xfrm>
          <a:prstGeom prst="rect">
            <a:avLst/>
          </a:prstGeom>
          <a:solidFill>
            <a:srgbClr val="4D4D4D"/>
          </a:solidFill>
          <a:ln/>
        </p:spPr>
      </p:sp>
      <p:sp>
        <p:nvSpPr>
          <p:cNvPr id="27" name="Text 25"/>
          <p:cNvSpPr/>
          <p:nvPr/>
        </p:nvSpPr>
        <p:spPr>
          <a:xfrm>
            <a:off x="3895344" y="123444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3968496" y="1737360"/>
            <a:ext cx="140817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系统集成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3968496" y="2148840"/>
            <a:ext cx="14081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IoT方案/边缘计算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3968496" y="2514600"/>
            <a:ext cx="1408176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39家数字化公司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跨界进入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123944" y="3200400"/>
            <a:ext cx="1097280" cy="256032"/>
          </a:xfrm>
          <a:prstGeom prst="rect">
            <a:avLst/>
          </a:prstGeom>
          <a:solidFill>
            <a:srgbClr val="4D4D4D"/>
          </a:solidFill>
          <a:ln/>
        </p:spPr>
      </p:sp>
      <p:sp>
        <p:nvSpPr>
          <p:cNvPr id="32" name="Text 30"/>
          <p:cNvSpPr/>
          <p:nvPr/>
        </p:nvSpPr>
        <p:spPr>
          <a:xfrm>
            <a:off x="4123944" y="3200400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利润: 中高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449824" y="2011680"/>
            <a:ext cx="1645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99999"/>
                </a:solidFill>
              </a:rPr>
              <a:t>▶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5614416" y="1234440"/>
            <a:ext cx="1554480" cy="2286000"/>
          </a:xfrm>
          <a:prstGeom prst="rect">
            <a:avLst/>
          </a:prstGeom>
          <a:solidFill>
            <a:srgbClr val="FFFFFF"/>
          </a:solidFill>
          <a:ln w="19050">
            <a:solidFill>
              <a:srgbClr val="007EB5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614416" y="1234440"/>
            <a:ext cx="1554480" cy="411480"/>
          </a:xfrm>
          <a:prstGeom prst="rect">
            <a:avLst/>
          </a:prstGeom>
          <a:solidFill>
            <a:srgbClr val="007EB5"/>
          </a:solidFill>
          <a:ln/>
        </p:spPr>
      </p:sp>
      <p:sp>
        <p:nvSpPr>
          <p:cNvPr id="36" name="Text 34"/>
          <p:cNvSpPr/>
          <p:nvPr/>
        </p:nvSpPr>
        <p:spPr>
          <a:xfrm>
            <a:off x="5614416" y="123444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5687568" y="1737360"/>
            <a:ext cx="140817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软件平台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5687568" y="2148840"/>
            <a:ext cx="14081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SaaS云平台/AI分析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5687568" y="2514600"/>
            <a:ext cx="1408176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70%数字化展商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提供云服务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5843016" y="3200400"/>
            <a:ext cx="1097280" cy="256032"/>
          </a:xfrm>
          <a:prstGeom prst="rect">
            <a:avLst/>
          </a:prstGeom>
          <a:solidFill>
            <a:srgbClr val="007EB5"/>
          </a:solidFill>
          <a:ln/>
        </p:spPr>
      </p:sp>
      <p:sp>
        <p:nvSpPr>
          <p:cNvPr id="41" name="Text 39"/>
          <p:cNvSpPr/>
          <p:nvPr/>
        </p:nvSpPr>
        <p:spPr>
          <a:xfrm>
            <a:off x="5843016" y="3200400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利润: 高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7168896" y="2011680"/>
            <a:ext cx="1645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99999"/>
                </a:solidFill>
              </a:rPr>
              <a:t>▶</a:t>
            </a:r>
            <a:endParaRPr lang="en-US" sz="1400" dirty="0"/>
          </a:p>
        </p:txBody>
      </p:sp>
      <p:sp>
        <p:nvSpPr>
          <p:cNvPr id="43" name="Shape 41"/>
          <p:cNvSpPr/>
          <p:nvPr/>
        </p:nvSpPr>
        <p:spPr>
          <a:xfrm>
            <a:off x="7333488" y="1234440"/>
            <a:ext cx="1554480" cy="2286000"/>
          </a:xfrm>
          <a:prstGeom prst="rect">
            <a:avLst/>
          </a:prstGeom>
          <a:solidFill>
            <a:srgbClr val="FFFFFF"/>
          </a:solidFill>
          <a:ln w="19050">
            <a:solidFill>
              <a:srgbClr val="007EB5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7333488" y="1234440"/>
            <a:ext cx="1554480" cy="411480"/>
          </a:xfrm>
          <a:prstGeom prst="rect">
            <a:avLst/>
          </a:prstGeom>
          <a:solidFill>
            <a:srgbClr val="007EB5"/>
          </a:solidFill>
          <a:ln/>
        </p:spPr>
      </p:sp>
      <p:sp>
        <p:nvSpPr>
          <p:cNvPr id="45" name="Text 43"/>
          <p:cNvSpPr/>
          <p:nvPr/>
        </p:nvSpPr>
        <p:spPr>
          <a:xfrm>
            <a:off x="7333488" y="123444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7406640" y="1737360"/>
            <a:ext cx="140817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运维服务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7406640" y="2148840"/>
            <a:ext cx="14081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校准/运维/运营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7406640" y="2514600"/>
            <a:ext cx="1408176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卖设备→卖服务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已成普遍现实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7562088" y="3200400"/>
            <a:ext cx="1097280" cy="256032"/>
          </a:xfrm>
          <a:prstGeom prst="rect">
            <a:avLst/>
          </a:prstGeom>
          <a:solidFill>
            <a:srgbClr val="007EB5"/>
          </a:solidFill>
          <a:ln/>
        </p:spPr>
      </p:sp>
      <p:sp>
        <p:nvSpPr>
          <p:cNvPr id="50" name="Text 48"/>
          <p:cNvSpPr/>
          <p:nvPr/>
        </p:nvSpPr>
        <p:spPr>
          <a:xfrm>
            <a:off x="7562088" y="3200400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利润: 高且稳定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457200" y="3703320"/>
            <a:ext cx="8549640" cy="822960"/>
          </a:xfrm>
          <a:prstGeom prst="rect">
            <a:avLst/>
          </a:prstGeom>
          <a:solidFill>
            <a:srgbClr val="F5F8FA"/>
          </a:solidFill>
          <a:ln/>
        </p:spPr>
      </p:sp>
      <p:sp>
        <p:nvSpPr>
          <p:cNvPr id="52" name="Text 50"/>
          <p:cNvSpPr/>
          <p:nvPr/>
        </p:nvSpPr>
        <p:spPr>
          <a:xfrm>
            <a:off x="594360" y="379476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7E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价值链洞察：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594360" y="4069080"/>
            <a:ext cx="8275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利润正从仪器仪表制造向软件平台和运维服务迁移。纯硬件销售利润空间持续收窄，"设备+云+服务"一体化模式是抵御价格战的关键路径。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502920" cy="502920"/>
          </a:xfrm>
          <a:prstGeom prst="rect">
            <a:avLst/>
          </a:prstGeom>
          <a:solidFill>
            <a:srgbClr val="007EB5"/>
          </a:solidFill>
          <a:ln w="12700">
            <a:solidFill>
              <a:srgbClr val="007EB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3200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005840" y="32004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3C战略分析：Hach的机会与挑战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005840" y="77724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数据来源：展商数据 + 公开新闻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65760" y="475488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结论性质：★★★ = 事实；★★ = 有依据的推断；★ = 方向性判断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188720"/>
            <a:ext cx="2651760" cy="502920"/>
          </a:xfrm>
          <a:prstGeom prst="rect">
            <a:avLst/>
          </a:prstGeom>
          <a:solidFill>
            <a:srgbClr val="007EB5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18872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Company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我们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1783080"/>
            <a:ext cx="265176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1828800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市场地位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48640" y="2039112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荣膺2026 IE环博奖年度领军企业（官方认证）★★★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57200" y="2496312"/>
            <a:ext cx="265176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2542032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核心优势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48640" y="2752344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20年本土研发积累 + Veralto集团平台 + 水质监测全品类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57200" y="3209544"/>
            <a:ext cx="265176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3255264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战略挑战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48640" y="3465576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纯硬件模式承压；数字化/AI能力需加速补齐；服务占比偏低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57200" y="3922776"/>
            <a:ext cx="265176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3968496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参展动作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48640" y="4178808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E3-C12展位 + 研发20周年庆典 + 七大行业解决方案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291840" y="1188720"/>
            <a:ext cx="2651760" cy="502920"/>
          </a:xfrm>
          <a:prstGeom prst="rect">
            <a:avLst/>
          </a:prstGeom>
          <a:solidFill>
            <a:srgbClr val="4D4D4D"/>
          </a:solidFill>
          <a:ln/>
        </p:spPr>
      </p:sp>
      <p:sp>
        <p:nvSpPr>
          <p:cNvPr id="22" name="Text 20"/>
          <p:cNvSpPr/>
          <p:nvPr/>
        </p:nvSpPr>
        <p:spPr>
          <a:xfrm>
            <a:off x="3291840" y="118872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Competitors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竞争对手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3291840" y="1783080"/>
            <a:ext cx="265176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383280" y="1828800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国内创新者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383280" y="2039112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智易时代：AI算法+巡检机器人★AI创新奖；聚光/谱育：环博奖双料★年度领军+出海先锋；格林凯瑞：水质预制试剂新品；诺方：0.1μm颗粒计数器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291840" y="2496312"/>
            <a:ext cx="265176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383280" y="2542032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平台型跨界者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383280" y="2752344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江苏纽带智能(E3-G61)：传感器+云平台+运维一体化；淳业科技(E3-C98)：水质监测全系列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3291840" y="3209544"/>
            <a:ext cx="265176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383280" y="3255264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国产替代者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3383280" y="3465576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雷磁(E3-D22，86年积累)、深昌鸿(E75)、虹润：价格低40-60%，满足国产优先政策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3291840" y="3922776"/>
            <a:ext cx="265176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383280" y="3968496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国际品牌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383280" y="4178808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赛莱默(Xylem)：E1馆，POM+臭氧新品；威立雅：E1馆人形机器人+AI降碳；恩德斯豪斯(EH)：全球客户论坛在瑞士，环博会未见大动作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6126480" y="1188720"/>
            <a:ext cx="2651760" cy="502920"/>
          </a:xfrm>
          <a:prstGeom prst="rect">
            <a:avLst/>
          </a:prstGeom>
          <a:solidFill>
            <a:srgbClr val="999999"/>
          </a:solidFill>
          <a:ln/>
        </p:spPr>
      </p:sp>
      <p:sp>
        <p:nvSpPr>
          <p:cNvPr id="36" name="Text 34"/>
          <p:cNvSpPr/>
          <p:nvPr/>
        </p:nvSpPr>
        <p:spPr>
          <a:xfrm>
            <a:off x="6126480" y="118872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Customers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6126480" y="1783080"/>
            <a:ext cx="265176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217920" y="1828800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市政水务集团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217920" y="2039112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买设备→买平台→买服务；国产优先；单项目500万+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6126480" y="2496312"/>
            <a:ext cx="265176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217920" y="2542032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工业园区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6217920" y="2752344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满足监管→降本增效→数据资产化；国产替代机会大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6126480" y="3209544"/>
            <a:ext cx="265176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217920" y="3255264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政府/监管机构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6217920" y="3465576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一张网+精准溯源；等保合规；区域型项目1000万+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6126480" y="3922776"/>
            <a:ext cx="265176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217920" y="3968496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采购决策变化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6217920" y="4178808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不只是采购价，是3-5年运维+校准+升级总拥有成本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502920" cy="502920"/>
          </a:xfrm>
          <a:prstGeom prst="rect">
            <a:avLst/>
          </a:prstGeom>
          <a:solidFill>
            <a:srgbClr val="007EB5"/>
          </a:solidFill>
          <a:ln w="12700">
            <a:solidFill>
              <a:srgbClr val="007EB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3200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005840" y="32004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PESTEL政策分析：2026年最值得关注的政策方向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005840" y="77724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数据来源：公开政策文件 + 政府工作报告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65760" y="475488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数据来源：十五五规划纲要（2026年启动）；全国两会政府工作报告2026；生态环境部公开文件；碳市场扩容政策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188720"/>
            <a:ext cx="265176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007EB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188720"/>
            <a:ext cx="411480" cy="411480"/>
          </a:xfrm>
          <a:prstGeom prst="rect">
            <a:avLst/>
          </a:prstGeom>
          <a:solidFill>
            <a:srgbClr val="007EB5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1887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914400" y="123444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政治/Policy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" y="1645920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十五五规划开局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48640" y="1856232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美丽中国建设部署，县镇级监测能力建设带来增量市场，黑臭水体治理持续，监测点位加密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48640" y="2267712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政府招标国产优先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48640" y="2478024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国产化率要求提升，外资品牌进入采购名单门槛提高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291840" y="1188720"/>
            <a:ext cx="265176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4D4D4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91840" y="1188720"/>
            <a:ext cx="411480" cy="411480"/>
          </a:xfrm>
          <a:prstGeom prst="rect">
            <a:avLst/>
          </a:prstGeom>
          <a:solidFill>
            <a:srgbClr val="4D4D4D"/>
          </a:solidFill>
          <a:ln/>
        </p:spPr>
      </p:sp>
      <p:sp>
        <p:nvSpPr>
          <p:cNvPr id="17" name="Text 15"/>
          <p:cNvSpPr/>
          <p:nvPr/>
        </p:nvSpPr>
        <p:spPr>
          <a:xfrm>
            <a:off x="3291840" y="11887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3749040" y="123444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经济/Economic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383280" y="1645920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双碳目标推进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383280" y="1856232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碳市场扩容提速，钢铁/化工/水泥/航空等高排放行业分批纳入，碳监测成新增量赛道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383280" y="2267712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水务集团降本增效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383280" y="2478024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地方财政压力下，水务集团降本需求强烈，价格敏感度提升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126480" y="1188720"/>
            <a:ext cx="265176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126480" y="1188720"/>
            <a:ext cx="411480" cy="411480"/>
          </a:xfrm>
          <a:prstGeom prst="rect">
            <a:avLst/>
          </a:prstGeom>
          <a:solidFill>
            <a:srgbClr val="999999"/>
          </a:solidFill>
          <a:ln/>
        </p:spPr>
      </p:sp>
      <p:sp>
        <p:nvSpPr>
          <p:cNvPr id="25" name="Text 23"/>
          <p:cNvSpPr/>
          <p:nvPr/>
        </p:nvSpPr>
        <p:spPr>
          <a:xfrm>
            <a:off x="6126480" y="11887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6583680" y="123444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社会/Social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217920" y="1645920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公众环保意识提升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217920" y="1856232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环境数据公开需求增加，舆情监督倒逼企业监测升级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217920" y="2267712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监测从业人员结构变化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217920" y="2478024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数字化技能需求增加，传统运维人员面临转型压力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57200" y="3063240"/>
            <a:ext cx="265176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007EB5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57200" y="3063240"/>
            <a:ext cx="411480" cy="411480"/>
          </a:xfrm>
          <a:prstGeom prst="rect">
            <a:avLst/>
          </a:prstGeom>
          <a:solidFill>
            <a:srgbClr val="007EB5"/>
          </a:solidFill>
          <a:ln/>
        </p:spPr>
      </p:sp>
      <p:sp>
        <p:nvSpPr>
          <p:cNvPr id="33" name="Text 31"/>
          <p:cNvSpPr/>
          <p:nvPr/>
        </p:nvSpPr>
        <p:spPr>
          <a:xfrm>
            <a:off x="457200" y="30632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914400" y="310896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技术/Technological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48640" y="3520440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AI+IoT加速融合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48640" y="3730752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数字孪生、预测性维护、异常预警技术成熟度提升，从概念走向落地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48640" y="4142232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5G模组成本下降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548640" y="4352544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5G+工业互联网预计2027年进入爆发期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3291840" y="3063240"/>
            <a:ext cx="265176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4D4D4D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3291840" y="3063240"/>
            <a:ext cx="411480" cy="411480"/>
          </a:xfrm>
          <a:prstGeom prst="rect">
            <a:avLst/>
          </a:prstGeom>
          <a:solidFill>
            <a:srgbClr val="4D4D4D"/>
          </a:solidFill>
          <a:ln/>
        </p:spPr>
      </p:sp>
      <p:sp>
        <p:nvSpPr>
          <p:cNvPr id="41" name="Text 39"/>
          <p:cNvSpPr/>
          <p:nvPr/>
        </p:nvSpPr>
        <p:spPr>
          <a:xfrm>
            <a:off x="3291840" y="30632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</a:t>
            </a:r>
            <a:endParaRPr lang="en-US" sz="2000" dirty="0"/>
          </a:p>
        </p:txBody>
      </p:sp>
      <p:sp>
        <p:nvSpPr>
          <p:cNvPr id="42" name="Text 40"/>
          <p:cNvSpPr/>
          <p:nvPr/>
        </p:nvSpPr>
        <p:spPr>
          <a:xfrm>
            <a:off x="3749040" y="310896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环境/Environmental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3383280" y="3520440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水环境精细化管理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3383280" y="3730752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流域监测、断面监测加密，饮用水源监测需求增加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3383280" y="4142232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大气治理持续高压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3383280" y="4352544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VOC无组织排放管控趋严，监测密度要求提升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6126480" y="3063240"/>
            <a:ext cx="265176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6126480" y="3063240"/>
            <a:ext cx="411480" cy="411480"/>
          </a:xfrm>
          <a:prstGeom prst="rect">
            <a:avLst/>
          </a:prstGeom>
          <a:solidFill>
            <a:srgbClr val="999999"/>
          </a:solidFill>
          <a:ln/>
        </p:spPr>
      </p:sp>
      <p:sp>
        <p:nvSpPr>
          <p:cNvPr id="49" name="Text 47"/>
          <p:cNvSpPr/>
          <p:nvPr/>
        </p:nvSpPr>
        <p:spPr>
          <a:xfrm>
            <a:off x="6126480" y="30632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</a:t>
            </a:r>
            <a:endParaRPr lang="en-US" sz="2000" dirty="0"/>
          </a:p>
        </p:txBody>
      </p:sp>
      <p:sp>
        <p:nvSpPr>
          <p:cNvPr id="50" name="Text 48"/>
          <p:cNvSpPr/>
          <p:nvPr/>
        </p:nvSpPr>
        <p:spPr>
          <a:xfrm>
            <a:off x="6583680" y="310896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法律/Legal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6217920" y="3520440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等保2.0+数据安全法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6217920" y="3730752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数据联网合规要求筛掉大批中小平台厂商，利好头部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6217920" y="4142232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碳核查法制化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6217920" y="4352544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碳排放数据真实性要求提高，第三方监测市场扩容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502920" cy="502920"/>
          </a:xfrm>
          <a:prstGeom prst="rect">
            <a:avLst/>
          </a:prstGeom>
          <a:solidFill>
            <a:srgbClr val="007EB5"/>
          </a:solidFill>
          <a:ln w="12700">
            <a:solidFill>
              <a:srgbClr val="007EB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3200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005840" y="32004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技术趋势TOP5：这次展会上什么最火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005840" y="77724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数据来源：展商样本分析 + 官方展会主题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65760" y="475488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数据来源：公众号展商目录样本分析；推断结论标注置信度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188720"/>
            <a:ext cx="854964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188720"/>
            <a:ext cx="320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7E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60120" y="123444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在线监测设备爆发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960120" y="1536192"/>
            <a:ext cx="365760" cy="256032"/>
          </a:xfrm>
          <a:prstGeom prst="rect">
            <a:avLst/>
          </a:prstGeom>
          <a:solidFill>
            <a:srgbClr val="007EB5"/>
          </a:solidFill>
          <a:ln/>
        </p:spPr>
      </p:sp>
      <p:sp>
        <p:nvSpPr>
          <p:cNvPr id="11" name="Text 9"/>
          <p:cNvSpPr/>
          <p:nvPr/>
        </p:nvSpPr>
        <p:spPr>
          <a:xfrm>
            <a:off x="960120" y="1536192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★★★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291840" y="1234440"/>
            <a:ext cx="5577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E4馆182家展商中超40%展示在线监测产品，24/7实时监测替代传统实验室抽样已成明确趋势。云+端一体化是活下去的基本要求。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1901952"/>
            <a:ext cx="8549640" cy="640080"/>
          </a:xfrm>
          <a:prstGeom prst="rect">
            <a:avLst/>
          </a:prstGeom>
          <a:solidFill>
            <a:srgbClr val="F8F9FA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1901952"/>
            <a:ext cx="320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7E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960120" y="1947672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传感器小型化与IoT化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960120" y="2249424"/>
            <a:ext cx="365760" cy="256032"/>
          </a:xfrm>
          <a:prstGeom prst="rect">
            <a:avLst/>
          </a:prstGeom>
          <a:solidFill>
            <a:srgbClr val="4D4D4D"/>
          </a:solidFill>
          <a:ln/>
        </p:spPr>
      </p:sp>
      <p:sp>
        <p:nvSpPr>
          <p:cNvPr id="17" name="Text 15"/>
          <p:cNvSpPr/>
          <p:nvPr/>
        </p:nvSpPr>
        <p:spPr>
          <a:xfrm>
            <a:off x="960120" y="2249424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★★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291840" y="1947672"/>
            <a:ext cx="5577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多款小型化水质传感器，光谱分析仪亮相，支持自适应采集、边缘预处理、分布式部署。农业面源污染、河道监测等新场景涌现。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2615184"/>
            <a:ext cx="854964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2615184"/>
            <a:ext cx="320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7E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960120" y="2660904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AI与大数据分析落地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960120" y="2962656"/>
            <a:ext cx="365760" cy="256032"/>
          </a:xfrm>
          <a:prstGeom prst="rect">
            <a:avLst/>
          </a:prstGeom>
          <a:solidFill>
            <a:srgbClr val="4D4D4D"/>
          </a:solidFill>
          <a:ln/>
        </p:spPr>
      </p:sp>
      <p:sp>
        <p:nvSpPr>
          <p:cNvPr id="23" name="Text 21"/>
          <p:cNvSpPr/>
          <p:nvPr/>
        </p:nvSpPr>
        <p:spPr>
          <a:xfrm>
            <a:off x="960120" y="2962656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★★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291840" y="2660904"/>
            <a:ext cx="5577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预测性维护、异常预警、排放趋势预测是主要AI落地场景。异常检测&gt;趋势预测&gt;溯源分析，技术成熟度依次递减。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57200" y="3328416"/>
            <a:ext cx="8549640" cy="640080"/>
          </a:xfrm>
          <a:prstGeom prst="rect">
            <a:avLst/>
          </a:prstGeom>
          <a:solidFill>
            <a:srgbClr val="F8F9FA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48640" y="3328416"/>
            <a:ext cx="320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7E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④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960120" y="3374136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数字孪生从概念走向落地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960120" y="3675888"/>
            <a:ext cx="365760" cy="256032"/>
          </a:xfrm>
          <a:prstGeom prst="rect">
            <a:avLst/>
          </a:prstGeom>
          <a:solidFill>
            <a:srgbClr val="4D4D4D"/>
          </a:solidFill>
          <a:ln/>
        </p:spPr>
      </p:sp>
      <p:sp>
        <p:nvSpPr>
          <p:cNvPr id="29" name="Text 27"/>
          <p:cNvSpPr/>
          <p:nvPr/>
        </p:nvSpPr>
        <p:spPr>
          <a:xfrm>
            <a:off x="960120" y="3675888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★★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3291840" y="3374136"/>
            <a:ext cx="5577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多个展台展示三维水厂、智慧水务大屏，但落地成本高，目前主要集中在大型水务集团和工业园区。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57200" y="4041648"/>
            <a:ext cx="854964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48640" y="4041648"/>
            <a:ext cx="320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7E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⑤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960120" y="4087368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5G+工业互联网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960120" y="4389120"/>
            <a:ext cx="365760" cy="256032"/>
          </a:xfrm>
          <a:prstGeom prst="rect">
            <a:avLst/>
          </a:prstGeom>
          <a:solidFill>
            <a:srgbClr val="999999"/>
          </a:solidFill>
          <a:ln/>
        </p:spPr>
      </p:sp>
      <p:sp>
        <p:nvSpPr>
          <p:cNvPr id="35" name="Text 33"/>
          <p:cNvSpPr/>
          <p:nvPr/>
        </p:nvSpPr>
        <p:spPr>
          <a:xfrm>
            <a:off x="960120" y="4389120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3291840" y="4087368"/>
            <a:ext cx="5577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5G网关、5G+监测方案首次大规模亮相，低延时特性支撑实时控制和远程运维。预计2027年进入爆发期。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502920" cy="502920"/>
          </a:xfrm>
          <a:prstGeom prst="rect">
            <a:avLst/>
          </a:prstGeom>
          <a:solidFill>
            <a:srgbClr val="007EB5"/>
          </a:solidFill>
          <a:ln w="12700">
            <a:solidFill>
              <a:srgbClr val="007EB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3200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08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005840" y="32004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AI分论坛核心结论：政府AI体系已成型，监测数据进入AI分析链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005840" y="77724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数据来源：2026中国环境技术大会AI×环保论坛（4月13-14日，环博会同期）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65760" y="475488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数据来源：2026中国环境技术大会AI×环保论坛（4月13-14日，上海）；腾讯元宝会议纪要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188720"/>
            <a:ext cx="4023360" cy="1417320"/>
          </a:xfrm>
          <a:prstGeom prst="rect">
            <a:avLst/>
          </a:prstGeom>
          <a:solidFill>
            <a:srgbClr val="F0F5F9"/>
          </a:solidFill>
          <a:ln w="12700">
            <a:solidFill>
              <a:srgbClr val="007EB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26187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7E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生态环境部AI行动方案（核心政策信号）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1536192"/>
            <a:ext cx="3840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成立AI工作专班，2026年38个应用场景落地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"山水大模型"统一入口：接入DeepSeek、讯飞等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700亿资源量环境知识库已建成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环评报告：30分钟生成 + 10分钟审批（全流程AI）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地下水污染报告智能生成：100+份规则模板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663440" y="1188720"/>
            <a:ext cx="4343400" cy="1417320"/>
          </a:xfrm>
          <a:prstGeom prst="rect">
            <a:avLst/>
          </a:prstGeom>
          <a:solidFill>
            <a:srgbClr val="F0F5F9"/>
          </a:solidFill>
          <a:ln w="12700">
            <a:solidFill>
              <a:srgbClr val="4D4D4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0" y="1261872"/>
            <a:ext cx="4160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地下水AI监管实测数据（来自论坛案例）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754880" y="1536192"/>
            <a:ext cx="2103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人工采样占比：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858000" y="1536192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99%（当前）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754880" y="1737360"/>
            <a:ext cx="2103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AI视频审核效率提升：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858000" y="1737360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4.1倍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754880" y="1938528"/>
            <a:ext cx="2103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采样合规率：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858000" y="1938528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98.9%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754880" y="2139696"/>
            <a:ext cx="2103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后台专家人力减少：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858000" y="2139696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73%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754880" y="2340864"/>
            <a:ext cx="2103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单份报告处理时间：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858000" y="2340864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5分钟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57200" y="27432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三大已落地AI应用场景（论坛实测案例）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" y="3063240"/>
            <a:ext cx="2651760" cy="1234440"/>
          </a:xfrm>
          <a:prstGeom prst="rect">
            <a:avLst/>
          </a:prstGeom>
          <a:solidFill>
            <a:srgbClr val="FFFFFF"/>
          </a:solidFill>
          <a:ln w="19050">
            <a:solidFill>
              <a:srgbClr val="007EB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57200" y="3063240"/>
            <a:ext cx="2651760" cy="347472"/>
          </a:xfrm>
          <a:prstGeom prst="rect">
            <a:avLst/>
          </a:prstGeom>
          <a:solidFill>
            <a:srgbClr val="007EB5"/>
          </a:solidFill>
          <a:ln/>
        </p:spPr>
      </p:sp>
      <p:sp>
        <p:nvSpPr>
          <p:cNvPr id="25" name="Text 23"/>
          <p:cNvSpPr/>
          <p:nvPr/>
        </p:nvSpPr>
        <p:spPr>
          <a:xfrm>
            <a:off x="457200" y="3063240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污染源数据异常智能诊断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30352" y="3456432"/>
            <a:ext cx="2505456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4个AI专家智能体协同：数据预处理/诊断分析/结果解读/可视化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6类异常自动识别（数据缺失、高值突增、低值骤降等）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3291840" y="3063240"/>
            <a:ext cx="2651760" cy="1234440"/>
          </a:xfrm>
          <a:prstGeom prst="rect">
            <a:avLst/>
          </a:prstGeom>
          <a:solidFill>
            <a:srgbClr val="FFFFFF"/>
          </a:solidFill>
          <a:ln w="19050">
            <a:solidFill>
              <a:srgbClr val="4D4D4D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291840" y="3063240"/>
            <a:ext cx="2651760" cy="347472"/>
          </a:xfrm>
          <a:prstGeom prst="rect">
            <a:avLst/>
          </a:prstGeom>
          <a:solidFill>
            <a:srgbClr val="4D4D4D"/>
          </a:solidFill>
          <a:ln/>
        </p:spPr>
      </p:sp>
      <p:sp>
        <p:nvSpPr>
          <p:cNvPr id="29" name="Text 27"/>
          <p:cNvSpPr/>
          <p:nvPr/>
        </p:nvSpPr>
        <p:spPr>
          <a:xfrm>
            <a:off x="3291840" y="3063240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湖库/河道AI智能识别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3364992" y="3456432"/>
            <a:ext cx="2505456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多模态：无人机航拍+固定摄像头+卫星遥感；YOLOv8+大模型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某市河道违规行为识别准确率90%+；自动告警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6126480" y="3063240"/>
            <a:ext cx="2651760" cy="1234440"/>
          </a:xfrm>
          <a:prstGeom prst="rect">
            <a:avLst/>
          </a:prstGeom>
          <a:solidFill>
            <a:srgbClr val="FFFFFF"/>
          </a:solidFill>
          <a:ln w="19050">
            <a:solidFill>
              <a:srgbClr val="999999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126480" y="3063240"/>
            <a:ext cx="2651760" cy="347472"/>
          </a:xfrm>
          <a:prstGeom prst="rect">
            <a:avLst/>
          </a:prstGeom>
          <a:solidFill>
            <a:srgbClr val="999999"/>
          </a:solidFill>
          <a:ln/>
        </p:spPr>
      </p:sp>
      <p:sp>
        <p:nvSpPr>
          <p:cNvPr id="33" name="Text 31"/>
          <p:cNvSpPr/>
          <p:nvPr/>
        </p:nvSpPr>
        <p:spPr>
          <a:xfrm>
            <a:off x="6126480" y="3063240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污染溯源报告一键生成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199632" y="3456432"/>
            <a:ext cx="2505456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环境知识库+全域溯源知识图谱+大模型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自动生成：事件概况+溯源分析+处置建议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457200" y="4407408"/>
            <a:ext cx="8549640" cy="658368"/>
          </a:xfrm>
          <a:prstGeom prst="rect">
            <a:avLst/>
          </a:prstGeom>
          <a:solidFill>
            <a:srgbClr val="FFF8E1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48640" y="4462272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67E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⚠ 对Hach的直接影响：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548640" y="4663440"/>
            <a:ext cx="8366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环评AI审批落地（30分钟生成）→ 客户报告生成门槛降低，但数据合规性审核变严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监测数据直接进AI分析链 → 数据质量要求系统性提升，仪器精度是基础前提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报告自动生成已在土壤/地下水/环评落地 → 水质报告AI生成场景参照性强，机会窗口已开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④ 地下水采样AI监管（视频+LLM审核）→ 采样规范性合规要求 → 硬件端需留有合规证据接口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502920" cy="502920"/>
          </a:xfrm>
          <a:prstGeom prst="rect">
            <a:avLst/>
          </a:prstGeom>
          <a:solidFill>
            <a:srgbClr val="007EB5"/>
          </a:solidFill>
          <a:ln w="12700">
            <a:solidFill>
              <a:srgbClr val="007EB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3200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09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005840" y="32004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客户需求变化：谁在买、买什么、为什么变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005840" y="77724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数据来源：展商反馈 + 政策文件 + 行业调研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65760" y="475488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数据来源：展商交流推断 + 政府招标文件分析 + 行业报告交叉验证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188720"/>
            <a:ext cx="2651760" cy="502920"/>
          </a:xfrm>
          <a:prstGeom prst="rect">
            <a:avLst/>
          </a:prstGeom>
          <a:solidFill>
            <a:srgbClr val="007EB5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18872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市政/水务集团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1783080"/>
            <a:ext cx="265176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1801368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采购规模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48640" y="1984248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大型项目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500万+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2331720"/>
            <a:ext cx="265176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2350008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需求变化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48640" y="2532888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从买设备→买平台→买服务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2880360"/>
            <a:ext cx="265176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2898648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典型需求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48640" y="3081528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厂网河湖一体化监测、智慧水务大屏、数据联网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3429000"/>
            <a:ext cx="265176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3447288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采购决策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48640" y="3630168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政府招标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国产优先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291840" y="1188720"/>
            <a:ext cx="2651760" cy="502920"/>
          </a:xfrm>
          <a:prstGeom prst="rect">
            <a:avLst/>
          </a:prstGeom>
          <a:solidFill>
            <a:srgbClr val="4D4D4D"/>
          </a:solidFill>
          <a:ln/>
        </p:spPr>
      </p:sp>
      <p:sp>
        <p:nvSpPr>
          <p:cNvPr id="22" name="Text 20"/>
          <p:cNvSpPr/>
          <p:nvPr/>
        </p:nvSpPr>
        <p:spPr>
          <a:xfrm>
            <a:off x="3291840" y="118872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工业园区/企业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3291840" y="1783080"/>
            <a:ext cx="265176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383280" y="1801368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采购规模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383280" y="1984248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中型项目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50-300万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291840" y="2331720"/>
            <a:ext cx="265176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383280" y="2350008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需求变化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3383280" y="2532888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满足监管→降本增效→数据资产化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291840" y="2880360"/>
            <a:ext cx="265176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383280" y="2898648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典型需求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3383280" y="3081528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在线监测系统、碳核查、排放数据上报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291840" y="3429000"/>
            <a:ext cx="265176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383280" y="3447288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采购决策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3383280" y="3630168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企业自采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价格敏感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126480" y="1188720"/>
            <a:ext cx="2651760" cy="502920"/>
          </a:xfrm>
          <a:prstGeom prst="rect">
            <a:avLst/>
          </a:prstGeom>
          <a:solidFill>
            <a:srgbClr val="999999"/>
          </a:solidFill>
          <a:ln/>
        </p:spPr>
      </p:sp>
      <p:sp>
        <p:nvSpPr>
          <p:cNvPr id="36" name="Text 34"/>
          <p:cNvSpPr/>
          <p:nvPr/>
        </p:nvSpPr>
        <p:spPr>
          <a:xfrm>
            <a:off x="6126480" y="118872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政府/监管机构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6126480" y="1783080"/>
            <a:ext cx="265176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217920" y="1801368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采购规模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6217920" y="1984248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区域型项目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1000万+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6126480" y="2331720"/>
            <a:ext cx="265176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217920" y="2350008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需求变化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6217920" y="2532888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从单点监测→一张网→精准溯源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6126480" y="2880360"/>
            <a:ext cx="265176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217920" y="2898648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典型需求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6217920" y="3081528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污染源自动监控一张网、预警应急、污染溯源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6126480" y="3429000"/>
            <a:ext cx="265176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217920" y="3447288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采购决策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6217920" y="3630168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政府专项债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等保合规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457200" y="4023360"/>
            <a:ext cx="8549640" cy="777240"/>
          </a:xfrm>
          <a:prstGeom prst="rect">
            <a:avLst/>
          </a:prstGeom>
          <a:solidFill>
            <a:srgbClr val="F0F5F9"/>
          </a:solidFill>
          <a:ln/>
        </p:spPr>
      </p:sp>
      <p:sp>
        <p:nvSpPr>
          <p:cNvPr id="50" name="Text 48"/>
          <p:cNvSpPr/>
          <p:nvPr/>
        </p:nvSpPr>
        <p:spPr>
          <a:xfrm>
            <a:off x="594360" y="409651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7E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4C视角：客户真正在买什么？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594360" y="4352544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Customer Value（监测能力带来的决策支持） | Cost（3-5年总拥有成本） | Convenience（安装便捷、跨系统数据打通） | Communication（响应快、本地化支持）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502920" cy="502920"/>
          </a:xfrm>
          <a:prstGeom prst="rect">
            <a:avLst/>
          </a:prstGeom>
          <a:solidFill>
            <a:srgbClr val="007EB5"/>
          </a:solidFill>
          <a:ln w="12700">
            <a:solidFill>
              <a:srgbClr val="007EB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3200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005840" y="32004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竞争格局：39家数字化跨界公司值得重点关注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005840" y="77724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数据来源：公众号展商目录筛选，云/平台/数据/智能/数字关键词展商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65760" y="475488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数据来源：微信公众号「城市中国」「环保开幕」展商目录，人工筛选数字化相关展商共39家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11887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数字化跨界公司威胁分级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554480"/>
            <a:ext cx="2651760" cy="2331720"/>
          </a:xfrm>
          <a:prstGeom prst="rect">
            <a:avLst/>
          </a:prstGeom>
          <a:solidFill>
            <a:srgbClr val="FFFFFF"/>
          </a:solidFill>
          <a:ln w="25400">
            <a:solidFill>
              <a:srgbClr val="C0392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554480"/>
            <a:ext cx="2651760" cy="384048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1554480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极高威胁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48640" y="2011680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江苏纽带智能(E3-G61)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E20环境平台(E1)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48640" y="2606040"/>
            <a:ext cx="24688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平台型：端到端智能监测，传感器+云平台+运维一体化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291840" y="1554480"/>
            <a:ext cx="2651760" cy="2331720"/>
          </a:xfrm>
          <a:prstGeom prst="rect">
            <a:avLst/>
          </a:prstGeom>
          <a:solidFill>
            <a:srgbClr val="FFFFFF"/>
          </a:solidFill>
          <a:ln w="25400">
            <a:solidFill>
              <a:srgbClr val="E67E2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91840" y="1554480"/>
            <a:ext cx="2651760" cy="384048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15" name="Text 13"/>
          <p:cNvSpPr/>
          <p:nvPr/>
        </p:nvSpPr>
        <p:spPr>
          <a:xfrm>
            <a:off x="3291840" y="1554480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高威胁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383280" y="2011680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尚云互联、易环智能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盘古自动化、智易时代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383280" y="2606040"/>
            <a:ext cx="24688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垂直型：智慧环保平台、自动化控制+AI算法；智易时代已获AI巡检机器人创新奖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126480" y="1554480"/>
            <a:ext cx="2651760" cy="2331720"/>
          </a:xfrm>
          <a:prstGeom prst="rect">
            <a:avLst/>
          </a:prstGeom>
          <a:solidFill>
            <a:srgbClr val="FFFFFF"/>
          </a:solidFill>
          <a:ln w="25400">
            <a:solidFill>
              <a:srgbClr val="F39C1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126480" y="1554480"/>
            <a:ext cx="2651760" cy="384048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20" name="Text 18"/>
          <p:cNvSpPr/>
          <p:nvPr/>
        </p:nvSpPr>
        <p:spPr>
          <a:xfrm>
            <a:off x="6126480" y="1554480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中威胁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217920" y="2011680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云景信息、崟盾智能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缘循智能 等33家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217920" y="2606040"/>
            <a:ext cx="24688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细分型：智慧水务平台、流体控制智能化等垂直场景，绑定特定客户群体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57200" y="4023360"/>
            <a:ext cx="8549640" cy="777240"/>
          </a:xfrm>
          <a:prstGeom prst="rect">
            <a:avLst/>
          </a:prstGeom>
          <a:solidFill>
            <a:srgbClr val="F0F5F9"/>
          </a:solidFill>
          <a:ln/>
        </p:spPr>
      </p:sp>
      <p:sp>
        <p:nvSpPr>
          <p:cNvPr id="24" name="Text 22"/>
          <p:cNvSpPr/>
          <p:nvPr/>
        </p:nvSpPr>
        <p:spPr>
          <a:xfrm>
            <a:off x="594360" y="4096512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7E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Hach战略定位建议：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94360" y="4352544"/>
            <a:ext cx="8275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39家公司可能重塑行业格局——平台型公司是最大不确定性。建议：①优先评估其云平台成熟度和客户覆盖度；②加速软件能力建设，从"设备供应商"转型"监测服务伙伴"；③与平台型公司探索合作而非对抗（数据接口+硬件互补）。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502920" cy="502920"/>
          </a:xfrm>
          <a:prstGeom prst="rect">
            <a:avLst/>
          </a:prstGeom>
          <a:solidFill>
            <a:srgbClr val="007EB5"/>
          </a:solidFill>
          <a:ln w="12700">
            <a:solidFill>
              <a:srgbClr val="007EB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3200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005840" y="32004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2026环博会：5大行业共识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005840" y="77724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数据来源：展商行为分析 + 政策解读 + 行业交流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65760" y="475488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数据来源：基于展馆数据、展商展示内容、官方主题的综合推断；适合朋友圈分享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188720"/>
            <a:ext cx="8549640" cy="6858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" name="Shape 6"/>
          <p:cNvSpPr/>
          <p:nvPr/>
        </p:nvSpPr>
        <p:spPr>
          <a:xfrm>
            <a:off x="548640" y="1298448"/>
            <a:ext cx="457200" cy="457200"/>
          </a:xfrm>
          <a:prstGeom prst="ellipse">
            <a:avLst/>
          </a:prstGeom>
          <a:solidFill>
            <a:srgbClr val="007EB5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129844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143000" y="123444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产品：监测设备向实时化、智能化演进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143000" y="1536192"/>
            <a:ext cx="38404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E4馆182家仪器仪表展商中超40%展示在线监测产品，IoT版本已成标配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120640" y="1261872"/>
            <a:ext cx="27432" cy="548640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13" name="Text 11"/>
          <p:cNvSpPr/>
          <p:nvPr/>
        </p:nvSpPr>
        <p:spPr>
          <a:xfrm>
            <a:off x="5257800" y="1280160"/>
            <a:ext cx="3611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纯卖硬件越来越难，云+端一体化是活下去的基本要求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1938528"/>
            <a:ext cx="8549640" cy="685800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15" name="Shape 13"/>
          <p:cNvSpPr/>
          <p:nvPr/>
        </p:nvSpPr>
        <p:spPr>
          <a:xfrm>
            <a:off x="548640" y="2048256"/>
            <a:ext cx="457200" cy="457200"/>
          </a:xfrm>
          <a:prstGeom prst="ellipse">
            <a:avLst/>
          </a:prstGeom>
          <a:solidFill>
            <a:srgbClr val="007EB5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204825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143000" y="1984248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技术：云+AI是技术主线，但落地节奏差异大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143000" y="2286000"/>
            <a:ext cx="38404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39家数字化展商中70%提供云服务，AI异常检测是主要落地场景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120640" y="2011680"/>
            <a:ext cx="27432" cy="548640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20" name="Text 18"/>
          <p:cNvSpPr/>
          <p:nvPr/>
        </p:nvSpPr>
        <p:spPr>
          <a:xfrm>
            <a:off x="5257800" y="2029968"/>
            <a:ext cx="3611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大水务在数字孪生，小水厂还在搞定标——技术代差在拉大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" y="2688336"/>
            <a:ext cx="8549640" cy="6858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2" name="Shape 20"/>
          <p:cNvSpPr/>
          <p:nvPr/>
        </p:nvSpPr>
        <p:spPr>
          <a:xfrm>
            <a:off x="548640" y="2798064"/>
            <a:ext cx="457200" cy="457200"/>
          </a:xfrm>
          <a:prstGeom prst="ellipse">
            <a:avLst/>
          </a:prstGeom>
          <a:solidFill>
            <a:srgbClr val="007EB5"/>
          </a:solidFill>
          <a:ln/>
        </p:spPr>
      </p:sp>
      <p:sp>
        <p:nvSpPr>
          <p:cNvPr id="23" name="Text 21"/>
          <p:cNvSpPr/>
          <p:nvPr/>
        </p:nvSpPr>
        <p:spPr>
          <a:xfrm>
            <a:off x="548640" y="279806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143000" y="2734056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客户：买服务不买设备已成普遍现实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143000" y="3035808"/>
            <a:ext cx="38404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展商普遍推出年度运维服务合同，政府招标将服务能力纳入评分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5120640" y="2761488"/>
            <a:ext cx="27432" cy="548640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27" name="Text 25"/>
          <p:cNvSpPr/>
          <p:nvPr/>
        </p:nvSpPr>
        <p:spPr>
          <a:xfrm>
            <a:off x="5257800" y="2779776"/>
            <a:ext cx="3611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一次性采购的饼越来越小，维保服务的钱越来越重要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57200" y="3438144"/>
            <a:ext cx="8549640" cy="685800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29" name="Shape 27"/>
          <p:cNvSpPr/>
          <p:nvPr/>
        </p:nvSpPr>
        <p:spPr>
          <a:xfrm>
            <a:off x="548640" y="3547872"/>
            <a:ext cx="457200" cy="457200"/>
          </a:xfrm>
          <a:prstGeom prst="ellipse">
            <a:avLst/>
          </a:prstGeom>
          <a:solidFill>
            <a:srgbClr val="007EB5"/>
          </a:solidFill>
          <a:ln/>
        </p:spPr>
      </p:sp>
      <p:sp>
        <p:nvSpPr>
          <p:cNvPr id="30" name="Text 28"/>
          <p:cNvSpPr/>
          <p:nvPr/>
        </p:nvSpPr>
        <p:spPr>
          <a:xfrm>
            <a:off x="548640" y="35478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1143000" y="3483864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政策：十五五+双碳构成双重引擎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1143000" y="3785616"/>
            <a:ext cx="38404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美丽中国建设+碳市场扩容，政策文件可直接引用，市场测算有据可查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5120640" y="3511296"/>
            <a:ext cx="27432" cy="548640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34" name="Text 32"/>
          <p:cNvSpPr/>
          <p:nvPr/>
        </p:nvSpPr>
        <p:spPr>
          <a:xfrm>
            <a:off x="5257800" y="3529584"/>
            <a:ext cx="3611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政策红利还在，但竞争者也在增多，能不能吃到看能力和资源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57200" y="4187952"/>
            <a:ext cx="8549640" cy="6858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6" name="Shape 34"/>
          <p:cNvSpPr/>
          <p:nvPr/>
        </p:nvSpPr>
        <p:spPr>
          <a:xfrm>
            <a:off x="548640" y="4297680"/>
            <a:ext cx="457200" cy="457200"/>
          </a:xfrm>
          <a:prstGeom prst="ellipse">
            <a:avLst/>
          </a:prstGeom>
          <a:solidFill>
            <a:srgbClr val="007EB5"/>
          </a:solidFill>
          <a:ln/>
        </p:spPr>
      </p:sp>
      <p:sp>
        <p:nvSpPr>
          <p:cNvPr id="37" name="Text 35"/>
          <p:cNvSpPr/>
          <p:nvPr/>
        </p:nvSpPr>
        <p:spPr>
          <a:xfrm>
            <a:off x="548640" y="42976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1143000" y="4233672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格局：跨界打劫正在发生，但还未颠覆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1143000" y="4535424"/>
            <a:ext cx="38404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39家数字化跨界公司以平台+数据能力切入，但硬件根基不稳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5120640" y="4261104"/>
            <a:ext cx="27432" cy="548640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41" name="Text 39"/>
          <p:cNvSpPr/>
          <p:nvPr/>
        </p:nvSpPr>
        <p:spPr>
          <a:xfrm>
            <a:off x="5257800" y="4279392"/>
            <a:ext cx="3611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传统仪表厂商不要慌，但必须加速软件能力建设，否则会被跨进来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502920" cy="502920"/>
          </a:xfrm>
          <a:prstGeom prst="rect">
            <a:avLst/>
          </a:prstGeom>
          <a:solidFill>
            <a:srgbClr val="007EB5"/>
          </a:solidFill>
          <a:ln w="12700">
            <a:solidFill>
              <a:srgbClr val="007EB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3200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附录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005840" y="32004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数据来源与说明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475488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数据截至2026年4月15日展会闭幕；结论仅供参考，不构成投资建议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2651760" cy="1600200"/>
          </a:xfrm>
          <a:prstGeom prst="rect">
            <a:avLst/>
          </a:prstGeom>
          <a:solidFill>
            <a:srgbClr val="FFFFFF"/>
          </a:solidFill>
          <a:ln w="6350">
            <a:solidFill>
              <a:srgbClr val="99999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188720"/>
            <a:ext cx="2651760" cy="347472"/>
          </a:xfrm>
          <a:prstGeom prst="rect">
            <a:avLst/>
          </a:prstGeom>
          <a:solidFill>
            <a:srgbClr val="007EB5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188720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官方数据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1600200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第27届上海国际环博会官方发布（2026.04.15）：1,987家展商、82,419名观众、17万平米、15馆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548640" y="1947672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官方展会主题：百国共襄 智能引领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548640" y="2295144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下一届：第28届上海环博会 2027年4月20-22日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291840" y="1188720"/>
            <a:ext cx="2651760" cy="1600200"/>
          </a:xfrm>
          <a:prstGeom prst="rect">
            <a:avLst/>
          </a:prstGeom>
          <a:solidFill>
            <a:srgbClr val="FFFFFF"/>
          </a:solidFill>
          <a:ln w="6350">
            <a:solidFill>
              <a:srgbClr val="99999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91840" y="1188720"/>
            <a:ext cx="2651760" cy="347472"/>
          </a:xfrm>
          <a:prstGeom prst="rect">
            <a:avLst/>
          </a:prstGeom>
          <a:solidFill>
            <a:srgbClr val="007EB5"/>
          </a:solidFill>
          <a:ln/>
        </p:spPr>
      </p:sp>
      <p:sp>
        <p:nvSpPr>
          <p:cNvPr id="14" name="Text 12"/>
          <p:cNvSpPr/>
          <p:nvPr/>
        </p:nvSpPr>
        <p:spPr>
          <a:xfrm>
            <a:off x="3291840" y="1188720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展商数据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383280" y="1600200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主数据源：微信公众号「城市中国」「环保开幕」展商目录，OCR识别E2/E4/E5/E6馆展商样本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3383280" y="1947672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E1馆：93家（77家已识别，用户发送截图OCR）；E3馆：约200家，官方未公开完整数据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3383280" y="2295144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数字化公司：同时包含云/平台/数据/智能/数字关键词，共计39家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6126480" y="1188720"/>
            <a:ext cx="2651760" cy="1600200"/>
          </a:xfrm>
          <a:prstGeom prst="rect">
            <a:avLst/>
          </a:prstGeom>
          <a:solidFill>
            <a:srgbClr val="FFFFFF"/>
          </a:solidFill>
          <a:ln w="6350">
            <a:solidFill>
              <a:srgbClr val="999999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126480" y="1188720"/>
            <a:ext cx="2651760" cy="347472"/>
          </a:xfrm>
          <a:prstGeom prst="rect">
            <a:avLst/>
          </a:prstGeom>
          <a:solidFill>
            <a:srgbClr val="007EB5"/>
          </a:solidFill>
          <a:ln/>
        </p:spPr>
      </p:sp>
      <p:sp>
        <p:nvSpPr>
          <p:cNvPr id="20" name="Text 18"/>
          <p:cNvSpPr/>
          <p:nvPr/>
        </p:nvSpPr>
        <p:spPr>
          <a:xfrm>
            <a:off x="6126480" y="1188720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政策数据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217920" y="1600200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十五五规划纲要（2026年启动）——美丽中国建设部署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6217920" y="1947672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全国两会政府工作报告2026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6217920" y="2295144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生态环境部公开文件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457200" y="2926080"/>
            <a:ext cx="2651760" cy="1600200"/>
          </a:xfrm>
          <a:prstGeom prst="rect">
            <a:avLst/>
          </a:prstGeom>
          <a:solidFill>
            <a:srgbClr val="FFFFFF"/>
          </a:solidFill>
          <a:ln w="6350">
            <a:solidFill>
              <a:srgbClr val="999999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7200" y="2926080"/>
            <a:ext cx="2651760" cy="347472"/>
          </a:xfrm>
          <a:prstGeom prst="rect">
            <a:avLst/>
          </a:prstGeom>
          <a:solidFill>
            <a:srgbClr val="007EB5"/>
          </a:solidFill>
          <a:ln/>
        </p:spPr>
      </p:sp>
      <p:sp>
        <p:nvSpPr>
          <p:cNvPr id="26" name="Text 24"/>
          <p:cNvSpPr/>
          <p:nvPr/>
        </p:nvSpPr>
        <p:spPr>
          <a:xfrm>
            <a:off x="457200" y="2926080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E1馆重点展商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48640" y="3337560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赛莱默(Xylem)：E1馆，POM系统+臭氧新品；威立雅：人形机器人+AI降碳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548640" y="3685032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水艺环保(E1-A11)、清新环境(E1-C02/D01)、天津创业(E1-042/D43)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548640" y="4032504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昕彤赋能(长沙)人工智能(E1)：给水和排污系统，AI风机；中国恩菲(E1-L65)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3291840" y="2926080"/>
            <a:ext cx="2651760" cy="1600200"/>
          </a:xfrm>
          <a:prstGeom prst="rect">
            <a:avLst/>
          </a:prstGeom>
          <a:solidFill>
            <a:srgbClr val="FFFFFF"/>
          </a:solidFill>
          <a:ln w="6350">
            <a:solidFill>
              <a:srgbClr val="999999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291840" y="2926080"/>
            <a:ext cx="2651760" cy="347472"/>
          </a:xfrm>
          <a:prstGeom prst="rect">
            <a:avLst/>
          </a:prstGeom>
          <a:solidFill>
            <a:srgbClr val="007EB5"/>
          </a:solidFill>
          <a:ln/>
        </p:spPr>
      </p:sp>
      <p:sp>
        <p:nvSpPr>
          <p:cNvPr id="32" name="Text 30"/>
          <p:cNvSpPr/>
          <p:nvPr/>
        </p:nvSpPr>
        <p:spPr>
          <a:xfrm>
            <a:off x="3291840" y="2926080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E3馆重点展商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3383280" y="3337560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哈希(E3-C12★年度领军)、聚光/谱育(E3★双奖年度领军+出海先锋)、智易时代(E3-D19/C20★机器人奖)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3383280" y="3685032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格林凯瑞(E3-B42)、诺方(E3-B79)、深昌鸿(E3-E75)、淳业(E3-C98)、雷磁(E3-D22)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3383280" y="4032504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★=2026 IE环博奖得主；E3馆约200家，完整名录来自展商整理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6126480" y="2926080"/>
            <a:ext cx="2651760" cy="1600200"/>
          </a:xfrm>
          <a:prstGeom prst="rect">
            <a:avLst/>
          </a:prstGeom>
          <a:solidFill>
            <a:srgbClr val="FFFFFF"/>
          </a:solidFill>
          <a:ln w="6350">
            <a:solidFill>
              <a:srgbClr val="999999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126480" y="2926080"/>
            <a:ext cx="2651760" cy="347472"/>
          </a:xfrm>
          <a:prstGeom prst="rect">
            <a:avLst/>
          </a:prstGeom>
          <a:solidFill>
            <a:srgbClr val="007EB5"/>
          </a:solidFill>
          <a:ln/>
        </p:spPr>
      </p:sp>
      <p:sp>
        <p:nvSpPr>
          <p:cNvPr id="38" name="Text 36"/>
          <p:cNvSpPr/>
          <p:nvPr/>
        </p:nvSpPr>
        <p:spPr>
          <a:xfrm>
            <a:off x="6126480" y="2926080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论坛数据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6217920" y="3337560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2026中国环境技术大会AI×环保论坛（4月13-14日，上海），腾讯元宝会议纪要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6217920" y="3685032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演讲嘉宾：生态环境部技术专家、赵总（水环境AI）、陈荣研究员（AI驱动环境监管数字化）、高松教授（VOC与大气AI感知）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2026环博会市场观察报告</dc:title>
  <dc:subject>PptxGenJS Presentation</dc:subject>
  <dc:creator>Hach中国IMS产品线</dc:creator>
  <cp:lastModifiedBy>Hach中国IMS产品线</cp:lastModifiedBy>
  <cp:revision>1</cp:revision>
  <dcterms:created xsi:type="dcterms:W3CDTF">2026-04-19T06:24:47Z</dcterms:created>
  <dcterms:modified xsi:type="dcterms:W3CDTF">2026-04-19T06:24:47Z</dcterms:modified>
</cp:coreProperties>
</file>