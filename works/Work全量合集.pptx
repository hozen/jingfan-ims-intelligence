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gif" ContentType="image/gif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00"/>
    <p:sldId id="257" r:id="rId201"/>
    <p:sldId id="258" r:id="rId202"/>
    <p:sldId id="259" r:id="rId203"/>
    <p:sldId id="260" r:id="rId204"/>
    <p:sldId id="261" r:id="rId205"/>
    <p:sldId id="262" r:id="rId206"/>
    <p:sldId id="263" r:id="rId207"/>
    <p:sldId id="264" r:id="rId208"/>
    <p:sldId id="265" r:id="rId209"/>
    <p:sldId id="266" r:id="rId210"/>
    <p:sldId id="267" r:id="rId211"/>
    <p:sldId id="268" r:id="rId212"/>
    <p:sldId id="269" r:id="rId213"/>
    <p:sldId id="270" r:id="rId214"/>
    <p:sldId id="271" r:id="rId215"/>
    <p:sldId id="272" r:id="rId216"/>
    <p:sldId id="273" r:id="rId217"/>
    <p:sldId id="274" r:id="rId218"/>
    <p:sldId id="275" r:id="rId219"/>
    <p:sldId id="276" r:id="rId220"/>
    <p:sldId id="277" r:id="rId221"/>
    <p:sldId id="278" r:id="rId222"/>
    <p:sldId id="279" r:id="rId223"/>
    <p:sldId id="280" r:id="rId224"/>
    <p:sldId id="281" r:id="rId225"/>
    <p:sldId id="282" r:id="rId226"/>
    <p:sldId id="283" r:id="rId227"/>
    <p:sldId id="284" r:id="rId228"/>
    <p:sldId id="285" r:id="rId229"/>
    <p:sldId id="286" r:id="rId230"/>
    <p:sldId id="287" r:id="rId231"/>
    <p:sldId id="288" r:id="rId232"/>
    <p:sldId id="289" r:id="rId233"/>
    <p:sldId id="290" r:id="rId234"/>
    <p:sldId id="291" r:id="rId235"/>
    <p:sldId id="292" r:id="rId236"/>
    <p:sldId id="293" r:id="rId237"/>
    <p:sldId id="294" r:id="rId238"/>
    <p:sldId id="295" r:id="rId239"/>
    <p:sldId id="296" r:id="rId240"/>
    <p:sldId id="297" r:id="rId241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00" Type="http://schemas.openxmlformats.org/officeDocument/2006/relationships/slide" Target="slides/slide1.xml"/><Relationship Id="rId201" Type="http://schemas.openxmlformats.org/officeDocument/2006/relationships/slide" Target="slides/slide2.xml"/><Relationship Id="rId202" Type="http://schemas.openxmlformats.org/officeDocument/2006/relationships/slide" Target="slides/slide3.xml"/><Relationship Id="rId203" Type="http://schemas.openxmlformats.org/officeDocument/2006/relationships/slide" Target="slides/slide4.xml"/><Relationship Id="rId204" Type="http://schemas.openxmlformats.org/officeDocument/2006/relationships/slide" Target="slides/slide5.xml"/><Relationship Id="rId205" Type="http://schemas.openxmlformats.org/officeDocument/2006/relationships/slide" Target="slides/slide6.xml"/><Relationship Id="rId206" Type="http://schemas.openxmlformats.org/officeDocument/2006/relationships/slide" Target="slides/slide7.xml"/><Relationship Id="rId207" Type="http://schemas.openxmlformats.org/officeDocument/2006/relationships/slide" Target="slides/slide8.xml"/><Relationship Id="rId208" Type="http://schemas.openxmlformats.org/officeDocument/2006/relationships/slide" Target="slides/slide9.xml"/><Relationship Id="rId209" Type="http://schemas.openxmlformats.org/officeDocument/2006/relationships/slide" Target="slides/slide10.xml"/><Relationship Id="rId210" Type="http://schemas.openxmlformats.org/officeDocument/2006/relationships/slide" Target="slides/slide11.xml"/><Relationship Id="rId211" Type="http://schemas.openxmlformats.org/officeDocument/2006/relationships/slide" Target="slides/slide12.xml"/><Relationship Id="rId212" Type="http://schemas.openxmlformats.org/officeDocument/2006/relationships/slide" Target="slides/slide13.xml"/><Relationship Id="rId213" Type="http://schemas.openxmlformats.org/officeDocument/2006/relationships/slide" Target="slides/slide14.xml"/><Relationship Id="rId214" Type="http://schemas.openxmlformats.org/officeDocument/2006/relationships/slide" Target="slides/slide15.xml"/><Relationship Id="rId215" Type="http://schemas.openxmlformats.org/officeDocument/2006/relationships/slide" Target="slides/slide16.xml"/><Relationship Id="rId216" Type="http://schemas.openxmlformats.org/officeDocument/2006/relationships/slide" Target="slides/slide17.xml"/><Relationship Id="rId217" Type="http://schemas.openxmlformats.org/officeDocument/2006/relationships/slide" Target="slides/slide18.xml"/><Relationship Id="rId218" Type="http://schemas.openxmlformats.org/officeDocument/2006/relationships/slide" Target="slides/slide19.xml"/><Relationship Id="rId219" Type="http://schemas.openxmlformats.org/officeDocument/2006/relationships/slide" Target="slides/slide20.xml"/><Relationship Id="rId220" Type="http://schemas.openxmlformats.org/officeDocument/2006/relationships/slide" Target="slides/slide21.xml"/><Relationship Id="rId221" Type="http://schemas.openxmlformats.org/officeDocument/2006/relationships/slide" Target="slides/slide22.xml"/><Relationship Id="rId222" Type="http://schemas.openxmlformats.org/officeDocument/2006/relationships/slide" Target="slides/slide23.xml"/><Relationship Id="rId223" Type="http://schemas.openxmlformats.org/officeDocument/2006/relationships/slide" Target="slides/slide24.xml"/><Relationship Id="rId224" Type="http://schemas.openxmlformats.org/officeDocument/2006/relationships/slide" Target="slides/slide25.xml"/><Relationship Id="rId225" Type="http://schemas.openxmlformats.org/officeDocument/2006/relationships/slide" Target="slides/slide26.xml"/><Relationship Id="rId226" Type="http://schemas.openxmlformats.org/officeDocument/2006/relationships/slide" Target="slides/slide27.xml"/><Relationship Id="rId227" Type="http://schemas.openxmlformats.org/officeDocument/2006/relationships/slide" Target="slides/slide28.xml"/><Relationship Id="rId228" Type="http://schemas.openxmlformats.org/officeDocument/2006/relationships/slide" Target="slides/slide29.xml"/><Relationship Id="rId229" Type="http://schemas.openxmlformats.org/officeDocument/2006/relationships/slide" Target="slides/slide30.xml"/><Relationship Id="rId230" Type="http://schemas.openxmlformats.org/officeDocument/2006/relationships/slide" Target="slides/slide31.xml"/><Relationship Id="rId231" Type="http://schemas.openxmlformats.org/officeDocument/2006/relationships/slide" Target="slides/slide32.xml"/><Relationship Id="rId232" Type="http://schemas.openxmlformats.org/officeDocument/2006/relationships/slide" Target="slides/slide33.xml"/><Relationship Id="rId233" Type="http://schemas.openxmlformats.org/officeDocument/2006/relationships/slide" Target="slides/slide34.xml"/><Relationship Id="rId234" Type="http://schemas.openxmlformats.org/officeDocument/2006/relationships/slide" Target="slides/slide35.xml"/><Relationship Id="rId235" Type="http://schemas.openxmlformats.org/officeDocument/2006/relationships/slide" Target="slides/slide36.xml"/><Relationship Id="rId236" Type="http://schemas.openxmlformats.org/officeDocument/2006/relationships/slide" Target="slides/slide37.xml"/><Relationship Id="rId237" Type="http://schemas.openxmlformats.org/officeDocument/2006/relationships/slide" Target="slides/slide38.xml"/><Relationship Id="rId238" Type="http://schemas.openxmlformats.org/officeDocument/2006/relationships/slide" Target="slides/slide39.xml"/><Relationship Id="rId239" Type="http://schemas.openxmlformats.org/officeDocument/2006/relationships/slide" Target="slides/slide40.xml"/><Relationship Id="rId240" Type="http://schemas.openxmlformats.org/officeDocument/2006/relationships/slide" Target="slides/slide41.xml"/><Relationship Id="rId241" Type="http://schemas.openxmlformats.org/officeDocument/2006/relationships/slide" Target="slides/slide4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E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2026环博会市场观察报告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水务环保行业从业者的实战参考资料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产品趋势 · 技术趋势 · 客户需求 · 政策驱动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  |  上海新国际博览中心  |  第27届上海国际环博会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数据来源：官方发布 + 展商样本交叉验证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客户需求变化：谁在买、买什么、为什么变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数据来源：展商反馈 + 政策文件 + 行业调研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数据来源：展商交流推断 + 政府招标文件分析 + 行业报告交叉验证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51760" cy="4754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市政/水务集团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2821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189280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500万+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58568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4231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从买设备→买平台→买服务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70632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8892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95351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厂网河湖一体化监测、智慧水务大屏、数据联网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00984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319272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" y="348386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政府招标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国产优先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1143000"/>
            <a:ext cx="2651760" cy="47548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工业园区/企业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1709928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172821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64992" y="189280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50-300万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240280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258568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64992" y="24231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满足监管→降本增效→数据资产化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2770632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278892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64992" y="295351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在线监测系统、碳核查、排放数据上报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300984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319272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64992" y="348386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企业自采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价格敏感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1143000"/>
            <a:ext cx="2651760" cy="4754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政府/监管机构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26480" y="1709928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172821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9632" y="189280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1000万+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2240280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2258568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99632" y="24231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从单点监测→一张网→精准溯源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2770632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9632" y="278892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99632" y="295351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污染源自动监控一张网、预警应急、污染溯源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3300984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9632" y="3319272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99632" y="348386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政府专项债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等保合规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3950208"/>
            <a:ext cx="8549640" cy="749808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566928" y="40233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4C视角：客户真正在买什么？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" y="4279392"/>
            <a:ext cx="8394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 Value（监测能力带来的决策支持） | Cost（3-5年总拥有成本） | Convenience（安装便捷、跨系统数据打通） | Communication（响应快、本地化支持）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竞争格局：39家数字化跨界公司值得重点关注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数据来源：公众号展商目录筛选，云/平台/数据/智能/数字关键词展商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数据来源：微信公众号「城市中国」「环保开幕」展商目录，人工筛选数字化相关展商共39家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数字化跨界公司威胁分级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2651760" cy="226771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81328"/>
            <a:ext cx="265176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81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极高威胁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901952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江苏纽带智能(E3-G61)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E20环境平台(E1)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487168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平台型：端到端智能监测，传感器+云平台+运维一体化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481328"/>
            <a:ext cx="2651760" cy="2267712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481328"/>
            <a:ext cx="265176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481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高威胁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1901952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尚云互联、易环智能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盘古自动化、智易时代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2487168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垂直型：智慧环保平台、自动化控制+AI算法；智易时代已获AI巡检机器人创新奖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481328"/>
            <a:ext cx="2651760" cy="2267712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481328"/>
            <a:ext cx="2651760" cy="3657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481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中威胁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9632" y="1901952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云景信息、崟盾智能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缘循智能 等33家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2487168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细分型：智慧水务平台、流体控制智能化等垂直场景，绑定特定客户群体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8549640" cy="749808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9319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Hach战略定位建议：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4187952"/>
            <a:ext cx="8394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39家公司可能重塑行业格局——平台型公司是最大不确定性。建议：①优先评估其云平台成熟度和客户覆盖度；②加速软件能力建设，从"设备供应商"转型"监测服务伙伴"；③与平台型公司探索合作而非对抗（数据接口+硬件互补）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2026环博会：5大行业共识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数据来源：展商行为分析 + 政策解读 + 行业交流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数据来源：基于展馆数据、展商展示内容、官方主题的综合推断；适合朋友圈分享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5496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123444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1795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产品：监测设备向实时化、智能化演进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4721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E4馆182家仪器仪表展商中超40%展示在线监测产品，IoT版本已成标配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119786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5102352" y="121615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纯卖硬件越来越难，云+端一体化是活下去的基本要求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8549640" cy="658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" y="196596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19110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技术：云+AI是技术主线，但落地节奏差异大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2037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39家数字化展商中70%提供云服务，AI异常检测是主要落地场景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83480" y="192938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5102352" y="194767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大水务在数字孪生，小水厂还在搞定标——技术代差在拉大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5496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30352" y="269748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26426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客户：买服务不买设备已成普遍现实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29352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展商普遍推出年度运维服务合同，政府招标将服务能力纳入评分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83480" y="266090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267919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一次性采购的饼越来越小，维保服务的钱越来越重要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549640" cy="658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30352" y="342900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3374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政策：十五五+双碳构成双重引擎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36667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美丽中国建设+碳市场扩容，政策文件可直接引用，市场测算有据可查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83480" y="339242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Text 32"/>
          <p:cNvSpPr/>
          <p:nvPr/>
        </p:nvSpPr>
        <p:spPr>
          <a:xfrm>
            <a:off x="5102352" y="341071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政策红利还在，但竞争者也在增多，能不能吃到看能力和资源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069080"/>
            <a:ext cx="85496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30352" y="416052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97280" y="41056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格局：跨界打劫正在发生，但还未颠覆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7280" y="43982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39家数字化跨界公司以平台+数据能力切入，但硬件根基不稳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83480" y="412394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Text 39"/>
          <p:cNvSpPr/>
          <p:nvPr/>
        </p:nvSpPr>
        <p:spPr>
          <a:xfrm>
            <a:off x="5102352" y="414223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传统仪表厂商不要慌，但必须加速软件能力建设，否则会被跨进来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数据来源与说明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数据截至2026年4月15日展会闭幕；结论仅供参考，不构成投资建议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官方数据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52704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第27届上海国际环博会官方发布（2026.04.15）：1,987家展商、82,419名观众、17万平米、15馆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0352" y="191109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官方展会主题：百国共襄 智能引领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0352" y="2295144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下一届：第28届上海环博会 2027年4月20-22日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43000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43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展商数据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64992" y="152704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主数据源：微信公众号「城市中国」「环保开幕」展商目录，OCR识别E2/E4/E5/E6馆展商样本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64992" y="191109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E1馆：93家（77家已识别，用户发送截图OCR）；E3馆：约200家，官方未公开完整数据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2295144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数字化公司：同时包含云/平台/数据/智能/数字关键词，共计39家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1143000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143000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143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政策数据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9632" y="152704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十五五规划纲要（2026年启动）——美丽中国建设部署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99632" y="191109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全国两会政府工作报告2026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99632" y="2295144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生态环境部公开文件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862072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862072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8620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E1馆重点展商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32461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赛莱默(Xylem)：E1馆，POM系统+臭氧新品；威立雅：人形机器人+AI降碳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0352" y="363016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水艺环保(E1-A11)、清新环境(E1-C02/D01)、天津创业(E1-042/D43)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0352" y="401421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昕彤赋能(长沙)人工智能(E1)：给水和排污系统，AI风机；中国恩菲(E1-L65)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91840" y="2862072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862072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28620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E3馆重点展商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64992" y="32461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哈希(E3-C12★年度领军)、聚光/谱育(E3★双奖年度领军+出海先锋)、智易时代(E3-D19/C20★机器人奖)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64992" y="363016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格林凯瑞(E3-B42)、诺方(E3-B79)、深昌鸿(E3-E75)、淳业(E3-C98)、雷磁(E3-D22)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64992" y="401421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★=2026 IE环博奖得主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26480" y="2862072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862072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28620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论坛数据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99632" y="32461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2026中国环境技术大会AI×环保论坛（4月13-14日，上海），腾讯元宝会议纪要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99632" y="363016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演讲嘉宾：生态环境部技术专家、赵总（水环境AI）、陈荣研究员（AI驱动环境监管数字化）、高松教授（VOC与大气AI感知）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硬件仪表竞品动态：有新品，有威胁，也有不动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分析方法：技术创新成熟度 x 市场覆盖度象限分析 | 数据来源：展商样本 + 公开报道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数据来源：展商样本；结论性质：★★★ 事实 / ★★ 有依据推断 / ★ 方向性判断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市场覆盖度 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16200000">
            <a:off x="109728" y="2194560"/>
            <a:ext cx="256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技术创新成熟度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85496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61872"/>
            <a:ext cx="0" cy="3273552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0" cy="3273552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" y="2907792"/>
            <a:ext cx="85496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8640" y="13258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高成熟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低覆盖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92040" y="13258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高成熟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高覆盖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低成熟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低覆盖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892040" y="29718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低成熟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高覆盖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48640" y="17373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8105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E+H / 梅特勒 / 横河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0665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国际老牌，展会期间无大动作披露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2286000"/>
            <a:ext cx="777240" cy="2560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22860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737360"/>
            <a:ext cx="4114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737360"/>
            <a:ext cx="54864" cy="960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4992624" y="1792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聚光/谱育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92624" y="206654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双奖得主，实验室无人化+巡检机器人，平台化整套输出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65008" y="1792224"/>
            <a:ext cx="804672" cy="23774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8065008" y="1792224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领导者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2816352"/>
            <a:ext cx="4114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816352"/>
            <a:ext cx="54864" cy="960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4992624" y="28712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赛莱默(Xylem)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92624" y="314553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POM系统+臭氧新品，硬件AI融合，E1馆市政水务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65008" y="2871216"/>
            <a:ext cx="804672" cy="23774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8065008" y="2871216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领导者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" y="3401568"/>
            <a:ext cx="20574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4747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格林凯瑞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374904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水质预制试剂新品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3986784"/>
            <a:ext cx="384048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986784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88920" y="3401568"/>
            <a:ext cx="20574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0360" y="34747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诺方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880360" y="374904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0.1μm颗粒计数器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80360" y="3986784"/>
            <a:ext cx="384048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2880360" y="3986784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846320" y="340156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401568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4992624" y="3438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国产替代军团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(雷磁/虹润/深昌鸿等)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92624" y="3703320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价格低40-60%，满足国产优先政策，市政采购入围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402336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4023360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0" name="Text 48"/>
          <p:cNvSpPr/>
          <p:nvPr/>
        </p:nvSpPr>
        <p:spPr>
          <a:xfrm>
            <a:off x="4992624" y="4059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威立雅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92624" y="4325112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人形机器人+AI降碳，综合服务AI化，E1馆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软件/平台/AI服务竞品动态：谁在重新定义竞争规则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分析方法：威胁本质 x 可copy性分层 | 数据来源：展商样本 + 论坛内容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可copy性：自研难度（高=难以复制，中=可以借鉴，低=容易被抄）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8549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15568"/>
            <a:ext cx="73152" cy="10789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1704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⚠⚠⚠ 极高威胁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17043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 (E3-G61)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1408176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传感器+云平台+运维一体化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1609344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平台型：端到端智能监测，传感器是入口，云平台是底座，运维是粘性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41648" y="1170432"/>
            <a:ext cx="566928" cy="20116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4" name="Text 12"/>
          <p:cNvSpPr/>
          <p:nvPr/>
        </p:nvSpPr>
        <p:spPr>
          <a:xfrm>
            <a:off x="4041648" y="117043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可copy:极高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21792" y="1975104"/>
            <a:ext cx="4041648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17043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首创环保 / 鸿泰华瑞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408176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ASMART模型+WEAM / 飛鸿AI系统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609344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把运营经验/AI决策变平台，让仪器变数据源，算法成决策核心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66176" y="1170432"/>
            <a:ext cx="566928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117043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可copy:高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846320" y="1975104"/>
            <a:ext cx="4041648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286000"/>
            <a:ext cx="8549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286000"/>
            <a:ext cx="73152" cy="960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233172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⚠⚠ 高威胁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232257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智易时代 (E3-D19/C20)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" y="2542032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AI巡检机器人+算法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" y="272491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AI算法切入巡检场景，机器人替代人工巡检，AI创新奖认证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52344" y="2322576"/>
            <a:ext cx="512064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2752344" y="232257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可copy:高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56432" y="232257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E20环境平台 (E1馆)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56432" y="2542032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数字化平台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56432" y="272491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平台型数字化公司，用平台能力绑定客户，重构采购决策链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86984" y="2322576"/>
            <a:ext cx="512064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5586984" y="232257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可copy:高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291072" y="232257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昕彤智能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91072" y="2542032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剑企AI智能风机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91072" y="272491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硬件内嵌AI，曝气能耗降低30%，L4级水厂核心设备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421624" y="2322576"/>
            <a:ext cx="512064" cy="1828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9" name="Text 37"/>
          <p:cNvSpPr/>
          <p:nvPr/>
        </p:nvSpPr>
        <p:spPr>
          <a:xfrm>
            <a:off x="8421624" y="232257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7200" y="3337560"/>
            <a:ext cx="8549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337560"/>
            <a:ext cx="73152" cy="6217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" y="33741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中威胁（33家细分型）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60320" y="337413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尚云互联 / 易环智能 / 盘古自动化 等33家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60320" y="359359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智慧环保平台/自动化控制+AI算法  ➤ 垂直场景绑定特定客户群体，技术copy壁垒不高但客户关系深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412480" y="3374136"/>
            <a:ext cx="502920" cy="1828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6" name="Text 44"/>
          <p:cNvSpPr/>
          <p:nvPr/>
        </p:nvSpPr>
        <p:spPr>
          <a:xfrm>
            <a:off x="8412480" y="337413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可copy:中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" y="4069080"/>
            <a:ext cx="854964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413308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机遇窗口：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6928" y="4352544"/>
            <a:ext cx="8394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政府AI体系已成型（山水大模型+700亿知识库），监测数据进入AI分析链——数据合规性审核变严利好头部仪器厂商；水质报告AI生成参照土壤/地下水案例已落地，Hach应抢占先机。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竞品对标与Hach行动建议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分析方法：基于竞品动态矩阵 | 适合管理层/IMS产品线内部讨论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 有依据的推断 | 适合作为IMS产品线战略讨论输入，不构成确定性建议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1148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4114800" cy="4023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4300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硬件文明公司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(聚光/赛莱默/威立雅)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50208" y="1216152"/>
            <a:ext cx="5303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50208" y="121615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184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8013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产品技术领先，平台化整套输出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331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加速软件能力内建，从卖设备转向卖监测服务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1148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143000"/>
            <a:ext cx="4114800" cy="4023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14300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AI软件跨界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(鸿泰华瑞/首创环保/纽带智能)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47888" y="1216152"/>
            <a:ext cx="5303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47888" y="121615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6184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8013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让仪器变数据源，算法成决策核心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1488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331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硬件必须有软件接口，否则被管道化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990088"/>
            <a:ext cx="41148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990088"/>
            <a:ext cx="4114800" cy="40233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9008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国产替代军团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(雷磁/虹润/深昌鸿)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50208" y="3063240"/>
            <a:ext cx="5303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950208" y="3063240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4655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64845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价格低40-60%，国产优先政策受益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39959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178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强化服务价值和长期总拥有成本优势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90088"/>
            <a:ext cx="41148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990088"/>
            <a:ext cx="4114800" cy="40233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99008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AI创新新锐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(智易时代/昕彤智能)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47888" y="3063240"/>
            <a:ext cx="5303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8247888" y="3063240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34655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64845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垂直场景AI落地，轻量化改造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9959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4178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评估合作或收购可能，填补AI能力短板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官方数据：1,987家展商告诉我们什么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数据来源：官方发布 + 公众号样本交叉验证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数据来源：第27届上海国际环博会官方发布（2026.04.15）；样本校验：微信公众号「城市中国」「环保开幕」OCR识别展商样本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659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1965960" cy="5486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1,987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家参展企业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31343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来自20个国家和地区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23444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3716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82,419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06040" y="1965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名专业观众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31343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来自119个国家和地区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3716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17万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1965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平方米展示面积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31343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15个展馆启用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23444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3716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82,419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03720" y="1965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国际观众增幅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31343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连续两年超30%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26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1005840" cy="2743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101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规模超预期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54480" y="33101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实际1,987家 vs 预期近2,000家，基本符合；15馆启用 vs 上年略有收缩，说明行业整体规模趋稳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94176"/>
            <a:ext cx="1005840" cy="2743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6941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国际化加速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54480" y="369417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119国观众 + 7国家展团 + 35个国际采购团，国际观众连续两年增幅超30%，出海是真实机会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078224"/>
            <a:ext cx="1005840" cy="2743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782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智能化主线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54480" y="407822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官方主题"百国共襄 智能引领"，AI+环保融合已成行业共识，非概念而是落地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展馆分布：行业全景地图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数据来源：官方展馆数据 + 公众号样本交叉验证；E1馆数据来自用户发送展商截图OCR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E1数据：用户发送截图OCR，77家已识别；E3馆约200家，官方未公开完整数据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7043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12070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182家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" y="157276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过程控制/仪器仪表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1865376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仪器仪表最集中，同行竞争最激烈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170432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170432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17043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E6馆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05072" y="12070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187家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64992" y="157276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大气治理/余热回收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1865376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规模最大，细分领域覆盖最广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170432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170432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17043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E5馆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39712" y="12070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99632" y="157276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大气治理/VOCs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9632" y="1865376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VOC治理、无组织排放管控热点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56032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560320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56032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70432" y="2596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120家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" y="29626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综合环境解决方案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" y="325526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工程/运营/咨询类展商最多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256032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2560320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256032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005072" y="2596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93家（77家已识别）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64992" y="29626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水处理/膜材料/泵阀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64992" y="325526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膜材料国产化价格下探明显；赛莱默、威立雅等国际品牌在列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256032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560320"/>
            <a:ext cx="621792" cy="31089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56032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39712" y="2596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~200家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99632" y="29626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监测与检测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99632" y="325526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水质监测企业最集中；E3-C12=哈希(C12)，E3-B42=格林凯瑞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波特五力分析：行业竞争格局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数据来源：基于展馆分布数据推断 + 公开政策文件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有数据支撑的推断；★★ = 行业共识推断；★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30352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1430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行业内现有竞争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14300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E4馆182家仪器仪表扎堆；价格战已从设备蔓延到耗材（膜价格低40-60%）；纯硬件模式越来越难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18120" y="114300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展商分布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719072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856232"/>
            <a:ext cx="530352" cy="5303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562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18562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新进入者威胁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185623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39家数字化公司跨界切入（云平台+数据+IoT）；软件能力强的跨界者正在重新定义竞争规则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18120" y="185623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展商分类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432304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569464"/>
            <a:ext cx="530352" cy="5303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694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25694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上游议价能力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256946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传感器/芯片国产化提升，但高端传感器仍依赖进口；传感器价格下探有助于降低仪表成本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18120" y="256946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行业趋势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145536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282696"/>
            <a:ext cx="530352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826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5568" y="328269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下游议价能力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328269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水务集团/市政采购：政府招标、国产优先、性价比要求高；买方高度集中且信息化程度提升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18120" y="328269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政策+采购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858768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995928"/>
            <a:ext cx="530352" cy="53035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9959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5568" y="39959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替代品威胁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00400" y="399592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在线监测替代传统实验室抽样（趋势明确）；但高端检测仍需实验室，替代速度中等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18120" y="399592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技术趋势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行业价值链：从研发到服务的利润迁移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数据来源：基于展商样本类型分布推断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有展商数据支撑；★★ = 行业共识推断；★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1554480" cy="40233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核心零部件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传感器/芯片/膜材料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传感器国产替代中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高端仍依赖进口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" y="3090672"/>
            <a:ext cx="1115568" cy="2468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1993392"/>
            <a:ext cx="164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76272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76272" y="1188720"/>
            <a:ext cx="1554480" cy="402336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8" name="Text 16"/>
          <p:cNvSpPr/>
          <p:nvPr/>
        </p:nvSpPr>
        <p:spPr>
          <a:xfrm>
            <a:off x="2176272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31136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仪器仪表制造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31136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水质/气体分析仪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31136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E4馆182家扎堆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价格战激烈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95728" y="3090672"/>
            <a:ext cx="1115568" cy="24688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2395728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中低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30752" y="1993392"/>
            <a:ext cx="164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95344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5344" y="1188720"/>
            <a:ext cx="1554480" cy="402336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7" name="Text 25"/>
          <p:cNvSpPr/>
          <p:nvPr/>
        </p:nvSpPr>
        <p:spPr>
          <a:xfrm>
            <a:off x="3895344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950208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50208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IoT方案/边缘计算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50208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39家数字化公司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跨界进入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0" y="3090672"/>
            <a:ext cx="1115568" cy="24688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0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中高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49824" y="1993392"/>
            <a:ext cx="164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▶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14416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14416" y="1188720"/>
            <a:ext cx="1554480" cy="40233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6" name="Text 34"/>
          <p:cNvSpPr/>
          <p:nvPr/>
        </p:nvSpPr>
        <p:spPr>
          <a:xfrm>
            <a:off x="5614416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669280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软件平台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0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SaaS云平台/AI分析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0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70%数字化展商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提供云服务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33872" y="3090672"/>
            <a:ext cx="1115568" cy="2468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41" name="Text 39"/>
          <p:cNvSpPr/>
          <p:nvPr/>
        </p:nvSpPr>
        <p:spPr>
          <a:xfrm>
            <a:off x="5833872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68896" y="1993392"/>
            <a:ext cx="164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▶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333488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33488" y="1188720"/>
            <a:ext cx="1554480" cy="40233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45" name="Text 43"/>
          <p:cNvSpPr/>
          <p:nvPr/>
        </p:nvSpPr>
        <p:spPr>
          <a:xfrm>
            <a:off x="7333488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388352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运维服务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88352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校准/运维/运营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88352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卖设备→卖服务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已成普遍现实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52944" y="3090672"/>
            <a:ext cx="1115568" cy="2468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50" name="Text 48"/>
          <p:cNvSpPr/>
          <p:nvPr/>
        </p:nvSpPr>
        <p:spPr>
          <a:xfrm>
            <a:off x="7552944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高且稳定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3657600"/>
            <a:ext cx="8549640" cy="80467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52" name="Text 50"/>
          <p:cNvSpPr/>
          <p:nvPr/>
        </p:nvSpPr>
        <p:spPr>
          <a:xfrm>
            <a:off x="566928" y="3749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价值链洞察：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66928" y="4023360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利润正从仪器仪表制造向软件平台和运维服务迁移。纯硬件销售利润空间持续收窄，"设备+云+服务"一体化模式是抵御价格战的关键路径。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3C战略分析：Hach的机会与挑战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数据来源：展商数据 + 公开新闻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事实；★★ = 有依据的推断；★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51760" cy="4754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465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市场地位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568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荣膺2026 IE环博奖年度领军企业（官方认证）★★★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414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20年本土研发积累 + Veralto集团平台 + 水质监测全品类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363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战略挑战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46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纯硬件模式承压；数字化/AI能力需加速补齐；服务占比偏低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3133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参展动作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041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E3-C12展位 + 研发20周年庆典 + 七大行业解决方案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1143000"/>
            <a:ext cx="2651760" cy="47548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Competitors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170992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7465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国内创新者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19568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智易时代：AI算法+巡检机器人★AI创新奖；聚光/谱育：环博奖双料★年度领军+出海先锋；格林凯瑞：水质预制试剂新品；诺方：0.1μm颗粒计数器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40487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4414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平台型跨界者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江苏纽带智能(E3-G61)：传感器+云平台+运维一体化；淳业科技(E3-C98)：水质监测全系列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309981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1363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3346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雷磁(E3-D22，86年积累)、深昌鸿(E75)、虹润：价格低40-60%，满足国产优先政策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379476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83133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国际品牌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4041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赛莱默(Xylem)：E1馆，POM+臭氧新品；威立雅：E1馆人形机器人+AI降碳；恩德斯豪斯(EH)：全球客户论坛在瑞士，环博会未见大动作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1143000"/>
            <a:ext cx="2651760" cy="4754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26480" y="170992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7465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市政水务集团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19568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买设备→买平台→买服务；国产优先；单项目500万+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40487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4414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工业园区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满足监管→降本增效→数据资产化；国产替代机会大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309981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1363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政府/监管机构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3346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一张网+精准溯源；等保合规；区域型项目1000万+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379476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83133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采购决策变化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4041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不只是采购价，是3-5年运维+校准+升级总拥有成本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PESTEL政策分析：2026年最值得关注的政策方向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数据来源：公开政策文件 + 政府工作报告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数据来源：十五五规划纲要（2026年启动）；全国两会政府工作报告2026；生态环境部公开文件；碳市场扩容政策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117957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政治/Policy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58191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十五五规划开局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178308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美丽中国建设部署，县镇级监测能力建设带来增量市场，黑臭水体治理持续，监测点位加密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220370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政府招标国产优先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40487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国产化率要求提升，外资品牌进入采购名单门槛提高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1430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143000"/>
            <a:ext cx="384048" cy="38404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30752" y="117957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经济/Economic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4992" y="158191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双碳目标推进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178308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碳市场扩容提速，钢铁/化工/水泥/航空等高排放行业分批纳入，碳监测成新增量赛道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64992" y="220370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水务集团降本增效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240487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地方财政压力下，水务集团降本需求强烈，价格敏感度提升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1430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143000"/>
            <a:ext cx="384048" cy="38404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65392" y="117957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社会/Social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158191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公众环保意识提升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178308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环境数据公开需求增加，舆情监督倒逼企业监测升级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99632" y="220370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监测从业人员结构变化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9632" y="240487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数字化技能需求增加，传统运维人员面临转型压力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990088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990088"/>
            <a:ext cx="384048" cy="38404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96112" y="30266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技术/Technological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" y="342900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AI+IoT加速融合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363016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数字孪生、预测性维护、异常预警技术成熟度提升，从概念走向落地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0352" y="405079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5G模组成本下降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" y="425196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5G+工业互联网预计2027年进入爆发期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91840" y="2990088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2990088"/>
            <a:ext cx="384048" cy="38404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730752" y="30266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环境/Environmental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64992" y="342900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水环境精细化管理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64992" y="363016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流域监测、断面监测加密，饮用水源监测需求增加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64992" y="405079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大气治理持续高压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64992" y="425196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VOC无组织排放管控趋严，监测密度要求提升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2990088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2990088"/>
            <a:ext cx="384048" cy="38404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9" name="Text 47"/>
          <p:cNvSpPr/>
          <p:nvPr/>
        </p:nvSpPr>
        <p:spPr>
          <a:xfrm>
            <a:off x="612648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565392" y="30266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法律/Legal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99632" y="342900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等保2.0+数据安全法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99632" y="363016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数据联网合规要求筛掉大批中小平台厂商，利好头部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99632" y="405079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碳核查法制化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99632" y="425196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碳排放数据真实性要求提高，第三方监测市场扩容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技术趋势TOP5：这次展会上什么最火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数据来源：展商样本分析 + 官方展会主题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数据来源：公众号展商目录样本分析；推断结论标注置信度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549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43000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17957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在线监测设备爆发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1481328"/>
            <a:ext cx="347472" cy="22860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481328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1179576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E4馆182家展商中超40%展示在线监测产品，24/7实时监测替代传统实验室抽样已成明确趋势。云+端一体化是活下去的基本要求。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837944"/>
            <a:ext cx="8549640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837944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18745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传感器小型化与IoT化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2176272"/>
            <a:ext cx="347472" cy="22860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17627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18745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多款小型化水质传感器，光谱分析仪亮相，支持自适应采集、边缘预处理、分布式部署。农业面源污染、河道监测等新场景涌现。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32888"/>
            <a:ext cx="8549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532888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256946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AI与大数据分析落地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2871216"/>
            <a:ext cx="347472" cy="22860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2871216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2569464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预测性维护、异常预警、排放趋势预测是主要AI落地场景。异常检测&gt;趋势预测&gt;溯源分析，技术成熟度依次递减。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27832"/>
            <a:ext cx="8549640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227832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326440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数字孪生从概念走向落地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3566160"/>
            <a:ext cx="347472" cy="22860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5661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326440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多个展台展示三维水厂、智慧水务大屏，但落地成本高，目前主要集中在大型水务集团和工业园区。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22776"/>
            <a:ext cx="8549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922776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39593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5G+工业互联网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4400" y="4261104"/>
            <a:ext cx="347472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261104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0" y="395935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5G网关、5G+监测方案首次大规模亮相，低延时特性支撑实时控制和远程运维。预计2027年进入爆发期。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AI分论坛核心结论：政府AI体系已成型，监测数据进入AI分析链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数据来源：2026中国环境技术大会AI×环保论坛（4月13-14日，环博会同期）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数据来源：2026中国环境技术大会AI×环保论坛（4月13-14日，上海）；腾讯元宝会议纪要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1371600"/>
          </a:xfrm>
          <a:prstGeom prst="rect">
            <a:avLst/>
          </a:prstGeom>
          <a:solidFill>
            <a:srgbClr val="F0F5F9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07008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生态环境部AI行动方案（核心政策信号）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463040"/>
            <a:ext cx="387705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成立AI工作专班，2026年38个应用场景落地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"山水大模型"统一入口：接入DeepSeek、讯飞等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700亿资源量环境知识库已建成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环评报告：30分钟生成 + 10分钟审批（全流程AI）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地下水污染报告智能生成：100+份规则模板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343400" cy="1371600"/>
          </a:xfrm>
          <a:prstGeom prst="rect">
            <a:avLst/>
          </a:prstGeom>
          <a:solidFill>
            <a:srgbClr val="F0F5F9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207008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地下水AI监管实测数据（来自论坛案例）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6592" y="14813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人工采样占比：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39712" y="148132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99%（当前）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36592" y="16824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AI视频审核效率提升：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39712" y="1682496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4.1倍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36592" y="18836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采样合规率：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39712" y="1883664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98.9%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36592" y="20848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后台专家人力减少：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39712" y="2084832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36592" y="22860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单份报告处理时间：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39712" y="228600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633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三大已落地AI应用场景（论坛实测案例）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26080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9260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污染源数据异常智能诊断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" y="3291840"/>
            <a:ext cx="252374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4个AI专家智能体协同：数据预处理/诊断分析/结果解读/可视化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6类异常自动识别（数据缺失、高值突增、低值骤降等）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91840" y="292608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926080"/>
            <a:ext cx="2651760" cy="329184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29260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湖库/河道AI智能识别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55848" y="3291840"/>
            <a:ext cx="252374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多模态：无人机航拍+固定摄像头+卫星遥感；YOLOv8+大模型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某市河道违规行为识别准确率90%+；自动告警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292608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926080"/>
            <a:ext cx="2651760" cy="32918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29260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污染溯源报告一键生成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0488" y="3291840"/>
            <a:ext cx="252374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环境知识库+全域溯源知识图谱+大模型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自动生成：事件概况+溯源分析+处置建议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224528"/>
            <a:ext cx="8549640" cy="621792"/>
          </a:xfrm>
          <a:prstGeom prst="rect">
            <a:avLst/>
          </a:prstGeom>
          <a:solidFill>
            <a:srgbClr val="FFF8E1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27024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对Hach的直接影响：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" y="4498848"/>
            <a:ext cx="8394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环评AI审批落地（30分钟生成）→ 客户报告生成门槛降低，但数据合规性审核变严  ② 监测数据直接进AI分析链→ 数据质量要求系统性提升  ③ 水质报告AI生成场景参照性强（土壤/地下水案例已落地），机会窗口已开  ④ 地下水采样AI监管→ 采样规范性合规要求→ 硬件端需留有合规证据接口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4D4D4D"/>
                </a:solidFill>
                <a:latin typeface="Microsoft YaHei"/>
              </a:rPr>
              <a:t>中国城镇供水排水协会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7EB5"/>
                </a:solidFill>
                <a:latin typeface="Microsoft YaHei"/>
              </a:rPr>
              <a:t>2026年年会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999999"/>
                </a:solidFill>
                <a:latin typeface="Microsoft YaHei"/>
              </a:rPr>
              <a:t>市场情报速览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430000" cy="2743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数据来源：百度百科、中国新闻网、深圳政府在线、南方新闻网  |  2026-04-22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320040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深圳国际会展中心（宝安新馆）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Hach中国IMS产品线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年会基础信息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80467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09728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中国城镇供水排水协会2026年年会（简称中国水协2026年会）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01952"/>
            <a:ext cx="11274552" cy="80467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01952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9339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93392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2026年4月15日-19日（共5天）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98064"/>
            <a:ext cx="11274552" cy="80467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98064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89504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地点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889504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深圳国际会展中心（宝安新馆），主会场17号馆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94176"/>
            <a:ext cx="11274552" cy="80467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94176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85615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785615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近万名代表，300余位专家，180余家参展企业，5万平米展示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90288"/>
            <a:ext cx="11274552" cy="80467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590288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81727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指导单位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681727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住房和城乡建设部城市建设司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1274552" cy="80467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486400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主办单位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57784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中国城镇供水排水协会、广东省城镇供水协会、深圳市环境水务集团等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六大核心议题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84124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EB5"/>
                </a:solidFill>
                <a:latin typeface="Microsoft YaHei"/>
              </a:rPr>
              <a:t>规划落实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09728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聚焦十五五规划贯彻落实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92808"/>
            <a:ext cx="11274552" cy="84124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92808"/>
            <a:ext cx="11274552" cy="5486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2996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条例实施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299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《供水条例》立法本意与实施路径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25496"/>
            <a:ext cx="11274552" cy="84124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25496"/>
            <a:ext cx="11274552" cy="54864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62656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EB5"/>
                </a:solidFill>
                <a:latin typeface="Microsoft YaHei"/>
              </a:rPr>
              <a:t>人工智能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多模态AI智能体、水务大模型、人工智能+全业务链融合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58184"/>
            <a:ext cx="11274552" cy="84124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58184"/>
            <a:ext cx="11274552" cy="5486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95344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系统治理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895344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厂-网-河一体化城镇水污染防控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90872"/>
            <a:ext cx="11274552" cy="84124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690872"/>
            <a:ext cx="11274552" cy="54864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82803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EB5"/>
                </a:solidFill>
                <a:latin typeface="Microsoft YaHei"/>
              </a:rPr>
              <a:t>韧性城市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828032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内涝防治体系（智能感知+精准预警+科学处置）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23559"/>
            <a:ext cx="11274552" cy="84124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623559"/>
            <a:ext cx="11274552" cy="5486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7607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价格机制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76072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科学定价保障行业可持续发展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年会日程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8229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64592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4月14日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14300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新闻发布会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74552" cy="82296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164592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4月15日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05740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会长办公会、省级地方水协会长工作会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11274552" cy="8229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164592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4月16日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97180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第三届十七次常务理事会、第三届十八次理事会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1274552" cy="82296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64592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1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4月17日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88620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综合大会（上午）、技术交流与圆桌对话会（下午）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11274552" cy="8229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164592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46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4月18日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0060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技术交流与圆桌对话会（全天）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577840"/>
            <a:ext cx="164592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760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4月19日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71500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深圳市典型水务项目参观考察（智慧水厂、全地下水质净化厂等）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关键信息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7772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深圳环境水务集团开放11条专业参观线路，提供深圳样板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1274552" cy="777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7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年会同期举办城镇水务技术与产品展示，5万平米，180余家水务材料设备企业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1274552" cy="7772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2026年是十五五规划开局之年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11879"/>
            <a:ext cx="11274552" cy="777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11879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现场有自助签到制证机、人形机器人、AI打卡装置等智慧化服务设施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11274552" cy="7772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华为公共事业军团参与，展示水务鸿蒙化解决方案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49240"/>
            <a:ext cx="11274552" cy="777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34924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AI议题贯穿全场：水务大模型、多模态AI智能体、人工智能+全业务链融合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AI议题：从概念到落地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Hach IMS视角关联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14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" cy="11430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水务大模型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深圳水务深水云脑2.0已落地，五指耙水厂实证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463040"/>
            <a:ext cx="5971032" cy="96012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16459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EB5"/>
                </a:solidFill>
                <a:latin typeface="Microsoft YaHei"/>
              </a:rPr>
              <a:t>AI分析平台是IMS数据变现的出口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74552" cy="114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54864" cy="11430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多模态AI智能体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华为展示水务场景多模态推理能力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743200"/>
            <a:ext cx="5971032" cy="96012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926079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EB5"/>
                </a:solidFill>
                <a:latin typeface="Microsoft YaHei"/>
              </a:rPr>
              <a:t>IMS提供多参数仪表数据是AI训练的基础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11274552" cy="114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54864" cy="11430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人工智能+全业务链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水协推动AI与运营/维护/决策全链条融合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4023359"/>
            <a:ext cx="5971032" cy="96012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42062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EB5"/>
                </a:solidFill>
                <a:latin typeface="Microsoft YaHei"/>
              </a:rPr>
              <a:t>IMS是设备层数据接入AI的最小闭环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12079"/>
            <a:ext cx="11274552" cy="114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212079"/>
            <a:ext cx="54864" cy="11430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03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智能感知+精准预警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1499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华为PLC+边缘计算+AI联动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5303519"/>
            <a:ext cx="5971032" cy="96012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5486399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EB5"/>
                </a:solidFill>
                <a:latin typeface="Microsoft YaHei"/>
              </a:rPr>
              <a:t>IMS+仪表是感知层的核心数据源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4D4D"/>
                </a:solidFill>
                <a:latin typeface="Microsoft YaHei"/>
              </a:rPr>
              <a:t>同期活动：城镇水务技术与产品展示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8229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011680" cy="82296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1430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5万平米，180余家水务材料设备企业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74552" cy="82296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2011680" cy="82296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574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2026年4月16日-18日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11274552" cy="8229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2011680" cy="82296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7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地点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9718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深圳国际会展中心（与年会同期同地）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1274552" cy="82296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2011680" cy="82296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1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特点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8862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智慧化服务设施：自助签到制证机、人形机器人、AI打卡装置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11274552" cy="82296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201168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46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Hach机会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8006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EB5"/>
                </a:solidFill>
                <a:latin typeface="Microsoft YaHei"/>
              </a:rPr>
              <a:t>180余家参展商中含大量潜在CP/集成商partner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数据来源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685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百度百科（年会基本信息）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11274552" cy="6858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中国新闻网（综合大会报道）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11274552" cy="685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7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深圳政府在线（新闻发布会）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11274552" cy="6858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中国日报网（年会预告）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11274552" cy="685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南方新闻网（会议详细报道）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* 注：以上均为案头研究数据，非一手参会信息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720840"/>
            <a:ext cx="11274552" cy="2743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78484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中国城镇供水排水协会2026年会  |  数据来源：案头研究  |  2026-04-22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EB5"/>
                </a:solidFill>
                <a:latin typeface="Microsoft YaHei"/>
              </a:defRPr>
            </a:pPr>
            <a:r>
              <a:t>华为鸿蒙生态水质仪表市场情报简报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D4D4D"/>
                </a:solidFill>
                <a:latin typeface="Microsoft YaHei"/>
              </a:defRPr>
            </a:pPr>
            <a:r>
              <a:t>Hach中国IMS产品线 · 环博会特别版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Microsoft YaHei"/>
              </a:defRPr>
            </a:pPr>
            <a:r>
              <a:t>2026年4月20日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EB5"/>
                </a:solidFill>
                <a:latin typeface="Microsoft YaHei"/>
              </a:defRPr>
            </a:pPr>
            <a:r>
              <a:t>深圳环水 × 华为：战略合作的驱动力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深圳环水集团 × 华为技术：2025-01-23 坂田基地签约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深圳环水需要：数字化转型、国产化背书、智慧水务标杆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华为需要：水务关键场景落地鸿蒙生态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双方互需 → 战略合作 → 加速推进鸿蒙水务落地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关键人物：龚利民（深圳环水总裁）× 李俊风（华为公共事业军团总裁）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技术落地执行：马丹红（深圳水务科技自控工程部部长）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深圳已有多个落地案例：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- 章阁净水厂（2025-12）：全国首座鸿蒙水厂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- 五指耙水厂（2026-03）：30万吨/天，全国首座鸿蒙智慧水厂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- 大沙河流域（2026-03）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- 荷坳水厂（2026-03招标中）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99999"/>
                </a:solidFill>
                <a:latin typeface="Microsoft YaHei"/>
              </a:defRPr>
            </a:pPr>
            <a:r>
              <a:t>数据来源：深圳政府在线、南方都市报、21世纪经济报道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EB5"/>
                </a:solidFill>
                <a:latin typeface="Microsoft YaHei"/>
              </a:defRPr>
            </a:pPr>
            <a:r>
              <a:t>竞争格局：谁已接入 / 传言接入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4D4D"/>
                </a:solidFill>
                <a:latin typeface="Microsoft YaHei"/>
              </a:defRPr>
            </a:pPr>
            <a:r>
              <a:t>已验证接入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三川智慧（超声波/电磁水表）：华为技术认证，对接华为云IoT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博铭维（管网机器人）：全链路鸿蒙生态，年会有主题论坛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尚易科技：鸿蒙边缘网关合作方，IPC3528已验证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深圳10余家仪表厂商：五指耙水厂项目，通过网关方案接入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4D4D"/>
                </a:solidFill>
                <a:latin typeface="Microsoft YaHei"/>
              </a:defRPr>
            </a:pPr>
            <a:r>
              <a:t>传言接入（未公开证实）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吉林光大分析技术：主营二次供水多参数监测仪（非工业水厂）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  → 产品定位：民用Residential二次供水，与Hach不同赛道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  → 鸿蒙认证：全网无公开证据，但消息来源较明确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  → 判断：可能有内部测试认证，未对外公开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汉威科技：有水质在线检测设备，水协年会有展示，鸿蒙关系不明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99999"/>
                </a:solidFill>
                <a:latin typeface="Microsoft YaHei"/>
              </a:defRPr>
            </a:pPr>
            <a:r>
              <a:t>IMS视角：Hach核心竞品——吉林光大（非直接竞争但影响市场认知）、汉威科技（直接竞争）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EB5"/>
                </a:solidFill>
                <a:latin typeface="Microsoft YaHei"/>
              </a:defRPr>
            </a:pPr>
            <a:r>
              <a:t>技术路径：五指耙水厂实证分析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项目背景：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深圳深水宝安水务集团五指耙水厂改扩建工程（30万吨/天）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原有8类具身智能机器人 + 智能井盖 + 摄像头 + 消火栓等终端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来自10余厂商，协议不兼容，数据孤岛严重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技术方案：水鸿WaterHMOS分布式架构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核心定位：打破多厂商设备协议壁垒，统一数据调度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不是要求每家仪表厂商单独接入，而是系统集成层统一消化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接入方式：鸿蒙边缘网关（IPC3528/RK3568）+ B-LINK近场连接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具体接入架构：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仪表设备（MODBUS RTU/TCP） → 鸿蒙边缘网关 → 华为云IoT → WaterHMOS平台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华为云IoT提供设备接入和数据汇聚，WaterHMOS做统一调度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接入效果：运维效率提升30%+，误报率降低30%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对Hach的启示：深圳水务接受网关方案，仪表厂只需保证MODBUS输出，无需单独认证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99999"/>
                </a:solidFill>
                <a:latin typeface="Microsoft YaHei"/>
              </a:defRPr>
            </a:pPr>
            <a:r>
              <a:t>数据来源：深圳水务科技公司、中国水网(h2o-china.com) 2024-12报道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EB5"/>
                </a:solidFill>
                <a:latin typeface="Microsoft YaHei"/>
              </a:defRPr>
            </a:pPr>
            <a:r>
              <a:t>Hach切入路径：行动建议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立即行动（0-3个月）：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1. 联系尚易科技：了解Hach + IPC3528网关集成可行性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2. 联系深圳水务科技马丹红团队：了解仪表接入具体要求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3. Hach仪表MODBUS数据通过网关测试：验证数据上传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中期（3-6个月）：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4. 成为深圳水务鸿蒙生态合作伙伴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5. 与华为云IoT完成兼容性测试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6. 数据手册标注「支持鸿蒙生态接入」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风险提示：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若深圳市场实质门槛形成（Hach尚未接入）→ 短期内无法在深投标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时间差 = 竞争对手抢单窗口期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IMS建议：以网关方案快速切入深圳市场，同步布局华为云IoT认证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99999"/>
                </a:solidFill>
                <a:latin typeface="Microsoft YaHei"/>
              </a:defRPr>
            </a:pPr>
            <a:r>
              <a:t>IMS视角：转化率20%是核心痛点——接入鸿蒙生态可直接提升深圳项目竞争力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EB5"/>
                </a:solidFill>
                <a:latin typeface="Microsoft YaHei"/>
              </a:defRPr>
            </a:pPr>
            <a:r>
              <a:t>关键未知项与下一步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需即时关注：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❓ 吉林光大认证传言的具体来源：是否光大官方宣传？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❓ 深圳是否有明确文件要求仪表必须支持鸿蒙接入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❓ 另外两个试点城市（销售提到4个城市：深圳 + 成都 + ？）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例行监控：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○ 水协2026年会后续报道：马丹红演讲全文、参展商名单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○ 深圳水务鸿蒙生态合作伙伴名单更新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○ 华为云IoT水务行业合作伙伴名单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下一步：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→ 向销售确认吉林光大消息来源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→ 联系尚易科技（网关合作方）获取技术规格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→ 接触深圳水务科技（马丹红团队）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99999"/>
                </a:solidFill>
                <a:latin typeface="Microsoft YaHei"/>
              </a:defRPr>
            </a:pPr>
            <a:r>
              <a:t>情报截止：2026-04-20 | 持续跟踪中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D4D4D"/>
                </a:solidFill>
                <a:latin typeface="Microsoft YaHei"/>
              </a:defRPr>
            </a:pPr>
            <a:r>
              <a:t>研究四：IMS白区激活策略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EB5"/>
                </a:solidFill>
                <a:latin typeface="Microsoft YaHei"/>
              </a:defRPr>
            </a:pPr>
            <a:r>
              <a:t>核心假设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D4D4D"/>
                </a:solidFill>
                <a:latin typeface="Microsoft YaHei"/>
              </a:defRPr>
            </a:pPr>
            <a:r>
              <a:t>●  增加IB有助于软件和仪表业务整体提升</a:t>
            </a:r>
          </a:p>
          <a:p>
            <a:pPr>
              <a:defRPr sz="1500">
                <a:solidFill>
                  <a:srgbClr val="4D4D4D"/>
                </a:solidFill>
                <a:latin typeface="Microsoft YaHei"/>
              </a:defRPr>
            </a:pPr>
            <a:r>
              <a:t>●  IMS是仪表的保护伞，而非独立利润中心</a:t>
            </a:r>
          </a:p>
          <a:p>
            <a:pPr>
              <a:defRPr sz="1500">
                <a:solidFill>
                  <a:srgbClr val="4D4D4D"/>
                </a:solidFill>
                <a:latin typeface="Microsoft YaHei"/>
              </a:defRPr>
            </a:pPr>
            <a:r>
              <a:t>●  IMS的核心价值：帮助保住仪表市场份额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EB5"/>
                </a:solidFill>
                <a:latin typeface="Microsoft YaHei"/>
              </a:defRPr>
            </a:pPr>
            <a:r>
              <a:t>核心问题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D4D4D"/>
                </a:solidFill>
                <a:latin typeface="Microsoft YaHei"/>
              </a:defRPr>
            </a:pPr>
            <a:r>
              <a:t>这些假设是否成立？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D4D4D"/>
                </a:solidFill>
                <a:latin typeface="Microsoft YaHei"/>
              </a:defRPr>
            </a:pPr>
            <a:r>
              <a:t>立项时已识别的方向（合规上报、故障响应、巡检效率、备件采购）都对，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D4D4D"/>
                </a:solidFill>
                <a:latin typeface="Microsoft YaHei"/>
              </a:defRPr>
            </a:pPr>
            <a:r>
              <a:t>但效果不好——IMS依然卖不动。根因究竟是什么？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EB5"/>
                </a:solidFill>
                <a:latin typeface="Microsoft YaHei"/>
              </a:defRPr>
            </a:pPr>
            <a:r>
              <a:t>方法论：PSP（Problem to Portfolio）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83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→  从客户真实问题出发（而非从产品功能出发）</a:t>
            </a:r>
          </a:p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→  用5-Why追问根因，而非停留在症状</a:t>
            </a:r>
          </a:p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→  用Pareto定位20%高价值问题，聚焦优先行动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D4D4D"/>
                </a:solidFill>
                <a:latin typeface="Microsoft YaHei"/>
              </a:defRPr>
            </a:pPr>
            <a:r>
              <a:t>方法论：Problem to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EB5"/>
                </a:solidFill>
                <a:latin typeface="Microsoft YaHei"/>
              </a:defRPr>
            </a:pPr>
            <a:r>
              <a:t>5-Why 追问法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EB5"/>
                </a:solidFill>
                <a:latin typeface="Microsoft YaHei"/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D4D4D"/>
                </a:solidFill>
                <a:latin typeface="Microsoft YaHei"/>
              </a:defRPr>
            </a:pPr>
            <a:r>
              <a:t>客户为什么需要IMS？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EB5"/>
                </a:solidFill>
                <a:latin typeface="Microsoft YaHei"/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D4D4D"/>
                </a:solidFill>
                <a:latin typeface="Microsoft YaHei"/>
              </a:defRPr>
            </a:pPr>
            <a:r>
              <a:t>为什么出问题？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EB5"/>
                </a:solidFill>
                <a:latin typeface="Microsoft YaHei"/>
              </a:defRPr>
            </a:pPr>
            <a: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D4D4D"/>
                </a:solidFill>
                <a:latin typeface="Microsoft YaHei"/>
              </a:defRPr>
            </a:pPr>
            <a:r>
              <a:t>为什么响应慢？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EB5"/>
                </a:solidFill>
                <a:latin typeface="Microsoft YaHei"/>
              </a:defRPr>
            </a:pPr>
            <a:r>
              <a:t>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D4D4D"/>
                </a:solidFill>
                <a:latin typeface="Microsoft YaHei"/>
              </a:defRPr>
            </a:pPr>
            <a:r>
              <a:t>为什么没有手段？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EB5"/>
                </a:solidFill>
                <a:latin typeface="Microsoft YaHei"/>
              </a:defRPr>
            </a:pPr>
            <a:r>
              <a:t>Q5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D4D4D"/>
                </a:solidFill>
                <a:latin typeface="Microsoft YaHei"/>
              </a:defRPr>
            </a:pPr>
            <a:r>
              <a:t>根因是什么？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EB5"/>
                </a:solidFill>
                <a:latin typeface="Microsoft YaHei"/>
              </a:defRPr>
            </a:pPr>
            <a:r>
              <a:t>Pareto 定位法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7EB5"/>
                </a:solidFill>
                <a:latin typeface="Microsoft YaHei"/>
              </a:defRPr>
            </a:pPr>
            <a:r>
              <a:t>问题类型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7EB5"/>
                </a:solidFill>
                <a:latin typeface="Microsoft YaHei"/>
              </a:defRPr>
            </a:pPr>
            <a:r>
              <a:t>IMS解决能力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7EB5"/>
                </a:solidFill>
                <a:latin typeface="Microsoft YaHei"/>
              </a:defRPr>
            </a:pPr>
            <a:r>
              <a:t>优先级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920240"/>
            <a:ext cx="521208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数据合规记录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直接解决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1965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7EB5"/>
                </a:solidFill>
                <a:latin typeface="Microsoft YaHei"/>
              </a:defRPr>
            </a:pPr>
            <a:r>
              <a:t>最高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423160"/>
            <a:ext cx="5212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故障响应慢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部分解决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926080"/>
            <a:ext cx="521208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971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巡检效率低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部分解决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429000"/>
            <a:ext cx="5212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校准不及时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部分解决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931920"/>
            <a:ext cx="521208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977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备件采购周期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977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间接帮助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3977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5000"/>
                </a:solidFill>
                <a:latin typeface="Microsoft YaHei"/>
              </a:defRPr>
            </a:pPr>
            <a:r>
              <a:t>注：PSP不是找新问题，而是追问——为什么已有方向效果不好？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D4D4D"/>
                </a:solidFill>
                <a:latin typeface="Microsoft YaHei"/>
              </a:defRPr>
            </a:pPr>
            <a:r>
              <a:t>案例分析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EB5"/>
                </a:solidFill>
                <a:latin typeface="Microsoft YaHei"/>
              </a:defRPr>
            </a:pPr>
            <a:r>
              <a:t>案例一：华南某自来水厂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7EB5"/>
                </a:solidFill>
                <a:latin typeface="Microsoft YaHei"/>
              </a:defRPr>
            </a:pPr>
            <a:r>
              <a:t>客户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华南某自来水厂，仪表部主导，厂长支持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7EB5"/>
                </a:solidFill>
                <a:latin typeface="Microsoft YaHei"/>
              </a:defRPr>
            </a:pPr>
            <a:r>
              <a:t>行动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开展IMS试用约2年，客户对功能完全满意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7EB5"/>
                </a:solidFill>
                <a:latin typeface="Microsoft YaHei"/>
              </a:defRPr>
            </a:pPr>
            <a:r>
              <a:t>阻力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514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集团信息化部门——已与百度签2000万大包，抵制IMS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7EB5"/>
                </a:solidFill>
                <a:latin typeface="Microsoft YaHei"/>
              </a:defRPr>
            </a:pPr>
            <a:r>
              <a:t>根因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017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IMS用仪表销售模式应对企业数字化决策链，对象错配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7EB5"/>
                </a:solidFill>
                <a:latin typeface="Microsoft YaHei"/>
              </a:defRPr>
            </a:pPr>
            <a:r>
              <a:t>周期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520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2年未关单（预期6个月），远超标杆周期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EB5"/>
                </a:solidFill>
                <a:latin typeface="Microsoft YaHei"/>
              </a:defRPr>
            </a:pPr>
            <a:r>
              <a:t>5-Why 追问链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4630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1. 为什么2年没关单？信息部抵制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9385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2. 为什么能抵制？销售不知如何接触IT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41401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3. 为什么约不到人？第一次跟IT打交道，没关系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88950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4. 根因：产品定位=仪表配套，决策链超出边界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14800"/>
            <a:ext cx="1106424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EB5"/>
                </a:solidFill>
                <a:latin typeface="Microsoft YaHei"/>
              </a:defRPr>
            </a:pPr>
            <a:r>
              <a:t>更多案例（待分析）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●  案例二：       正在沟通中</a:t>
            </a:r>
          </a:p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●  案例三：       正在沟通中</a:t>
            </a:r>
          </a:p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●  案例四：       正在沟通中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随着案例积累，5-Why根因将逐步收敛，形成可验证的战略结论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D4D4D"/>
                </a:solidFill>
                <a:latin typeface="Microsoft YaHei"/>
              </a:defRPr>
            </a:pPr>
            <a:r>
              <a:t>下一步：行动计划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D4D4D"/>
                </a:solidFill>
                <a:latin typeface="Microsoft YaHei"/>
              </a:defRPr>
            </a:pPr>
            <a:r>
              <a:t>两个优先行动方向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303520" cy="2560320"/>
          </a:xfrm>
          <a:prstGeom prst="rect">
            <a:avLst/>
          </a:prstGeom>
          <a:solidFill>
            <a:srgbClr val="F5F8FC"/>
          </a:solidFill>
          <a:ln>
            <a:solidFill>
              <a:srgbClr val="00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EB5"/>
                </a:solidFill>
                <a:latin typeface="Microsoft YaHei"/>
              </a:defRPr>
            </a:pPr>
            <a:r>
              <a:t>方向一：销售方法论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仪表销售 如何接触IT部门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建立IT/信息化部门的接触路径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案例：信息部无法约见是核心障碍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需要：销售团队对IT决策链的认知升级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5303520" cy="2560320"/>
          </a:xfrm>
          <a:prstGeom prst="rect">
            <a:avLst/>
          </a:prstGeom>
          <a:solidFill>
            <a:srgbClr val="F5F8FC"/>
          </a:solidFill>
          <a:ln>
            <a:solidFill>
              <a:srgbClr val="00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EB5"/>
                </a:solidFill>
                <a:latin typeface="Microsoft YaHei"/>
              </a:defRPr>
            </a:pPr>
            <a:r>
              <a:t>方向二：产品定位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IMS = 仪表配套 vs 企业数字化的一部分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重新包装竞合逻辑：IMS与百度大包不冲突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百度验收困难 应转化为IMS的进入窗口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需要：主动论证不选百度的论据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51960"/>
            <a:ext cx="11064240" cy="228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EB5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46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→  继续积累真实案例（目标：再收集2-3个丢单/失败案例）</a:t>
            </a:r>
          </a:p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→  用5-Why逐个挖掘根因，交叉验证</a:t>
            </a:r>
          </a:p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→  Pareto收敛：高价值、低阻力的优先行动点</a:t>
            </a:r>
          </a:p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→  形成研究四最终结论与建议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4D4D4D"/>
                </a:solidFill>
                <a:latin typeface="Microsoft YaHei"/>
              </a:rPr>
              <a:t>领导力修炼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7EB5"/>
                </a:solidFill>
                <a:latin typeface="Microsoft YaHei"/>
              </a:rPr>
              <a:t>情景领导力工作坊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99999"/>
                </a:solidFill>
                <a:latin typeface="Microsoft YaHei"/>
              </a:rPr>
              <a:t>R1 R2 R3 R4  x  S1 S2 S3 S4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94760"/>
            <a:ext cx="11430000" cy="2743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应用场景：直接下属管理 · 跨部门协作 · 非职权领导力 · 下一代培养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Hach中国IMS产品线  |  2026-04-21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什么是情景领导力？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EB5"/>
                </a:solidFill>
                <a:latin typeface="Microsoft YaHei"/>
              </a:rPr>
              <a:t>核心思想：没有最佳的领导风格——只有因人而异的领导风格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同样的行为（如下指令）在不同人身上产生完全不同的效果——取决于对方的准备度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74552" cy="8686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4864" cy="8686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1. 优秀的领导者会根据被领导者的准备度，灵活调整自己的领导风格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11274552" cy="8686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54864" cy="8686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2. 准备度 = 能力（知识和技能）x 意愿（动机和自信心）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11274552" cy="8686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54864" cy="8686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3. 不存在最好 的领导风格——只有最适合当前这个人当前任务的方式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66360"/>
            <a:ext cx="11274552" cy="8686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166360"/>
            <a:ext cx="54864" cy="8686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4. 领导者的职责是帮助被领导者成长，而不是用自己习惯的方式一以贯之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被领导者的四种准备度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371600" cy="1280160"/>
          </a:xfrm>
          <a:prstGeom prst="rect">
            <a:avLst/>
          </a:prstGeom>
          <a:solidFill>
            <a:srgbClr val="B4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无能力 x 有意愿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143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43C00"/>
                </a:solidFill>
                <a:latin typeface="Microsoft YaHei"/>
              </a:rPr>
              <a:t>热情的新手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45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不知道怎么做，但很想做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1371600" cy="1280160"/>
          </a:xfrm>
          <a:prstGeom prst="rect">
            <a:avLst/>
          </a:prstGeom>
          <a:solidFill>
            <a:srgbClr val="96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R2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无能力 x 无意愿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63232"/>
                </a:solidFill>
                <a:latin typeface="Microsoft YaHei"/>
              </a:rPr>
              <a:t>消极的学习者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不知道怎么做，也不想做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1371600" cy="1280160"/>
          </a:xfrm>
          <a:prstGeom prst="rect">
            <a:avLst/>
          </a:prstGeom>
          <a:solidFill>
            <a:srgbClr val="00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77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R3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348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有能力 x 无意愿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977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643C"/>
                </a:solidFill>
                <a:latin typeface="Microsoft YaHei"/>
              </a:rPr>
              <a:t>能干的犹豫者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知道怎么做，但不想做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257800"/>
            <a:ext cx="1371600" cy="12801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94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R4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521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有能力 x 有意愿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7EB5"/>
                </a:solidFill>
                <a:latin typeface="Microsoft YaHei"/>
              </a:rPr>
              <a:t>高效的成功者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897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知道怎么做，也想做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领导者的四种风格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两个维度：任务行为（具体指示） + 关系行为（情感支持）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371600" cy="11887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7EB5"/>
                </a:solidFill>
                <a:latin typeface="Microsoft YaHei"/>
              </a:rPr>
              <a:t>指挥式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高任务 x 低关系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领导者给出明确指令：做什么、怎么做、何时做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1554480"/>
            <a:ext cx="1828800" cy="7315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适用：R1 热情新手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11274552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371600" cy="1188720"/>
          </a:xfrm>
          <a:prstGeom prst="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34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6496"/>
                </a:solidFill>
                <a:latin typeface="Microsoft YaHei"/>
              </a:rPr>
              <a:t>教练式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高任务 x 高关系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3464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领导者解释决策背后的原因，同时提供情感支持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2880360"/>
            <a:ext cx="1828800" cy="7315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3017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适用：R2 消极学习者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11274552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77639"/>
            <a:ext cx="1371600" cy="1188720"/>
          </a:xfrm>
          <a:prstGeom prst="rect">
            <a:avLst/>
          </a:prstGeom>
          <a:solidFill>
            <a:srgbClr val="00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0690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8264"/>
                </a:solidFill>
                <a:latin typeface="Microsoft YaHei"/>
              </a:rPr>
              <a:t>支持式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26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低任务 x 高关系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16052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领导者促进和鼓励，分享想法，邀请提问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0" y="4206240"/>
            <a:ext cx="1828800" cy="7315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4343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适用：R3 能干犹豫者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03520"/>
            <a:ext cx="11274552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303520"/>
            <a:ext cx="1371600" cy="118872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486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S4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3949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D4D4D"/>
                </a:solidFill>
                <a:latin typeface="Microsoft YaHei"/>
              </a:rPr>
              <a:t>授权式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8521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低任务 x 低关系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48640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领导者将责任和决策权交给对方，起到监督作用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5532120"/>
            <a:ext cx="1828800" cy="7315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21240" y="5669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适用：R4 高效成功者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R -&gt; S 匹配矩阵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核心原则：领导风格必须与被领导者的准备度匹配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46304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98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准备度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280160"/>
            <a:ext cx="292608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93392" y="12984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描述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280160"/>
            <a:ext cx="256032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1298448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领导者风格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280160"/>
            <a:ext cx="109728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1298448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S代码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280160"/>
            <a:ext cx="411480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29844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关键行为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19072"/>
            <a:ext cx="11274552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94767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EB5"/>
                </a:solidFill>
                <a:latin typeface="Microsoft YaHei"/>
              </a:rPr>
              <a:t>R1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194767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热情新手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1947672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EB5"/>
                </a:solidFill>
                <a:latin typeface="Microsoft YaHei"/>
              </a:rPr>
              <a:t>S1 指挥式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1947672"/>
            <a:ext cx="1005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194767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给指令、告诉做什么和怎么做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16352"/>
            <a:ext cx="11274552" cy="100584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04495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6496"/>
                </a:solidFill>
                <a:latin typeface="Microsoft YaHei"/>
              </a:rPr>
              <a:t>R2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304495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消极学习者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472" y="3044952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6496"/>
                </a:solidFill>
                <a:latin typeface="Microsoft YaHei"/>
              </a:rPr>
              <a:t>S2 教练式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3044952"/>
            <a:ext cx="1005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96"/>
                </a:solidFill>
                <a:latin typeface="Microsoft YaHei"/>
              </a:rPr>
              <a:t>S2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304495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解释原因、提供方向、支持鼓励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13631"/>
            <a:ext cx="11274552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142231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264"/>
                </a:solidFill>
                <a:latin typeface="Microsoft YaHei"/>
              </a:rPr>
              <a:t>R3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3392" y="4142231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能干犹豫者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4142231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264"/>
                </a:solidFill>
                <a:latin typeface="Microsoft YaHei"/>
              </a:rPr>
              <a:t>S3 支持式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4142231"/>
            <a:ext cx="1005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264"/>
                </a:solidFill>
                <a:latin typeface="Microsoft YaHei"/>
              </a:rPr>
              <a:t>S3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4142231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分享想法、邀请参与、共同决策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10912"/>
            <a:ext cx="11274552" cy="100584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523951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R4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2" y="523951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高效成功者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5239512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S4 授权式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5239512"/>
            <a:ext cx="1005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S4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7072" y="523951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把责任和决策权交给对方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172200"/>
            <a:ext cx="11274552" cy="594360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6172200"/>
            <a:ext cx="54864" cy="594360"/>
          </a:xfrm>
          <a:prstGeom prst="rect">
            <a:avLst/>
          </a:prstGeom>
          <a:solidFill>
            <a:srgbClr val="B4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2362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3C00"/>
                </a:solidFill>
                <a:latin typeface="Microsoft YaHei"/>
              </a:rPr>
              <a:t>WARNING: 错配代价 - S1用于R3会被感到微观管理；S4用于R1会导致缺乏指导焦虑增加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286000" cy="12801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直接下属管理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6FA"/>
                </a:solidFill>
                <a:latin typeface="Microsoft YaHei"/>
              </a:rPr>
              <a:t>有职权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051560"/>
            <a:ext cx="3931920" cy="109728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28016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根据下属的R层级，灵活切换S1-S4风格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例如：绩效谈话、任务分配、新人带教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2286000" cy="12801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跨部门协作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6FA"/>
                </a:solidFill>
                <a:latin typeface="Microsoft YaHei"/>
              </a:rPr>
              <a:t>无职权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468880"/>
            <a:ext cx="3931920" cy="109728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69748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识别对方的准备度，用对方能接受的方式影响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97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例如：项目推动、会议协调、资源争取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9476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2286000" cy="12801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77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销售团队管理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6FA"/>
                </a:solidFill>
                <a:latin typeface="Microsoft YaHei"/>
              </a:rPr>
              <a:t>有职权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3886200"/>
            <a:ext cx="3931920" cy="109728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41148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S1带新人拿单 -&gt; S3带资深客户攻关 -&gt; S4授权区域负责人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例如：客户拜访管理、区域授权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2286000" cy="12801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94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下一代培养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52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6FA"/>
                </a:solidFill>
                <a:latin typeface="Microsoft YaHei"/>
              </a:rPr>
              <a:t>无职权（家长角色）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5303520"/>
            <a:ext cx="3931920" cy="109728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553212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孩子在不同成长阶段需要不同领导风格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532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例如：作业/兴趣引导、独立性培养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思维模式：成长型 vs 固定型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领导风格之外：思维模式决定一个人如何接收反馈和面对挑战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" cy="1645920"/>
          </a:xfrm>
          <a:prstGeom prst="rect">
            <a:avLst/>
          </a:prstGeom>
          <a:solidFill>
            <a:srgbClr val="B4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2926080" cy="1463040"/>
          </a:xfrm>
          <a:prstGeom prst="rect">
            <a:avLst/>
          </a:prstGeom>
          <a:solidFill>
            <a:srgbClr val="B4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固定型思维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信念：能力是固定的 —— 要证明自己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3C00"/>
                </a:solidFill>
                <a:latin typeface="Microsoft YaHei"/>
              </a:rPr>
              <a:t>面对挑战：被批评 -&gt; 感到被攻击；遇到困难 -&gt; 放弃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74552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54864" cy="1645920"/>
          </a:xfrm>
          <a:prstGeom prst="rect">
            <a:avLst/>
          </a:prstGeom>
          <a:solidFill>
            <a:srgbClr val="00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291840"/>
            <a:ext cx="2926080" cy="1463040"/>
          </a:xfrm>
          <a:prstGeom prst="rect">
            <a:avLst/>
          </a:prstGeom>
          <a:solidFill>
            <a:srgbClr val="00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成长型思维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383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信念：能力是可以发展的 —— 要学习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023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E64"/>
                </a:solidFill>
                <a:latin typeface="Microsoft YaHei"/>
              </a:rPr>
              <a:t>面对挑战：被批评 -&gt; 获得反馈；遇到困难 -&gt; 找方法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155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灵活切换风格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554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没有最好的领导风格——只有适合当前这个人、当前任务的风格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1274552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54864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40279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402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128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识别准备度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6517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先判断对方是R1-R4中的哪一个，再选择对应S1-S4风格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11274552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54864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33756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37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3101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错配要纠正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49039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长期用错误风格会导致对方准备度退化（S1用于R3=信心受损）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79"/>
            <a:ext cx="11274552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297679"/>
            <a:ext cx="54864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43484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434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407407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思维模式影响沟通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846319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固定型思维者需要先建立安全感；成长型思维者可以直接给反馈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94960"/>
            <a:ext cx="11274552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394960"/>
            <a:ext cx="54864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553212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532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5046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实践才能内化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9436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案例练习是掌握情景领导力的唯一路径——直到形成本能反应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720840"/>
            <a:ext cx="11274552" cy="2743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78484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情景领导力  |  2026-04-21  |  Hach中国IMS产品线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2026环博会市场观察报告</dc:title>
  <dc:subject>PptxGenJS Presentation</dc:subject>
  <dc:creator>Hach中国IMS产品线</dc:creator>
  <cp:lastModifiedBy>Hach中国IMS产品线</cp:lastModifiedBy>
  <cp:revision>1</cp:revision>
  <dcterms:created xsi:type="dcterms:W3CDTF">2026-04-19T07:28:57Z</dcterms:created>
  <dcterms:modified xsi:type="dcterms:W3CDTF">2026-04-19T07:28:57Z</dcterms:modified>
</cp:coreProperties>
</file>