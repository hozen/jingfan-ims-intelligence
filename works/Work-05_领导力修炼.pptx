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4D4D4D"/>
                </a:solidFill>
                <a:latin typeface="Microsoft YaHei"/>
              </a:rPr>
              <a:t>领导力修炼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7EB5"/>
                </a:solidFill>
                <a:latin typeface="Microsoft YaHei"/>
              </a:rPr>
              <a:t>情景领导力工作坊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99999"/>
                </a:solidFill>
                <a:latin typeface="Microsoft YaHei"/>
              </a:rPr>
              <a:t>R1 R2 R3 R4  x  S1 S2 S3 S4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94760"/>
            <a:ext cx="11430000" cy="2743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应用场景：直接下属管理 · 跨部门协作 · 非职权领导力 · 下一代培养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Hach中国IMS产品线  |  2026-04-21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什么是情景领导力？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109728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EB5"/>
                </a:solidFill>
                <a:latin typeface="Microsoft YaHei"/>
              </a:rPr>
              <a:t>核心思想：没有最佳的领导风格——只有因人而异的领导风格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同样的行为（如下指令）在不同人身上产生完全不同的效果——取决于对方的准备度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74552" cy="8686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4864" cy="8686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1. 优秀的领导者会根据被领导者的准备度，灵活调整自己的领导风格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11274552" cy="8686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246120"/>
            <a:ext cx="54864" cy="8686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2. 准备度 = 能力（知识和技能）x 意愿（动机和自信心）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11274552" cy="8686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54864" cy="8686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3. 不存在最好 的领导风格——只有最适合当前这个人当前任务的方式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66360"/>
            <a:ext cx="11274552" cy="8686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166360"/>
            <a:ext cx="54864" cy="8686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4. 领导者的职责是帮助被领导者成长，而不是用自己习惯的方式一以贯之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被领导者的四种准备度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371600" cy="1280160"/>
          </a:xfrm>
          <a:prstGeom prst="rect">
            <a:avLst/>
          </a:prstGeom>
          <a:solidFill>
            <a:srgbClr val="B4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无能力 x 有意愿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143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43C00"/>
                </a:solidFill>
                <a:latin typeface="Microsoft YaHei"/>
              </a:rPr>
              <a:t>热情的新手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459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不知道怎么做，但很想做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1274552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1371600" cy="1280160"/>
          </a:xfrm>
          <a:prstGeom prst="rect">
            <a:avLst/>
          </a:prstGeom>
          <a:solidFill>
            <a:srgbClr val="96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R2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175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无能力 x 无意愿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63232"/>
                </a:solidFill>
                <a:latin typeface="Microsoft YaHei"/>
              </a:rPr>
              <a:t>消极的学习者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不知道怎么做，也不想做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11274552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1371600" cy="1280160"/>
          </a:xfrm>
          <a:prstGeom prst="rect">
            <a:avLst/>
          </a:prstGeom>
          <a:solidFill>
            <a:srgbClr val="00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77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R3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348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有能力 x 无意愿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977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643C"/>
                </a:solidFill>
                <a:latin typeface="Microsoft YaHei"/>
              </a:rPr>
              <a:t>能干的犹豫者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知道怎么做，但不想做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57800"/>
            <a:ext cx="11274552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257800"/>
            <a:ext cx="1371600" cy="12801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94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R4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8521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有能力 x 有意愿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7EB5"/>
                </a:solidFill>
                <a:latin typeface="Microsoft YaHei"/>
              </a:rPr>
              <a:t>高效的成功者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897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知道怎么做，也想做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领导者的四种风格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两个维度：任务行为（具体指示） + 关系行为（情感支持）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371600" cy="11887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7EB5"/>
                </a:solidFill>
                <a:latin typeface="Microsoft YaHei"/>
              </a:rPr>
              <a:t>指挥式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高任务 x 低关系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0876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领导者给出明确指令：做什么、怎么做、何时做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0" y="1554480"/>
            <a:ext cx="1828800" cy="7315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适用：R1 热情新手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11274552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371600" cy="1188720"/>
          </a:xfrm>
          <a:prstGeom prst="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34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6496"/>
                </a:solidFill>
                <a:latin typeface="Microsoft YaHei"/>
              </a:rPr>
              <a:t>教练式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高任务 x 高关系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3464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领导者解释决策背后的原因，同时提供情感支持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2880360"/>
            <a:ext cx="1828800" cy="7315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3017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适用：R2 消极学习者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11274552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77639"/>
            <a:ext cx="1371600" cy="1188720"/>
          </a:xfrm>
          <a:prstGeom prst="rect">
            <a:avLst/>
          </a:prstGeom>
          <a:solidFill>
            <a:srgbClr val="00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S3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0690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8264"/>
                </a:solidFill>
                <a:latin typeface="Microsoft YaHei"/>
              </a:rPr>
              <a:t>支持式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26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低任务 x 高关系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16052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领导者促进和鼓励，分享想法，邀请提问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20" y="4206240"/>
            <a:ext cx="1828800" cy="7315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4343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适用：R3 能干犹豫者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03520"/>
            <a:ext cx="11274552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303520"/>
            <a:ext cx="1371600" cy="118872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4864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S4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3949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D4D4D"/>
                </a:solidFill>
                <a:latin typeface="Microsoft YaHei"/>
              </a:rPr>
              <a:t>授权式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58521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低任务 x 低关系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48640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领导者将责任和决策权交给对方，起到监督作用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0" y="5532120"/>
            <a:ext cx="1828800" cy="7315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21240" y="5669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适用：R4 高效成功者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R -&gt; S 匹配矩阵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核心原则：领导风格必须与被领导者的准备度匹配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463040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984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准备度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280160"/>
            <a:ext cx="2926080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93392" y="12984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描述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280160"/>
            <a:ext cx="2560320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1298448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领导者风格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280160"/>
            <a:ext cx="1097280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1298448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S代码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280160"/>
            <a:ext cx="4114800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29844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关键行为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19072"/>
            <a:ext cx="11274552" cy="1005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94767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7EB5"/>
                </a:solidFill>
                <a:latin typeface="Microsoft YaHei"/>
              </a:rPr>
              <a:t>R1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194767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热情新手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1947672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7EB5"/>
                </a:solidFill>
                <a:latin typeface="Microsoft YaHei"/>
              </a:rPr>
              <a:t>S1 指挥式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1947672"/>
            <a:ext cx="1005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S1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194767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给指令、告诉做什么和怎么做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16352"/>
            <a:ext cx="11274552" cy="100584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04495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6496"/>
                </a:solidFill>
                <a:latin typeface="Microsoft YaHei"/>
              </a:rPr>
              <a:t>R2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304495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消极学习者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9472" y="3044952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6496"/>
                </a:solidFill>
                <a:latin typeface="Microsoft YaHei"/>
              </a:rPr>
              <a:t>S2 教练式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3044952"/>
            <a:ext cx="1005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496"/>
                </a:solidFill>
                <a:latin typeface="Microsoft YaHei"/>
              </a:rPr>
              <a:t>S2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304495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解释原因、提供方向、支持鼓励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13631"/>
            <a:ext cx="11274552" cy="1005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4142231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264"/>
                </a:solidFill>
                <a:latin typeface="Microsoft YaHei"/>
              </a:rPr>
              <a:t>R3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93392" y="4142231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能干犹豫者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2" y="4142231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264"/>
                </a:solidFill>
                <a:latin typeface="Microsoft YaHei"/>
              </a:rPr>
              <a:t>S3 支持式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4142231"/>
            <a:ext cx="1005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264"/>
                </a:solidFill>
                <a:latin typeface="Microsoft YaHei"/>
              </a:rPr>
              <a:t>S3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7072" y="4142231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分享想法、邀请参与、共同决策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10912"/>
            <a:ext cx="11274552" cy="100584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523951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R4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3392" y="523951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高效成功者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9472" y="5239512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S4 授权式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5239512"/>
            <a:ext cx="1005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S4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7072" y="523951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把责任和决策权交给对方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172200"/>
            <a:ext cx="11274552" cy="594360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6172200"/>
            <a:ext cx="54864" cy="594360"/>
          </a:xfrm>
          <a:prstGeom prst="rect">
            <a:avLst/>
          </a:prstGeom>
          <a:solidFill>
            <a:srgbClr val="B4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2362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3C00"/>
                </a:solidFill>
                <a:latin typeface="Microsoft YaHei"/>
              </a:rPr>
              <a:t>WARNING: 错配代价 - S1用于R3会被感到微观管理；S4用于R1会导致缺乏指导焦虑增加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应用场景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2286000" cy="12801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直接下属管理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6FA"/>
                </a:solidFill>
                <a:latin typeface="Microsoft YaHei"/>
              </a:rPr>
              <a:t>有职权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051560"/>
            <a:ext cx="3931920" cy="109728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28016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根据下属的R层级，灵活切换S1-S4风格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280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例如：绩效谈话、任务分配、新人带教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11274552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2286000" cy="12801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跨部门协作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6FA"/>
                </a:solidFill>
                <a:latin typeface="Microsoft YaHei"/>
              </a:rPr>
              <a:t>无职权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468880"/>
            <a:ext cx="3931920" cy="109728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269748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识别对方的准备度，用对方能接受的方式影响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97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例如：项目推动、会议协调、资源争取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94760"/>
            <a:ext cx="11274552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2286000" cy="12801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77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销售团队管理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6FA"/>
                </a:solidFill>
                <a:latin typeface="Microsoft YaHei"/>
              </a:rPr>
              <a:t>有职权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3886200"/>
            <a:ext cx="3931920" cy="109728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41148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S1带新人拿单 -&gt; S3带资深客户攻关 -&gt; S4授权区域负责人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例如：客户拜访管理、区域授权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11274552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2286000" cy="12801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94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下一代培养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52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6FA"/>
                </a:solidFill>
                <a:latin typeface="Microsoft YaHei"/>
              </a:rPr>
              <a:t>无职权（家长角色）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5303520"/>
            <a:ext cx="3931920" cy="109728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553212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孩子在不同成长阶段需要不同领导风格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5321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例如：作业/兴趣引导、独立性培养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思维模式：成长型 vs 固定型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领导风格之外：思维模式决定一个人如何接收反馈和面对挑战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645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" cy="1645920"/>
          </a:xfrm>
          <a:prstGeom prst="rect">
            <a:avLst/>
          </a:prstGeom>
          <a:solidFill>
            <a:srgbClr val="B4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2926080" cy="1463040"/>
          </a:xfrm>
          <a:prstGeom prst="rect">
            <a:avLst/>
          </a:prstGeom>
          <a:solidFill>
            <a:srgbClr val="B4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固定型思维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信念：能力是固定的 —— 要证明自己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3C00"/>
                </a:solidFill>
                <a:latin typeface="Microsoft YaHei"/>
              </a:rPr>
              <a:t>面对挑战：被批评 -&gt; 感到被攻击；遇到困难 -&gt; 放弃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74552" cy="1645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54864" cy="1645920"/>
          </a:xfrm>
          <a:prstGeom prst="rect">
            <a:avLst/>
          </a:prstGeom>
          <a:solidFill>
            <a:srgbClr val="00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291840"/>
            <a:ext cx="2926080" cy="1463040"/>
          </a:xfrm>
          <a:prstGeom prst="rect">
            <a:avLst/>
          </a:prstGeom>
          <a:solidFill>
            <a:srgbClr val="00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成长型思维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383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信念：能力是可以发展的 —— 要学习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0233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7E64"/>
                </a:solidFill>
                <a:latin typeface="Microsoft YaHei"/>
              </a:rPr>
              <a:t>面对挑战：被批评 -&gt; 获得反馈；遇到困难 -&gt; 找方法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4D4D"/>
                </a:solidFill>
                <a:latin typeface="Microsoft YaHei"/>
              </a:rPr>
              <a:t>核心要点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1005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10058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155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灵活切换风格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554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没有最好的领导风格——只有适合当前这个人、当前任务的风格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11274552" cy="1005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54864" cy="10058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40279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402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2128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识别准备度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6517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先判断对方是R1-R4中的哪一个，再选择对应S1-S4风格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11274552" cy="1005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54864" cy="10058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33756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37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3101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错配要纠正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749039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长期用错误风格会导致对方准备度退化（S1用于R3=信心受损）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79"/>
            <a:ext cx="11274552" cy="1005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297679"/>
            <a:ext cx="54864" cy="10058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43484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434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407407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思维模式影响沟通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846319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固定型思维者需要先建立安全感；成长型思维者可以直接给反馈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94960"/>
            <a:ext cx="11274552" cy="1005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394960"/>
            <a:ext cx="54864" cy="10058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553212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532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5046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实践才能内化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9436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案例练习是掌握情景领导力的唯一路径——直到形成本能反应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720840"/>
            <a:ext cx="11274552" cy="2743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78484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情景领导力  |  2026-04-21  |  Hach中国IMS产品线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